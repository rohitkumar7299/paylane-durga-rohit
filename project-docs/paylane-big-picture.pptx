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C54"/>
        </a:solidFill>
      </p:bgPr>
    </p:bg>
    <p:spTree>
      <p:nvGrpSpPr>
        <p:cNvPr id="1" name=""/>
        <p:cNvGrpSpPr/>
        <p:nvPr/>
      </p:nvGrpSpPr>
      <p:grpSpPr>
        <a:xfrm>
          <a:off x="0" y="0"/>
          <a:ext cx="0" cy="0"/>
          <a:chOff x="0" y="0"/>
          <a:chExt cx="0" cy="0"/>
        </a:xfrm>
      </p:grpSpPr>
      <p:sp>
        <p:nvSpPr>
          <p:cNvPr id="2" name="Text 0"/>
          <p:cNvSpPr/>
          <p:nvPr/>
        </p:nvSpPr>
        <p:spPr>
          <a:xfrm>
            <a:off x="822960" y="1874520"/>
            <a:ext cx="10515600" cy="365760"/>
          </a:xfrm>
          <a:prstGeom prst="rect">
            <a:avLst/>
          </a:prstGeom>
          <a:noFill/>
          <a:ln/>
        </p:spPr>
        <p:txBody>
          <a:bodyPr wrap="square" lIns="0" tIns="0" rIns="0" bIns="0" rtlCol="0" anchor="ctr"/>
          <a:lstStyle/>
          <a:p>
            <a:pPr indent="0" marL="0">
              <a:buNone/>
            </a:pPr>
            <a:r>
              <a:rPr lang="en-US" sz="1500" b="1" dirty="0">
                <a:solidFill>
                  <a:srgbClr val="C7A052"/>
                </a:solidFill>
                <a:latin typeface="Caladea" pitchFamily="34" charset="0"/>
                <a:ea typeface="Caladea" pitchFamily="34" charset="-122"/>
                <a:cs typeface="Caladea" pitchFamily="34" charset="-120"/>
              </a:rPr>
              <a:t>TechnoElevate · Practitioner Sprint</a:t>
            </a:r>
            <a:endParaRPr lang="en-US" sz="1500" dirty="0"/>
          </a:p>
        </p:txBody>
      </p:sp>
      <p:sp>
        <p:nvSpPr>
          <p:cNvPr id="3" name="Text 1"/>
          <p:cNvSpPr/>
          <p:nvPr/>
        </p:nvSpPr>
        <p:spPr>
          <a:xfrm>
            <a:off x="822960" y="2286000"/>
            <a:ext cx="10515600" cy="1005840"/>
          </a:xfrm>
          <a:prstGeom prst="rect">
            <a:avLst/>
          </a:prstGeom>
          <a:noFill/>
          <a:ln/>
        </p:spPr>
        <p:txBody>
          <a:bodyPr wrap="square" lIns="0" tIns="0" rIns="0" bIns="0" rtlCol="0" anchor="ctr"/>
          <a:lstStyle/>
          <a:p>
            <a:pPr indent="0" marL="0">
              <a:buNone/>
            </a:pPr>
            <a:r>
              <a:rPr lang="en-US" sz="5000" b="1" dirty="0">
                <a:solidFill>
                  <a:srgbClr val="FFFFFF"/>
                </a:solidFill>
                <a:latin typeface="Caladea" pitchFamily="34" charset="0"/>
                <a:ea typeface="Caladea" pitchFamily="34" charset="-122"/>
                <a:cs typeface="Caladea" pitchFamily="34" charset="-120"/>
              </a:rPr>
              <a:t>paylane: The Big Picture</a:t>
            </a:r>
            <a:endParaRPr lang="en-US" sz="5000" dirty="0"/>
          </a:p>
        </p:txBody>
      </p:sp>
      <p:sp>
        <p:nvSpPr>
          <p:cNvPr id="4" name="Text 2"/>
          <p:cNvSpPr/>
          <p:nvPr/>
        </p:nvSpPr>
        <p:spPr>
          <a:xfrm>
            <a:off x="822960" y="3383280"/>
            <a:ext cx="10058400" cy="822960"/>
          </a:xfrm>
          <a:prstGeom prst="rect">
            <a:avLst/>
          </a:prstGeom>
          <a:noFill/>
          <a:ln/>
        </p:spPr>
        <p:txBody>
          <a:bodyPr wrap="square" lIns="0" tIns="0" rIns="0" bIns="0" rtlCol="0" anchor="ctr"/>
          <a:lstStyle/>
          <a:p>
            <a:pPr indent="0" marL="0">
              <a:buNone/>
            </a:pPr>
            <a:r>
              <a:rPr lang="en-US" sz="1700" dirty="0">
                <a:solidFill>
                  <a:srgbClr val="D8DEE8"/>
                </a:solidFill>
                <a:latin typeface="Caladea" pitchFamily="34" charset="0"/>
                <a:ea typeface="Caladea" pitchFamily="34" charset="-122"/>
                <a:cs typeface="Caladea" pitchFamily="34" charset="-120"/>
              </a:rPr>
              <a:t>A payments platform: what it is, how money moves through it,</a:t>
            </a:r>
            <a:endParaRPr lang="en-US" sz="1700" dirty="0"/>
          </a:p>
          <a:p>
            <a:pPr indent="0" marL="0">
              <a:buNone/>
            </a:pPr>
            <a:r>
              <a:rPr lang="en-US" sz="1700" dirty="0">
                <a:solidFill>
                  <a:srgbClr val="D8DEE8"/>
                </a:solidFill>
                <a:latin typeface="Caladea" pitchFamily="34" charset="0"/>
                <a:ea typeface="Caladea" pitchFamily="34" charset="-122"/>
                <a:cs typeface="Caladea" pitchFamily="34" charset="-120"/>
              </a:rPr>
              <a:t>and what you are going to build around it.</a:t>
            </a:r>
            <a:endParaRPr lang="en-US" sz="1700" dirty="0"/>
          </a:p>
        </p:txBody>
      </p:sp>
      <p:sp>
        <p:nvSpPr>
          <p:cNvPr id="5" name="Shape 3"/>
          <p:cNvSpPr/>
          <p:nvPr/>
        </p:nvSpPr>
        <p:spPr>
          <a:xfrm>
            <a:off x="822960" y="5029200"/>
            <a:ext cx="2011680" cy="640080"/>
          </a:xfrm>
          <a:prstGeom prst="roundRect">
            <a:avLst>
              <a:gd name="adj" fmla="val 8571"/>
            </a:avLst>
          </a:prstGeom>
          <a:solidFill>
            <a:srgbClr val="0D2C54"/>
          </a:solidFill>
          <a:ln w="19050">
            <a:solidFill>
              <a:srgbClr val="C7A052"/>
            </a:solidFill>
            <a:prstDash val="solid"/>
          </a:ln>
        </p:spPr>
      </p:sp>
      <p:sp>
        <p:nvSpPr>
          <p:cNvPr id="6" name="Text 4"/>
          <p:cNvSpPr/>
          <p:nvPr/>
        </p:nvSpPr>
        <p:spPr>
          <a:xfrm>
            <a:off x="822960" y="5029200"/>
            <a:ext cx="2011680" cy="640080"/>
          </a:xfrm>
          <a:prstGeom prst="rect">
            <a:avLst/>
          </a:prstGeom>
          <a:noFill/>
          <a:ln/>
        </p:spPr>
        <p:txBody>
          <a:bodyPr wrap="square" lIns="508" tIns="508" rIns="508" bIns="508" rtlCol="0" anchor="ctr"/>
          <a:lstStyle/>
          <a:p>
            <a:pPr algn="ctr" indent="0" marL="0">
              <a:buNone/>
            </a:pPr>
            <a:r>
              <a:rPr lang="en-US" sz="1100" b="1" dirty="0">
                <a:solidFill>
                  <a:srgbClr val="FFFFFF"/>
                </a:solidFill>
                <a:latin typeface="DejaVu Sans Mono" pitchFamily="34" charset="0"/>
                <a:ea typeface="DejaVu Sans Mono" pitchFamily="34" charset="-122"/>
                <a:cs typeface="DejaVu Sans Mono" pitchFamily="34" charset="-120"/>
              </a:rPr>
              <a:t>instruction</a:t>
            </a:r>
            <a:endParaRPr lang="en-US" sz="1100" dirty="0"/>
          </a:p>
        </p:txBody>
      </p:sp>
      <p:sp>
        <p:nvSpPr>
          <p:cNvPr id="7" name="Shape 5"/>
          <p:cNvSpPr/>
          <p:nvPr/>
        </p:nvSpPr>
        <p:spPr>
          <a:xfrm>
            <a:off x="2834640" y="5349240"/>
            <a:ext cx="640080" cy="0"/>
          </a:xfrm>
          <a:prstGeom prst="line">
            <a:avLst/>
          </a:prstGeom>
          <a:noFill/>
          <a:ln w="22225">
            <a:solidFill>
              <a:srgbClr val="C7A052"/>
            </a:solidFill>
            <a:prstDash val="solid"/>
            <a:tailEnd type="triangle"/>
          </a:ln>
        </p:spPr>
      </p:sp>
      <p:sp>
        <p:nvSpPr>
          <p:cNvPr id="8" name="Shape 6"/>
          <p:cNvSpPr/>
          <p:nvPr/>
        </p:nvSpPr>
        <p:spPr>
          <a:xfrm>
            <a:off x="3474720" y="5029200"/>
            <a:ext cx="2011680" cy="640080"/>
          </a:xfrm>
          <a:prstGeom prst="roundRect">
            <a:avLst>
              <a:gd name="adj" fmla="val 8571"/>
            </a:avLst>
          </a:prstGeom>
          <a:solidFill>
            <a:srgbClr val="0D2C54"/>
          </a:solidFill>
          <a:ln w="19050">
            <a:solidFill>
              <a:srgbClr val="C7A052"/>
            </a:solidFill>
            <a:prstDash val="solid"/>
          </a:ln>
        </p:spPr>
      </p:sp>
      <p:sp>
        <p:nvSpPr>
          <p:cNvPr id="9" name="Text 7"/>
          <p:cNvSpPr/>
          <p:nvPr/>
        </p:nvSpPr>
        <p:spPr>
          <a:xfrm>
            <a:off x="3474720" y="5029200"/>
            <a:ext cx="2011680" cy="640080"/>
          </a:xfrm>
          <a:prstGeom prst="rect">
            <a:avLst/>
          </a:prstGeom>
          <a:noFill/>
          <a:ln/>
        </p:spPr>
        <p:txBody>
          <a:bodyPr wrap="square" lIns="508" tIns="508" rIns="508" bIns="508" rtlCol="0" anchor="ctr"/>
          <a:lstStyle/>
          <a:p>
            <a:pPr algn="ctr" indent="0" marL="0">
              <a:buNone/>
            </a:pPr>
            <a:r>
              <a:rPr lang="en-US" sz="1100" b="1" dirty="0">
                <a:solidFill>
                  <a:srgbClr val="FFFFFF"/>
                </a:solidFill>
                <a:latin typeface="DejaVu Sans Mono" pitchFamily="34" charset="0"/>
                <a:ea typeface="DejaVu Sans Mono" pitchFamily="34" charset="-122"/>
                <a:cs typeface="DejaVu Sans Mono" pitchFamily="34" charset="-120"/>
              </a:rPr>
              <a:t>accepted</a:t>
            </a:r>
            <a:endParaRPr lang="en-US" sz="1100" dirty="0"/>
          </a:p>
        </p:txBody>
      </p:sp>
      <p:sp>
        <p:nvSpPr>
          <p:cNvPr id="10" name="Shape 8"/>
          <p:cNvSpPr/>
          <p:nvPr/>
        </p:nvSpPr>
        <p:spPr>
          <a:xfrm>
            <a:off x="5486400" y="5349240"/>
            <a:ext cx="640080" cy="0"/>
          </a:xfrm>
          <a:prstGeom prst="line">
            <a:avLst/>
          </a:prstGeom>
          <a:noFill/>
          <a:ln w="22225">
            <a:solidFill>
              <a:srgbClr val="C7A052"/>
            </a:solidFill>
            <a:prstDash val="solid"/>
            <a:tailEnd type="triangle"/>
          </a:ln>
        </p:spPr>
      </p:sp>
      <p:sp>
        <p:nvSpPr>
          <p:cNvPr id="11" name="Shape 9"/>
          <p:cNvSpPr/>
          <p:nvPr/>
        </p:nvSpPr>
        <p:spPr>
          <a:xfrm>
            <a:off x="6126480" y="5029200"/>
            <a:ext cx="2011680" cy="640080"/>
          </a:xfrm>
          <a:prstGeom prst="roundRect">
            <a:avLst>
              <a:gd name="adj" fmla="val 8571"/>
            </a:avLst>
          </a:prstGeom>
          <a:solidFill>
            <a:srgbClr val="0D2C54"/>
          </a:solidFill>
          <a:ln w="19050">
            <a:solidFill>
              <a:srgbClr val="C7A052"/>
            </a:solidFill>
            <a:prstDash val="solid"/>
          </a:ln>
        </p:spPr>
      </p:sp>
      <p:sp>
        <p:nvSpPr>
          <p:cNvPr id="12" name="Text 10"/>
          <p:cNvSpPr/>
          <p:nvPr/>
        </p:nvSpPr>
        <p:spPr>
          <a:xfrm>
            <a:off x="6126480" y="5029200"/>
            <a:ext cx="2011680" cy="640080"/>
          </a:xfrm>
          <a:prstGeom prst="rect">
            <a:avLst/>
          </a:prstGeom>
          <a:noFill/>
          <a:ln/>
        </p:spPr>
        <p:txBody>
          <a:bodyPr wrap="square" lIns="508" tIns="508" rIns="508" bIns="508" rtlCol="0" anchor="ctr"/>
          <a:lstStyle/>
          <a:p>
            <a:pPr algn="ctr" indent="0" marL="0">
              <a:buNone/>
            </a:pPr>
            <a:r>
              <a:rPr lang="en-US" sz="1100" b="1" dirty="0">
                <a:solidFill>
                  <a:srgbClr val="FFFFFF"/>
                </a:solidFill>
                <a:latin typeface="DejaVu Sans Mono" pitchFamily="34" charset="0"/>
                <a:ea typeface="DejaVu Sans Mono" pitchFamily="34" charset="-122"/>
                <a:cs typeface="DejaVu Sans Mono" pitchFamily="34" charset="-120"/>
              </a:rPr>
              <a:t>queued</a:t>
            </a:r>
            <a:endParaRPr lang="en-US" sz="1100" dirty="0"/>
          </a:p>
        </p:txBody>
      </p:sp>
      <p:sp>
        <p:nvSpPr>
          <p:cNvPr id="13" name="Shape 11"/>
          <p:cNvSpPr/>
          <p:nvPr/>
        </p:nvSpPr>
        <p:spPr>
          <a:xfrm>
            <a:off x="8138160" y="5349240"/>
            <a:ext cx="640080" cy="0"/>
          </a:xfrm>
          <a:prstGeom prst="line">
            <a:avLst/>
          </a:prstGeom>
          <a:noFill/>
          <a:ln w="22225">
            <a:solidFill>
              <a:srgbClr val="C7A052"/>
            </a:solidFill>
            <a:prstDash val="solid"/>
            <a:tailEnd type="triangle"/>
          </a:ln>
        </p:spPr>
      </p:sp>
      <p:sp>
        <p:nvSpPr>
          <p:cNvPr id="14" name="Shape 12"/>
          <p:cNvSpPr/>
          <p:nvPr/>
        </p:nvSpPr>
        <p:spPr>
          <a:xfrm>
            <a:off x="8778240" y="5029200"/>
            <a:ext cx="2011680" cy="640080"/>
          </a:xfrm>
          <a:prstGeom prst="roundRect">
            <a:avLst>
              <a:gd name="adj" fmla="val 8571"/>
            </a:avLst>
          </a:prstGeom>
          <a:solidFill>
            <a:srgbClr val="0D2C54"/>
          </a:solidFill>
          <a:ln w="19050">
            <a:solidFill>
              <a:srgbClr val="C7A052"/>
            </a:solidFill>
            <a:prstDash val="solid"/>
          </a:ln>
        </p:spPr>
      </p:sp>
      <p:sp>
        <p:nvSpPr>
          <p:cNvPr id="15" name="Text 13"/>
          <p:cNvSpPr/>
          <p:nvPr/>
        </p:nvSpPr>
        <p:spPr>
          <a:xfrm>
            <a:off x="8778240" y="5029200"/>
            <a:ext cx="2011680" cy="640080"/>
          </a:xfrm>
          <a:prstGeom prst="rect">
            <a:avLst/>
          </a:prstGeom>
          <a:noFill/>
          <a:ln/>
        </p:spPr>
        <p:txBody>
          <a:bodyPr wrap="square" lIns="508" tIns="508" rIns="508" bIns="508" rtlCol="0" anchor="ctr"/>
          <a:lstStyle/>
          <a:p>
            <a:pPr algn="ctr" indent="0" marL="0">
              <a:buNone/>
            </a:pPr>
            <a:r>
              <a:rPr lang="en-US" sz="1100" b="1" dirty="0">
                <a:solidFill>
                  <a:srgbClr val="FFFFFF"/>
                </a:solidFill>
                <a:latin typeface="DejaVu Sans Mono" pitchFamily="34" charset="0"/>
                <a:ea typeface="DejaVu Sans Mono" pitchFamily="34" charset="-122"/>
                <a:cs typeface="DejaVu Sans Mono" pitchFamily="34" charset="-120"/>
              </a:rPr>
              <a:t>settled</a:t>
            </a:r>
            <a:endParaRPr lang="en-US" sz="1100" dirty="0"/>
          </a:p>
        </p:txBody>
      </p:sp>
      <p:sp>
        <p:nvSpPr>
          <p:cNvPr id="16" name="Text 14"/>
          <p:cNvSpPr/>
          <p:nvPr/>
        </p:nvSpPr>
        <p:spPr>
          <a:xfrm>
            <a:off x="11155680" y="6446520"/>
            <a:ext cx="914400" cy="320040"/>
          </a:xfrm>
          <a:prstGeom prst="rect">
            <a:avLst/>
          </a:prstGeom>
          <a:noFill/>
          <a:ln/>
        </p:spPr>
        <p:txBody>
          <a:bodyPr wrap="square" lIns="0" tIns="0" rIns="0" bIns="0" rtlCol="0" anchor="ctr"/>
          <a:lstStyle/>
          <a:p>
            <a:pPr algn="r" indent="0" marL="0">
              <a:buNone/>
            </a:pPr>
            <a:r>
              <a:rPr lang="en-US" sz="1000" dirty="0">
                <a:solidFill>
                  <a:srgbClr val="666666"/>
                </a:solidFill>
                <a:latin typeface="Caladea" pitchFamily="34" charset="0"/>
                <a:ea typeface="Caladea" pitchFamily="34" charset="-122"/>
                <a:cs typeface="Caladea" pitchFamily="34" charset="-120"/>
              </a:rPr>
              <a:t>1 / 15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47472"/>
            <a:ext cx="10881360" cy="320040"/>
          </a:xfrm>
          <a:prstGeom prst="rect">
            <a:avLst/>
          </a:prstGeom>
          <a:noFill/>
          <a:ln/>
        </p:spPr>
        <p:txBody>
          <a:bodyPr wrap="square" lIns="0" tIns="0" rIns="0" bIns="0" rtlCol="0" anchor="ctr"/>
          <a:lstStyle/>
          <a:p>
            <a:pPr indent="0" marL="0">
              <a:buNone/>
            </a:pPr>
            <a:r>
              <a:rPr lang="en-US" sz="1300" b="1" spc="200" kern="0" dirty="0">
                <a:solidFill>
                  <a:srgbClr val="C7A052"/>
                </a:solidFill>
                <a:latin typeface="Caladea" pitchFamily="34" charset="0"/>
                <a:ea typeface="Caladea" pitchFamily="34" charset="-122"/>
                <a:cs typeface="Caladea" pitchFamily="34" charset="-120"/>
              </a:rPr>
              <a:t>THE SYSTEM</a:t>
            </a:r>
            <a:endParaRPr lang="en-US" sz="13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D2C54"/>
                </a:solidFill>
                <a:latin typeface="Caladea" pitchFamily="34" charset="0"/>
                <a:ea typeface="Caladea" pitchFamily="34" charset="-122"/>
                <a:cs typeface="Caladea" pitchFamily="34" charset="-120"/>
              </a:rPr>
              <a:t>Five services, two datastores, one worker</a:t>
            </a:r>
            <a:endParaRPr lang="en-US" sz="3000" dirty="0"/>
          </a:p>
        </p:txBody>
      </p:sp>
      <p:sp>
        <p:nvSpPr>
          <p:cNvPr id="4" name="Shape 2"/>
          <p:cNvSpPr/>
          <p:nvPr/>
        </p:nvSpPr>
        <p:spPr>
          <a:xfrm>
            <a:off x="640080" y="2926080"/>
            <a:ext cx="1554480" cy="868680"/>
          </a:xfrm>
          <a:prstGeom prst="roundRect">
            <a:avLst>
              <a:gd name="adj" fmla="val 6316"/>
            </a:avLst>
          </a:prstGeom>
          <a:solidFill>
            <a:srgbClr val="F4ECD8"/>
          </a:solidFill>
          <a:ln w="19050">
            <a:solidFill>
              <a:srgbClr val="C7A052"/>
            </a:solidFill>
            <a:prstDash val="solid"/>
          </a:ln>
        </p:spPr>
      </p:sp>
      <p:sp>
        <p:nvSpPr>
          <p:cNvPr id="5" name="Text 3"/>
          <p:cNvSpPr/>
          <p:nvPr/>
        </p:nvSpPr>
        <p:spPr>
          <a:xfrm>
            <a:off x="640080" y="2926080"/>
            <a:ext cx="1554480" cy="868680"/>
          </a:xfrm>
          <a:prstGeom prst="rect">
            <a:avLst/>
          </a:prstGeom>
          <a:noFill/>
          <a:ln/>
        </p:spPr>
        <p:txBody>
          <a:bodyPr wrap="square" lIns="508" tIns="508" rIns="508" bIns="508" rtlCol="0" anchor="ctr"/>
          <a:lstStyle/>
          <a:p>
            <a:pPr algn="ctr" indent="0" marL="0">
              <a:buNone/>
            </a:pPr>
            <a:r>
              <a:rPr lang="en-US" sz="1300" b="1" dirty="0">
                <a:solidFill>
                  <a:srgbClr val="0D2C54"/>
                </a:solidFill>
                <a:latin typeface="Caladea" pitchFamily="34" charset="0"/>
                <a:ea typeface="Caladea" pitchFamily="34" charset="-122"/>
                <a:cs typeface="Caladea" pitchFamily="34" charset="-120"/>
              </a:rPr>
              <a:t>Browser</a:t>
            </a:r>
            <a:endParaRPr lang="en-US" sz="1300" dirty="0"/>
          </a:p>
          <a:p>
            <a:pPr algn="ctr" indent="0" marL="0">
              <a:buNone/>
            </a:pPr>
            <a:r>
              <a:rPr lang="en-US" sz="1000" dirty="0">
                <a:solidFill>
                  <a:srgbClr val="666666"/>
                </a:solidFill>
                <a:latin typeface="Caladea" pitchFamily="34" charset="0"/>
                <a:ea typeface="Caladea" pitchFamily="34" charset="-122"/>
                <a:cs typeface="Caladea" pitchFamily="34" charset="-120"/>
              </a:rPr>
              <a:t>the customer</a:t>
            </a:r>
            <a:endParaRPr lang="en-US" sz="1300" dirty="0"/>
          </a:p>
        </p:txBody>
      </p:sp>
      <p:sp>
        <p:nvSpPr>
          <p:cNvPr id="6" name="Shape 4"/>
          <p:cNvSpPr/>
          <p:nvPr/>
        </p:nvSpPr>
        <p:spPr>
          <a:xfrm>
            <a:off x="2743200" y="2926080"/>
            <a:ext cx="2011680" cy="868680"/>
          </a:xfrm>
          <a:prstGeom prst="roundRect">
            <a:avLst>
              <a:gd name="adj" fmla="val 6316"/>
            </a:avLst>
          </a:prstGeom>
          <a:solidFill>
            <a:srgbClr val="FFFFFF"/>
          </a:solidFill>
          <a:ln w="19050">
            <a:solidFill>
              <a:srgbClr val="0D2C54"/>
            </a:solidFill>
            <a:prstDash val="solid"/>
          </a:ln>
        </p:spPr>
      </p:sp>
      <p:sp>
        <p:nvSpPr>
          <p:cNvPr id="7" name="Text 5"/>
          <p:cNvSpPr/>
          <p:nvPr/>
        </p:nvSpPr>
        <p:spPr>
          <a:xfrm>
            <a:off x="2743200" y="2926080"/>
            <a:ext cx="2011680" cy="868680"/>
          </a:xfrm>
          <a:prstGeom prst="rect">
            <a:avLst/>
          </a:prstGeom>
          <a:noFill/>
          <a:ln/>
        </p:spPr>
        <p:txBody>
          <a:bodyPr wrap="square" lIns="508" tIns="508" rIns="508" bIns="508" rtlCol="0" anchor="ctr"/>
          <a:lstStyle/>
          <a:p>
            <a:pPr algn="ctr" indent="0" marL="0">
              <a:buNone/>
            </a:pPr>
            <a:r>
              <a:rPr lang="en-US" sz="1300" b="1" dirty="0">
                <a:solidFill>
                  <a:srgbClr val="0D2C54"/>
                </a:solidFill>
                <a:latin typeface="DejaVu Sans Mono" pitchFamily="34" charset="0"/>
                <a:ea typeface="DejaVu Sans Mono" pitchFamily="34" charset="-122"/>
                <a:cs typeface="DejaVu Sans Mono" pitchFamily="34" charset="-120"/>
              </a:rPr>
              <a:t>portal</a:t>
            </a:r>
            <a:endParaRPr lang="en-US" sz="1300" dirty="0"/>
          </a:p>
          <a:p>
            <a:pPr algn="ctr" indent="0" marL="0">
              <a:buNone/>
            </a:pPr>
            <a:r>
              <a:rPr lang="en-US" sz="1000" dirty="0">
                <a:solidFill>
                  <a:srgbClr val="666666"/>
                </a:solidFill>
                <a:latin typeface="Caladea" pitchFamily="34" charset="0"/>
                <a:ea typeface="Caladea" pitchFamily="34" charset="-122"/>
                <a:cs typeface="Caladea" pitchFamily="34" charset="-120"/>
              </a:rPr>
              <a:t>Node · :3000</a:t>
            </a:r>
            <a:endParaRPr lang="en-US" sz="1300" dirty="0"/>
          </a:p>
        </p:txBody>
      </p:sp>
      <p:sp>
        <p:nvSpPr>
          <p:cNvPr id="8" name="Shape 6"/>
          <p:cNvSpPr/>
          <p:nvPr/>
        </p:nvSpPr>
        <p:spPr>
          <a:xfrm>
            <a:off x="2194560" y="3355848"/>
            <a:ext cx="548640" cy="0"/>
          </a:xfrm>
          <a:prstGeom prst="line">
            <a:avLst/>
          </a:prstGeom>
          <a:noFill/>
          <a:ln w="22225">
            <a:solidFill>
              <a:srgbClr val="666666"/>
            </a:solidFill>
            <a:prstDash val="solid"/>
            <a:tailEnd type="triangle"/>
          </a:ln>
        </p:spPr>
      </p:sp>
      <p:sp>
        <p:nvSpPr>
          <p:cNvPr id="9" name="Shape 7"/>
          <p:cNvSpPr/>
          <p:nvPr/>
        </p:nvSpPr>
        <p:spPr>
          <a:xfrm>
            <a:off x="5486400" y="1554480"/>
            <a:ext cx="2103120" cy="868680"/>
          </a:xfrm>
          <a:prstGeom prst="roundRect">
            <a:avLst>
              <a:gd name="adj" fmla="val 6316"/>
            </a:avLst>
          </a:prstGeom>
          <a:solidFill>
            <a:srgbClr val="FFFFFF"/>
          </a:solidFill>
          <a:ln w="19050">
            <a:solidFill>
              <a:srgbClr val="0D2C54"/>
            </a:solidFill>
            <a:prstDash val="solid"/>
          </a:ln>
        </p:spPr>
      </p:sp>
      <p:sp>
        <p:nvSpPr>
          <p:cNvPr id="10" name="Text 8"/>
          <p:cNvSpPr/>
          <p:nvPr/>
        </p:nvSpPr>
        <p:spPr>
          <a:xfrm>
            <a:off x="5486400" y="1554480"/>
            <a:ext cx="2103120" cy="868680"/>
          </a:xfrm>
          <a:prstGeom prst="rect">
            <a:avLst/>
          </a:prstGeom>
          <a:noFill/>
          <a:ln/>
        </p:spPr>
        <p:txBody>
          <a:bodyPr wrap="square" lIns="508" tIns="508" rIns="508" bIns="508" rtlCol="0" anchor="ctr"/>
          <a:lstStyle/>
          <a:p>
            <a:pPr algn="ctr" indent="0" marL="0">
              <a:buNone/>
            </a:pPr>
            <a:r>
              <a:rPr lang="en-US" sz="1300" b="1" dirty="0">
                <a:solidFill>
                  <a:srgbClr val="0D2C54"/>
                </a:solidFill>
                <a:latin typeface="DejaVu Sans Mono" pitchFamily="34" charset="0"/>
                <a:ea typeface="DejaVu Sans Mono" pitchFamily="34" charset="-122"/>
                <a:cs typeface="DejaVu Sans Mono" pitchFamily="34" charset="-120"/>
              </a:rPr>
              <a:t>mandate-svc</a:t>
            </a:r>
            <a:endParaRPr lang="en-US" sz="1300" dirty="0"/>
          </a:p>
          <a:p>
            <a:pPr algn="ctr" indent="0" marL="0">
              <a:buNone/>
            </a:pPr>
            <a:r>
              <a:rPr lang="en-US" sz="1000" dirty="0">
                <a:solidFill>
                  <a:srgbClr val="666666"/>
                </a:solidFill>
                <a:latin typeface="Caladea" pitchFamily="34" charset="0"/>
                <a:ea typeface="Caladea" pitchFamily="34" charset="-122"/>
                <a:cs typeface="Caladea" pitchFamily="34" charset="-120"/>
              </a:rPr>
              <a:t>FastAPI · :3001</a:t>
            </a:r>
            <a:endParaRPr lang="en-US" sz="1300" dirty="0"/>
          </a:p>
        </p:txBody>
      </p:sp>
      <p:sp>
        <p:nvSpPr>
          <p:cNvPr id="11" name="Shape 9"/>
          <p:cNvSpPr/>
          <p:nvPr/>
        </p:nvSpPr>
        <p:spPr>
          <a:xfrm>
            <a:off x="5486400" y="2926080"/>
            <a:ext cx="2103120" cy="868680"/>
          </a:xfrm>
          <a:prstGeom prst="roundRect">
            <a:avLst>
              <a:gd name="adj" fmla="val 6316"/>
            </a:avLst>
          </a:prstGeom>
          <a:solidFill>
            <a:srgbClr val="FFFFFF"/>
          </a:solidFill>
          <a:ln w="19050">
            <a:solidFill>
              <a:srgbClr val="0D2C54"/>
            </a:solidFill>
            <a:prstDash val="solid"/>
          </a:ln>
        </p:spPr>
      </p:sp>
      <p:sp>
        <p:nvSpPr>
          <p:cNvPr id="12" name="Text 10"/>
          <p:cNvSpPr/>
          <p:nvPr/>
        </p:nvSpPr>
        <p:spPr>
          <a:xfrm>
            <a:off x="5486400" y="2926080"/>
            <a:ext cx="2103120" cy="868680"/>
          </a:xfrm>
          <a:prstGeom prst="rect">
            <a:avLst/>
          </a:prstGeom>
          <a:noFill/>
          <a:ln/>
        </p:spPr>
        <p:txBody>
          <a:bodyPr wrap="square" lIns="508" tIns="508" rIns="508" bIns="508" rtlCol="0" anchor="ctr"/>
          <a:lstStyle/>
          <a:p>
            <a:pPr algn="ctr" indent="0" marL="0">
              <a:buNone/>
            </a:pPr>
            <a:r>
              <a:rPr lang="en-US" sz="1300" b="1" dirty="0">
                <a:solidFill>
                  <a:srgbClr val="0D2C54"/>
                </a:solidFill>
                <a:latin typeface="DejaVu Sans Mono" pitchFamily="34" charset="0"/>
                <a:ea typeface="DejaVu Sans Mono" pitchFamily="34" charset="-122"/>
                <a:cs typeface="DejaVu Sans Mono" pitchFamily="34" charset="-120"/>
              </a:rPr>
              <a:t>payment-svc</a:t>
            </a:r>
            <a:endParaRPr lang="en-US" sz="1300" dirty="0"/>
          </a:p>
          <a:p>
            <a:pPr algn="ctr" indent="0" marL="0">
              <a:buNone/>
            </a:pPr>
            <a:r>
              <a:rPr lang="en-US" sz="1000" dirty="0">
                <a:solidFill>
                  <a:srgbClr val="666666"/>
                </a:solidFill>
                <a:latin typeface="Caladea" pitchFamily="34" charset="0"/>
                <a:ea typeface="Caladea" pitchFamily="34" charset="-122"/>
                <a:cs typeface="Caladea" pitchFamily="34" charset="-120"/>
              </a:rPr>
              <a:t>FastAPI · :3002</a:t>
            </a:r>
            <a:endParaRPr lang="en-US" sz="1300" dirty="0"/>
          </a:p>
        </p:txBody>
      </p:sp>
      <p:sp>
        <p:nvSpPr>
          <p:cNvPr id="13" name="Shape 11"/>
          <p:cNvSpPr/>
          <p:nvPr/>
        </p:nvSpPr>
        <p:spPr>
          <a:xfrm>
            <a:off x="5486400" y="4297680"/>
            <a:ext cx="2103120" cy="868680"/>
          </a:xfrm>
          <a:prstGeom prst="roundRect">
            <a:avLst>
              <a:gd name="adj" fmla="val 6316"/>
            </a:avLst>
          </a:prstGeom>
          <a:solidFill>
            <a:srgbClr val="FFFFFF"/>
          </a:solidFill>
          <a:ln w="19050">
            <a:solidFill>
              <a:srgbClr val="0D2C54"/>
            </a:solidFill>
            <a:prstDash val="solid"/>
          </a:ln>
        </p:spPr>
      </p:sp>
      <p:sp>
        <p:nvSpPr>
          <p:cNvPr id="14" name="Text 12"/>
          <p:cNvSpPr/>
          <p:nvPr/>
        </p:nvSpPr>
        <p:spPr>
          <a:xfrm>
            <a:off x="5486400" y="4297680"/>
            <a:ext cx="2103120" cy="868680"/>
          </a:xfrm>
          <a:prstGeom prst="rect">
            <a:avLst/>
          </a:prstGeom>
          <a:noFill/>
          <a:ln/>
        </p:spPr>
        <p:txBody>
          <a:bodyPr wrap="square" lIns="508" tIns="508" rIns="508" bIns="508" rtlCol="0" anchor="ctr"/>
          <a:lstStyle/>
          <a:p>
            <a:pPr algn="ctr" indent="0" marL="0">
              <a:buNone/>
            </a:pPr>
            <a:r>
              <a:rPr lang="en-US" sz="1300" b="1" dirty="0">
                <a:solidFill>
                  <a:srgbClr val="0D2C54"/>
                </a:solidFill>
                <a:latin typeface="DejaVu Sans Mono" pitchFamily="34" charset="0"/>
                <a:ea typeface="DejaVu Sans Mono" pitchFamily="34" charset="-122"/>
                <a:cs typeface="DejaVu Sans Mono" pitchFamily="34" charset="-120"/>
              </a:rPr>
              <a:t>ledger-svc</a:t>
            </a:r>
            <a:endParaRPr lang="en-US" sz="1300" dirty="0"/>
          </a:p>
          <a:p>
            <a:pPr algn="ctr" indent="0" marL="0">
              <a:buNone/>
            </a:pPr>
            <a:r>
              <a:rPr lang="en-US" sz="1000" dirty="0">
                <a:solidFill>
                  <a:srgbClr val="666666"/>
                </a:solidFill>
                <a:latin typeface="Caladea" pitchFamily="34" charset="0"/>
                <a:ea typeface="Caladea" pitchFamily="34" charset="-122"/>
                <a:cs typeface="Caladea" pitchFamily="34" charset="-120"/>
              </a:rPr>
              <a:t>FastAPI · :3003</a:t>
            </a:r>
            <a:endParaRPr lang="en-US" sz="1300" dirty="0"/>
          </a:p>
        </p:txBody>
      </p:sp>
      <p:sp>
        <p:nvSpPr>
          <p:cNvPr id="15" name="Shape 13"/>
          <p:cNvSpPr/>
          <p:nvPr/>
        </p:nvSpPr>
        <p:spPr>
          <a:xfrm>
            <a:off x="4754880" y="3200400"/>
            <a:ext cx="731520" cy="-1188720"/>
          </a:xfrm>
          <a:prstGeom prst="line">
            <a:avLst/>
          </a:prstGeom>
          <a:noFill/>
          <a:ln w="22225">
            <a:solidFill>
              <a:srgbClr val="666666"/>
            </a:solidFill>
            <a:prstDash val="solid"/>
            <a:tailEnd type="triangle"/>
          </a:ln>
        </p:spPr>
      </p:sp>
      <p:sp>
        <p:nvSpPr>
          <p:cNvPr id="16" name="Shape 14"/>
          <p:cNvSpPr/>
          <p:nvPr/>
        </p:nvSpPr>
        <p:spPr>
          <a:xfrm>
            <a:off x="4754880" y="3355848"/>
            <a:ext cx="731520" cy="0"/>
          </a:xfrm>
          <a:prstGeom prst="line">
            <a:avLst/>
          </a:prstGeom>
          <a:noFill/>
          <a:ln w="22225">
            <a:solidFill>
              <a:srgbClr val="666666"/>
            </a:solidFill>
            <a:prstDash val="solid"/>
            <a:tailEnd type="triangle"/>
          </a:ln>
        </p:spPr>
      </p:sp>
      <p:sp>
        <p:nvSpPr>
          <p:cNvPr id="17" name="Shape 15"/>
          <p:cNvSpPr/>
          <p:nvPr/>
        </p:nvSpPr>
        <p:spPr>
          <a:xfrm>
            <a:off x="4754880" y="3520440"/>
            <a:ext cx="731520" cy="1188720"/>
          </a:xfrm>
          <a:prstGeom prst="line">
            <a:avLst/>
          </a:prstGeom>
          <a:noFill/>
          <a:ln w="22225">
            <a:solidFill>
              <a:srgbClr val="666666"/>
            </a:solidFill>
            <a:prstDash val="solid"/>
            <a:tailEnd type="triangle"/>
          </a:ln>
        </p:spPr>
      </p:sp>
      <p:sp>
        <p:nvSpPr>
          <p:cNvPr id="18" name="Shape 16"/>
          <p:cNvSpPr/>
          <p:nvPr/>
        </p:nvSpPr>
        <p:spPr>
          <a:xfrm>
            <a:off x="8778240" y="2011680"/>
            <a:ext cx="2377440" cy="868680"/>
          </a:xfrm>
          <a:prstGeom prst="roundRect">
            <a:avLst>
              <a:gd name="adj" fmla="val 6316"/>
            </a:avLst>
          </a:prstGeom>
          <a:solidFill>
            <a:srgbClr val="0D2C54"/>
          </a:solidFill>
          <a:ln w="19050">
            <a:solidFill>
              <a:srgbClr val="0D2C54"/>
            </a:solidFill>
            <a:prstDash val="solid"/>
          </a:ln>
        </p:spPr>
      </p:sp>
      <p:sp>
        <p:nvSpPr>
          <p:cNvPr id="19" name="Text 17"/>
          <p:cNvSpPr/>
          <p:nvPr/>
        </p:nvSpPr>
        <p:spPr>
          <a:xfrm>
            <a:off x="8778240" y="2011680"/>
            <a:ext cx="2377440" cy="868680"/>
          </a:xfrm>
          <a:prstGeom prst="rect">
            <a:avLst/>
          </a:prstGeom>
          <a:noFill/>
          <a:ln/>
        </p:spPr>
        <p:txBody>
          <a:bodyPr wrap="square" lIns="508" tIns="508" rIns="508" bIns="508" rtlCol="0" anchor="ctr"/>
          <a:lstStyle/>
          <a:p>
            <a:pPr algn="ctr" indent="0" marL="0">
              <a:buNone/>
            </a:pPr>
            <a:r>
              <a:rPr lang="en-US" sz="1300" b="1" dirty="0">
                <a:solidFill>
                  <a:srgbClr val="FFFFFF"/>
                </a:solidFill>
                <a:latin typeface="Caladea" pitchFamily="34" charset="0"/>
                <a:ea typeface="Caladea" pitchFamily="34" charset="-122"/>
                <a:cs typeface="Caladea" pitchFamily="34" charset="-120"/>
              </a:rPr>
              <a:t>PostgreSQL</a:t>
            </a:r>
            <a:endParaRPr lang="en-US" sz="1300" dirty="0"/>
          </a:p>
          <a:p>
            <a:pPr algn="ctr" indent="0" marL="0">
              <a:buNone/>
            </a:pPr>
            <a:r>
              <a:rPr lang="en-US" sz="1000" dirty="0">
                <a:solidFill>
                  <a:srgbClr val="C9D2E0"/>
                </a:solidFill>
                <a:latin typeface="Caladea" pitchFamily="34" charset="0"/>
                <a:ea typeface="Caladea" pitchFamily="34" charset="-122"/>
                <a:cs typeface="Caladea" pitchFamily="34" charset="-120"/>
              </a:rPr>
              <a:t>system of record</a:t>
            </a:r>
            <a:endParaRPr lang="en-US" sz="1300" dirty="0"/>
          </a:p>
        </p:txBody>
      </p:sp>
      <p:sp>
        <p:nvSpPr>
          <p:cNvPr id="20" name="Shape 18"/>
          <p:cNvSpPr/>
          <p:nvPr/>
        </p:nvSpPr>
        <p:spPr>
          <a:xfrm>
            <a:off x="8778240" y="3566160"/>
            <a:ext cx="2377440" cy="868680"/>
          </a:xfrm>
          <a:prstGeom prst="roundRect">
            <a:avLst>
              <a:gd name="adj" fmla="val 6316"/>
            </a:avLst>
          </a:prstGeom>
          <a:solidFill>
            <a:srgbClr val="0D2C54"/>
          </a:solidFill>
          <a:ln w="19050">
            <a:solidFill>
              <a:srgbClr val="0D2C54"/>
            </a:solidFill>
            <a:prstDash val="solid"/>
          </a:ln>
        </p:spPr>
      </p:sp>
      <p:sp>
        <p:nvSpPr>
          <p:cNvPr id="21" name="Text 19"/>
          <p:cNvSpPr/>
          <p:nvPr/>
        </p:nvSpPr>
        <p:spPr>
          <a:xfrm>
            <a:off x="8778240" y="3566160"/>
            <a:ext cx="2377440" cy="868680"/>
          </a:xfrm>
          <a:prstGeom prst="rect">
            <a:avLst/>
          </a:prstGeom>
          <a:noFill/>
          <a:ln/>
        </p:spPr>
        <p:txBody>
          <a:bodyPr wrap="square" lIns="508" tIns="508" rIns="508" bIns="508" rtlCol="0" anchor="ctr"/>
          <a:lstStyle/>
          <a:p>
            <a:pPr algn="ctr" indent="0" marL="0">
              <a:buNone/>
            </a:pPr>
            <a:r>
              <a:rPr lang="en-US" sz="1300" b="1" dirty="0">
                <a:solidFill>
                  <a:srgbClr val="FFFFFF"/>
                </a:solidFill>
                <a:latin typeface="Caladea" pitchFamily="34" charset="0"/>
                <a:ea typeface="Caladea" pitchFamily="34" charset="-122"/>
                <a:cs typeface="Caladea" pitchFamily="34" charset="-120"/>
              </a:rPr>
              <a:t>Redis</a:t>
            </a:r>
            <a:endParaRPr lang="en-US" sz="1300" dirty="0"/>
          </a:p>
          <a:p>
            <a:pPr algn="ctr" indent="0" marL="0">
              <a:buNone/>
            </a:pPr>
            <a:r>
              <a:rPr lang="en-US" sz="1000" dirty="0">
                <a:solidFill>
                  <a:srgbClr val="C9D2E0"/>
                </a:solidFill>
                <a:latin typeface="Caladea" pitchFamily="34" charset="0"/>
                <a:ea typeface="Caladea" pitchFamily="34" charset="-122"/>
                <a:cs typeface="Caladea" pitchFamily="34" charset="-120"/>
              </a:rPr>
              <a:t>cache + queue</a:t>
            </a:r>
            <a:endParaRPr lang="en-US" sz="1300" dirty="0"/>
          </a:p>
        </p:txBody>
      </p:sp>
      <p:sp>
        <p:nvSpPr>
          <p:cNvPr id="22" name="Shape 20"/>
          <p:cNvSpPr/>
          <p:nvPr/>
        </p:nvSpPr>
        <p:spPr>
          <a:xfrm>
            <a:off x="7589520" y="1965960"/>
            <a:ext cx="1188720" cy="365760"/>
          </a:xfrm>
          <a:prstGeom prst="line">
            <a:avLst/>
          </a:prstGeom>
          <a:noFill/>
          <a:ln w="22225">
            <a:solidFill>
              <a:srgbClr val="666666"/>
            </a:solidFill>
            <a:prstDash val="solid"/>
            <a:tailEnd type="triangle"/>
          </a:ln>
        </p:spPr>
      </p:sp>
      <p:sp>
        <p:nvSpPr>
          <p:cNvPr id="23" name="Shape 21"/>
          <p:cNvSpPr/>
          <p:nvPr/>
        </p:nvSpPr>
        <p:spPr>
          <a:xfrm>
            <a:off x="7589520" y="3246120"/>
            <a:ext cx="1188720" cy="-640080"/>
          </a:xfrm>
          <a:prstGeom prst="line">
            <a:avLst/>
          </a:prstGeom>
          <a:noFill/>
          <a:ln w="22225">
            <a:solidFill>
              <a:srgbClr val="666666"/>
            </a:solidFill>
            <a:prstDash val="solid"/>
            <a:tailEnd type="triangle"/>
          </a:ln>
        </p:spPr>
      </p:sp>
      <p:sp>
        <p:nvSpPr>
          <p:cNvPr id="24" name="Shape 22"/>
          <p:cNvSpPr/>
          <p:nvPr/>
        </p:nvSpPr>
        <p:spPr>
          <a:xfrm>
            <a:off x="7589520" y="3474720"/>
            <a:ext cx="1188720" cy="365760"/>
          </a:xfrm>
          <a:prstGeom prst="line">
            <a:avLst/>
          </a:prstGeom>
          <a:noFill/>
          <a:ln w="22225">
            <a:solidFill>
              <a:srgbClr val="666666"/>
            </a:solidFill>
            <a:prstDash val="solid"/>
            <a:tailEnd type="triangle"/>
          </a:ln>
        </p:spPr>
      </p:sp>
      <p:sp>
        <p:nvSpPr>
          <p:cNvPr id="25" name="Shape 23"/>
          <p:cNvSpPr/>
          <p:nvPr/>
        </p:nvSpPr>
        <p:spPr>
          <a:xfrm>
            <a:off x="7589520" y="4709160"/>
            <a:ext cx="1188720" cy="-2011680"/>
          </a:xfrm>
          <a:prstGeom prst="line">
            <a:avLst/>
          </a:prstGeom>
          <a:noFill/>
          <a:ln w="22225">
            <a:solidFill>
              <a:srgbClr val="666666"/>
            </a:solidFill>
            <a:prstDash val="solid"/>
            <a:tailEnd type="triangle"/>
          </a:ln>
        </p:spPr>
      </p:sp>
      <p:sp>
        <p:nvSpPr>
          <p:cNvPr id="26" name="Shape 24"/>
          <p:cNvSpPr/>
          <p:nvPr/>
        </p:nvSpPr>
        <p:spPr>
          <a:xfrm>
            <a:off x="7589520" y="2286000"/>
            <a:ext cx="1188720" cy="1508760"/>
          </a:xfrm>
          <a:prstGeom prst="line">
            <a:avLst/>
          </a:prstGeom>
          <a:noFill/>
          <a:ln w="22225">
            <a:solidFill>
              <a:srgbClr val="666666"/>
            </a:solidFill>
            <a:prstDash val="solid"/>
            <a:tailEnd type="triangle"/>
          </a:ln>
        </p:spPr>
      </p:sp>
      <p:sp>
        <p:nvSpPr>
          <p:cNvPr id="27" name="Shape 25"/>
          <p:cNvSpPr/>
          <p:nvPr/>
        </p:nvSpPr>
        <p:spPr>
          <a:xfrm>
            <a:off x="5486400" y="5577840"/>
            <a:ext cx="2103120" cy="868680"/>
          </a:xfrm>
          <a:prstGeom prst="roundRect">
            <a:avLst>
              <a:gd name="adj" fmla="val 6316"/>
            </a:avLst>
          </a:prstGeom>
          <a:solidFill>
            <a:srgbClr val="FFFFFF"/>
          </a:solidFill>
          <a:ln w="19050">
            <a:solidFill>
              <a:srgbClr val="0D2C54"/>
            </a:solidFill>
            <a:prstDash val="solid"/>
          </a:ln>
        </p:spPr>
      </p:sp>
      <p:sp>
        <p:nvSpPr>
          <p:cNvPr id="28" name="Text 26"/>
          <p:cNvSpPr/>
          <p:nvPr/>
        </p:nvSpPr>
        <p:spPr>
          <a:xfrm>
            <a:off x="5486400" y="5577840"/>
            <a:ext cx="2103120" cy="868680"/>
          </a:xfrm>
          <a:prstGeom prst="rect">
            <a:avLst/>
          </a:prstGeom>
          <a:noFill/>
          <a:ln/>
        </p:spPr>
        <p:txBody>
          <a:bodyPr wrap="square" lIns="508" tIns="508" rIns="508" bIns="508" rtlCol="0" anchor="ctr"/>
          <a:lstStyle/>
          <a:p>
            <a:pPr algn="ctr" indent="0" marL="0">
              <a:buNone/>
            </a:pPr>
            <a:r>
              <a:rPr lang="en-US" sz="1100" b="1" dirty="0">
                <a:solidFill>
                  <a:srgbClr val="0D2C54"/>
                </a:solidFill>
                <a:latin typeface="DejaVu Sans Mono" pitchFamily="34" charset="0"/>
                <a:ea typeface="DejaVu Sans Mono" pitchFamily="34" charset="-122"/>
                <a:cs typeface="DejaVu Sans Mono" pitchFamily="34" charset="-120"/>
              </a:rPr>
              <a:t>settlement-worker</a:t>
            </a:r>
            <a:endParaRPr lang="en-US" sz="1100" dirty="0"/>
          </a:p>
          <a:p>
            <a:pPr algn="ctr" indent="0" marL="0">
              <a:buNone/>
            </a:pPr>
            <a:r>
              <a:rPr lang="en-US" sz="900" dirty="0">
                <a:solidFill>
                  <a:srgbClr val="666666"/>
                </a:solidFill>
                <a:latin typeface="Caladea" pitchFamily="34" charset="0"/>
                <a:ea typeface="Caladea" pitchFamily="34" charset="-122"/>
                <a:cs typeface="Caladea" pitchFamily="34" charset="-120"/>
              </a:rPr>
              <a:t>no port — drains the queue</a:t>
            </a:r>
            <a:endParaRPr lang="en-US" sz="1100" dirty="0"/>
          </a:p>
        </p:txBody>
      </p:sp>
      <p:sp>
        <p:nvSpPr>
          <p:cNvPr id="29" name="Shape 27"/>
          <p:cNvSpPr/>
          <p:nvPr/>
        </p:nvSpPr>
        <p:spPr>
          <a:xfrm>
            <a:off x="8778240" y="4297680"/>
            <a:ext cx="-1188720" cy="1463040"/>
          </a:xfrm>
          <a:prstGeom prst="line">
            <a:avLst/>
          </a:prstGeom>
          <a:noFill/>
          <a:ln w="28575">
            <a:solidFill>
              <a:srgbClr val="C7A052"/>
            </a:solidFill>
            <a:prstDash val="solid"/>
            <a:tailEnd type="triangle"/>
          </a:ln>
        </p:spPr>
      </p:sp>
      <p:sp>
        <p:nvSpPr>
          <p:cNvPr id="30" name="Shape 28"/>
          <p:cNvSpPr/>
          <p:nvPr/>
        </p:nvSpPr>
        <p:spPr>
          <a:xfrm>
            <a:off x="7589520" y="6309360"/>
            <a:ext cx="2103120" cy="-1874520"/>
          </a:xfrm>
          <a:prstGeom prst="line">
            <a:avLst/>
          </a:prstGeom>
          <a:noFill/>
          <a:ln w="28575">
            <a:solidFill>
              <a:srgbClr val="C7A052"/>
            </a:solidFill>
            <a:prstDash val="dash"/>
            <a:tailEnd type="triangle"/>
          </a:ln>
        </p:spPr>
      </p:sp>
      <p:sp>
        <p:nvSpPr>
          <p:cNvPr id="31" name="Text 29"/>
          <p:cNvSpPr/>
          <p:nvPr/>
        </p:nvSpPr>
        <p:spPr>
          <a:xfrm>
            <a:off x="640080" y="6172200"/>
            <a:ext cx="4572000" cy="548640"/>
          </a:xfrm>
          <a:prstGeom prst="rect">
            <a:avLst/>
          </a:prstGeom>
          <a:noFill/>
          <a:ln/>
        </p:spPr>
        <p:txBody>
          <a:bodyPr wrap="square" lIns="0" tIns="0" rIns="0" bIns="0" rtlCol="0" anchor="ctr"/>
          <a:lstStyle/>
          <a:p>
            <a:pPr indent="0" marL="0">
              <a:buNone/>
            </a:pPr>
            <a:r>
              <a:rPr lang="en-US" sz="1100" i="1" dirty="0">
                <a:solidFill>
                  <a:srgbClr val="666666"/>
                </a:solidFill>
                <a:latin typeface="Caladea" pitchFamily="34" charset="0"/>
                <a:ea typeface="Caladea" pitchFamily="34" charset="-122"/>
                <a:cs typeface="Caladea" pitchFamily="34" charset="-120"/>
              </a:rPr>
              <a:t>gold = the async path: work that happens after the customer has gone</a:t>
            </a:r>
            <a:endParaRPr lang="en-US" sz="1100" dirty="0"/>
          </a:p>
        </p:txBody>
      </p:sp>
      <p:sp>
        <p:nvSpPr>
          <p:cNvPr id="32" name="Text 30"/>
          <p:cNvSpPr/>
          <p:nvPr/>
        </p:nvSpPr>
        <p:spPr>
          <a:xfrm>
            <a:off x="11155680" y="6446520"/>
            <a:ext cx="914400" cy="320040"/>
          </a:xfrm>
          <a:prstGeom prst="rect">
            <a:avLst/>
          </a:prstGeom>
          <a:noFill/>
          <a:ln/>
        </p:spPr>
        <p:txBody>
          <a:bodyPr wrap="square" lIns="0" tIns="0" rIns="0" bIns="0" rtlCol="0" anchor="ctr"/>
          <a:lstStyle/>
          <a:p>
            <a:pPr algn="r" indent="0" marL="0">
              <a:buNone/>
            </a:pPr>
            <a:r>
              <a:rPr lang="en-US" sz="1000" dirty="0">
                <a:solidFill>
                  <a:srgbClr val="666666"/>
                </a:solidFill>
                <a:latin typeface="Caladea" pitchFamily="34" charset="0"/>
                <a:ea typeface="Caladea" pitchFamily="34" charset="-122"/>
                <a:cs typeface="Caladea" pitchFamily="34" charset="-120"/>
              </a:rPr>
              <a:t>2 / 15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47472"/>
            <a:ext cx="10881360" cy="320040"/>
          </a:xfrm>
          <a:prstGeom prst="rect">
            <a:avLst/>
          </a:prstGeom>
          <a:noFill/>
          <a:ln/>
        </p:spPr>
        <p:txBody>
          <a:bodyPr wrap="square" lIns="0" tIns="0" rIns="0" bIns="0" rtlCol="0" anchor="ctr"/>
          <a:lstStyle/>
          <a:p>
            <a:pPr indent="0" marL="0">
              <a:buNone/>
            </a:pPr>
            <a:r>
              <a:rPr lang="en-US" sz="1300" b="1" spc="200" kern="0" dirty="0">
                <a:solidFill>
                  <a:srgbClr val="C7A052"/>
                </a:solidFill>
                <a:latin typeface="Caladea" pitchFamily="34" charset="0"/>
                <a:ea typeface="Caladea" pitchFamily="34" charset="-122"/>
                <a:cs typeface="Caladea" pitchFamily="34" charset="-120"/>
              </a:rPr>
              <a:t>THE SERVICES</a:t>
            </a:r>
            <a:endParaRPr lang="en-US" sz="13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D2C54"/>
                </a:solidFill>
                <a:latin typeface="Caladea" pitchFamily="34" charset="0"/>
                <a:ea typeface="Caladea" pitchFamily="34" charset="-122"/>
                <a:cs typeface="Caladea" pitchFamily="34" charset="-120"/>
              </a:rPr>
              <a:t>Who is responsible for what</a:t>
            </a:r>
            <a:endParaRPr lang="en-US" sz="3000" dirty="0"/>
          </a:p>
        </p:txBody>
      </p:sp>
      <p:sp>
        <p:nvSpPr>
          <p:cNvPr id="4" name="Shape 2"/>
          <p:cNvSpPr/>
          <p:nvPr/>
        </p:nvSpPr>
        <p:spPr>
          <a:xfrm>
            <a:off x="640080" y="1600200"/>
            <a:ext cx="10881360" cy="868680"/>
          </a:xfrm>
          <a:prstGeom prst="rect">
            <a:avLst/>
          </a:prstGeom>
          <a:solidFill>
            <a:srgbClr val="FFFFFF"/>
          </a:solidFill>
          <a:ln w="6350">
            <a:solidFill>
              <a:srgbClr val="E3E7EC"/>
            </a:solidFill>
            <a:prstDash val="solid"/>
          </a:ln>
        </p:spPr>
      </p:sp>
      <p:sp>
        <p:nvSpPr>
          <p:cNvPr id="5" name="Text 3"/>
          <p:cNvSpPr/>
          <p:nvPr/>
        </p:nvSpPr>
        <p:spPr>
          <a:xfrm>
            <a:off x="777240" y="1600200"/>
            <a:ext cx="1828800" cy="868680"/>
          </a:xfrm>
          <a:prstGeom prst="rect">
            <a:avLst/>
          </a:prstGeom>
          <a:noFill/>
          <a:ln/>
        </p:spPr>
        <p:txBody>
          <a:bodyPr wrap="square" lIns="0" tIns="0" rIns="0" bIns="0" rtlCol="0" anchor="ctr"/>
          <a:lstStyle/>
          <a:p>
            <a:pPr indent="0" marL="0">
              <a:buNone/>
            </a:pPr>
            <a:r>
              <a:rPr lang="en-US" sz="1150" b="1" dirty="0">
                <a:solidFill>
                  <a:srgbClr val="0D2C54"/>
                </a:solidFill>
                <a:latin typeface="DejaVu Sans Mono" pitchFamily="34" charset="0"/>
                <a:ea typeface="DejaVu Sans Mono" pitchFamily="34" charset="-122"/>
                <a:cs typeface="DejaVu Sans Mono" pitchFamily="34" charset="-120"/>
              </a:rPr>
              <a:t>portal</a:t>
            </a:r>
            <a:endParaRPr lang="en-US" sz="1150" dirty="0"/>
          </a:p>
        </p:txBody>
      </p:sp>
      <p:sp>
        <p:nvSpPr>
          <p:cNvPr id="6" name="Text 4"/>
          <p:cNvSpPr/>
          <p:nvPr/>
        </p:nvSpPr>
        <p:spPr>
          <a:xfrm>
            <a:off x="2606040" y="1600200"/>
            <a:ext cx="731520" cy="868680"/>
          </a:xfrm>
          <a:prstGeom prst="rect">
            <a:avLst/>
          </a:prstGeom>
          <a:noFill/>
          <a:ln/>
        </p:spPr>
        <p:txBody>
          <a:bodyPr wrap="square" lIns="0" tIns="0" rIns="0" bIns="0" rtlCol="0" anchor="ctr"/>
          <a:lstStyle/>
          <a:p>
            <a:pPr indent="0" marL="0">
              <a:buNone/>
            </a:pPr>
            <a:r>
              <a:rPr lang="en-US" sz="1050" dirty="0">
                <a:solidFill>
                  <a:srgbClr val="C7A052"/>
                </a:solidFill>
                <a:latin typeface="DejaVu Sans Mono" pitchFamily="34" charset="0"/>
                <a:ea typeface="DejaVu Sans Mono" pitchFamily="34" charset="-122"/>
                <a:cs typeface="DejaVu Sans Mono" pitchFamily="34" charset="-120"/>
              </a:rPr>
              <a:t>:3000</a:t>
            </a:r>
            <a:endParaRPr lang="en-US" sz="1050" dirty="0"/>
          </a:p>
        </p:txBody>
      </p:sp>
      <p:sp>
        <p:nvSpPr>
          <p:cNvPr id="7" name="Text 5"/>
          <p:cNvSpPr/>
          <p:nvPr/>
        </p:nvSpPr>
        <p:spPr>
          <a:xfrm>
            <a:off x="3337560" y="1600200"/>
            <a:ext cx="1188720" cy="868680"/>
          </a:xfrm>
          <a:prstGeom prst="rect">
            <a:avLst/>
          </a:prstGeom>
          <a:noFill/>
          <a:ln/>
        </p:spPr>
        <p:txBody>
          <a:bodyPr wrap="square" lIns="0" tIns="0" rIns="0" bIns="0" rtlCol="0" anchor="ctr"/>
          <a:lstStyle/>
          <a:p>
            <a:pPr indent="0" marL="0">
              <a:buNone/>
            </a:pPr>
            <a:r>
              <a:rPr lang="en-US" sz="1050" dirty="0">
                <a:solidFill>
                  <a:srgbClr val="666666"/>
                </a:solidFill>
                <a:latin typeface="Caladea" pitchFamily="34" charset="0"/>
                <a:ea typeface="Caladea" pitchFamily="34" charset="-122"/>
                <a:cs typeface="Caladea" pitchFamily="34" charset="-120"/>
              </a:rPr>
              <a:t>Node/Express</a:t>
            </a:r>
            <a:endParaRPr lang="en-US" sz="1050" dirty="0"/>
          </a:p>
        </p:txBody>
      </p:sp>
      <p:sp>
        <p:nvSpPr>
          <p:cNvPr id="8" name="Text 6"/>
          <p:cNvSpPr/>
          <p:nvPr/>
        </p:nvSpPr>
        <p:spPr>
          <a:xfrm>
            <a:off x="4572000" y="1600200"/>
            <a:ext cx="6766560" cy="868680"/>
          </a:xfrm>
          <a:prstGeom prst="rect">
            <a:avLst/>
          </a:prstGeom>
          <a:noFill/>
          <a:ln/>
        </p:spPr>
        <p:txBody>
          <a:bodyPr wrap="square" lIns="0" tIns="0" rIns="0" bIns="0" rtlCol="0" anchor="ctr"/>
          <a:lstStyle/>
          <a:p>
            <a:pPr indent="0" marL="0">
              <a:buNone/>
            </a:pPr>
            <a:r>
              <a:rPr lang="en-US" sz="1200" dirty="0">
                <a:solidFill>
                  <a:srgbClr val="333333"/>
                </a:solidFill>
                <a:latin typeface="Caladea" pitchFamily="34" charset="0"/>
                <a:ea typeface="Caladea" pitchFamily="34" charset="-122"/>
                <a:cs typeface="Caladea" pitchFamily="34" charset="-120"/>
              </a:rPr>
              <a:t>Submit a payment, view payments and accounts. Holds no data of its own — it calls the other three.</a:t>
            </a:r>
            <a:endParaRPr lang="en-US" sz="1200" dirty="0"/>
          </a:p>
        </p:txBody>
      </p:sp>
      <p:sp>
        <p:nvSpPr>
          <p:cNvPr id="9" name="Shape 7"/>
          <p:cNvSpPr/>
          <p:nvPr/>
        </p:nvSpPr>
        <p:spPr>
          <a:xfrm>
            <a:off x="640080" y="2468880"/>
            <a:ext cx="10881360" cy="868680"/>
          </a:xfrm>
          <a:prstGeom prst="rect">
            <a:avLst/>
          </a:prstGeom>
          <a:solidFill>
            <a:srgbClr val="F5F7FA"/>
          </a:solidFill>
          <a:ln w="6350">
            <a:solidFill>
              <a:srgbClr val="E3E7EC"/>
            </a:solidFill>
            <a:prstDash val="solid"/>
          </a:ln>
        </p:spPr>
      </p:sp>
      <p:sp>
        <p:nvSpPr>
          <p:cNvPr id="10" name="Text 8"/>
          <p:cNvSpPr/>
          <p:nvPr/>
        </p:nvSpPr>
        <p:spPr>
          <a:xfrm>
            <a:off x="777240" y="2468880"/>
            <a:ext cx="1828800" cy="868680"/>
          </a:xfrm>
          <a:prstGeom prst="rect">
            <a:avLst/>
          </a:prstGeom>
          <a:noFill/>
          <a:ln/>
        </p:spPr>
        <p:txBody>
          <a:bodyPr wrap="square" lIns="0" tIns="0" rIns="0" bIns="0" rtlCol="0" anchor="ctr"/>
          <a:lstStyle/>
          <a:p>
            <a:pPr indent="0" marL="0">
              <a:buNone/>
            </a:pPr>
            <a:r>
              <a:rPr lang="en-US" sz="1150" b="1" dirty="0">
                <a:solidFill>
                  <a:srgbClr val="0D2C54"/>
                </a:solidFill>
                <a:latin typeface="DejaVu Sans Mono" pitchFamily="34" charset="0"/>
                <a:ea typeface="DejaVu Sans Mono" pitchFamily="34" charset="-122"/>
                <a:cs typeface="DejaVu Sans Mono" pitchFamily="34" charset="-120"/>
              </a:rPr>
              <a:t>mandate-svc</a:t>
            </a:r>
            <a:endParaRPr lang="en-US" sz="1150" dirty="0"/>
          </a:p>
        </p:txBody>
      </p:sp>
      <p:sp>
        <p:nvSpPr>
          <p:cNvPr id="11" name="Text 9"/>
          <p:cNvSpPr/>
          <p:nvPr/>
        </p:nvSpPr>
        <p:spPr>
          <a:xfrm>
            <a:off x="2606040" y="2468880"/>
            <a:ext cx="731520" cy="868680"/>
          </a:xfrm>
          <a:prstGeom prst="rect">
            <a:avLst/>
          </a:prstGeom>
          <a:noFill/>
          <a:ln/>
        </p:spPr>
        <p:txBody>
          <a:bodyPr wrap="square" lIns="0" tIns="0" rIns="0" bIns="0" rtlCol="0" anchor="ctr"/>
          <a:lstStyle/>
          <a:p>
            <a:pPr indent="0" marL="0">
              <a:buNone/>
            </a:pPr>
            <a:r>
              <a:rPr lang="en-US" sz="1050" dirty="0">
                <a:solidFill>
                  <a:srgbClr val="C7A052"/>
                </a:solidFill>
                <a:latin typeface="DejaVu Sans Mono" pitchFamily="34" charset="0"/>
                <a:ea typeface="DejaVu Sans Mono" pitchFamily="34" charset="-122"/>
                <a:cs typeface="DejaVu Sans Mono" pitchFamily="34" charset="-120"/>
              </a:rPr>
              <a:t>:3001</a:t>
            </a:r>
            <a:endParaRPr lang="en-US" sz="1050" dirty="0"/>
          </a:p>
        </p:txBody>
      </p:sp>
      <p:sp>
        <p:nvSpPr>
          <p:cNvPr id="12" name="Text 10"/>
          <p:cNvSpPr/>
          <p:nvPr/>
        </p:nvSpPr>
        <p:spPr>
          <a:xfrm>
            <a:off x="3337560" y="2468880"/>
            <a:ext cx="1188720" cy="868680"/>
          </a:xfrm>
          <a:prstGeom prst="rect">
            <a:avLst/>
          </a:prstGeom>
          <a:noFill/>
          <a:ln/>
        </p:spPr>
        <p:txBody>
          <a:bodyPr wrap="square" lIns="0" tIns="0" rIns="0" bIns="0" rtlCol="0" anchor="ctr"/>
          <a:lstStyle/>
          <a:p>
            <a:pPr indent="0" marL="0">
              <a:buNone/>
            </a:pPr>
            <a:r>
              <a:rPr lang="en-US" sz="1050" dirty="0">
                <a:solidFill>
                  <a:srgbClr val="666666"/>
                </a:solidFill>
                <a:latin typeface="Caladea" pitchFamily="34" charset="0"/>
                <a:ea typeface="Caladea" pitchFamily="34" charset="-122"/>
                <a:cs typeface="Caladea" pitchFamily="34" charset="-120"/>
              </a:rPr>
              <a:t>FastAPI</a:t>
            </a:r>
            <a:endParaRPr lang="en-US" sz="1050" dirty="0"/>
          </a:p>
        </p:txBody>
      </p:sp>
      <p:sp>
        <p:nvSpPr>
          <p:cNvPr id="13" name="Text 11"/>
          <p:cNvSpPr/>
          <p:nvPr/>
        </p:nvSpPr>
        <p:spPr>
          <a:xfrm>
            <a:off x="4572000" y="2468880"/>
            <a:ext cx="6766560" cy="868680"/>
          </a:xfrm>
          <a:prstGeom prst="rect">
            <a:avLst/>
          </a:prstGeom>
          <a:noFill/>
          <a:ln/>
        </p:spPr>
        <p:txBody>
          <a:bodyPr wrap="square" lIns="0" tIns="0" rIns="0" bIns="0" rtlCol="0" anchor="ctr"/>
          <a:lstStyle/>
          <a:p>
            <a:pPr indent="0" marL="0">
              <a:buNone/>
            </a:pPr>
            <a:r>
              <a:rPr lang="en-US" sz="1200" dirty="0">
                <a:solidFill>
                  <a:srgbClr val="333333"/>
                </a:solidFill>
                <a:latin typeface="Caladea" pitchFamily="34" charset="0"/>
                <a:ea typeface="Caladea" pitchFamily="34" charset="-122"/>
                <a:cs typeface="Caladea" pitchFamily="34" charset="-120"/>
              </a:rPr>
              <a:t>Standing payment permissions and their caps. Read-heavy and rarely changing, so lookups are cached in Redis.</a:t>
            </a:r>
            <a:endParaRPr lang="en-US" sz="1200" dirty="0"/>
          </a:p>
        </p:txBody>
      </p:sp>
      <p:sp>
        <p:nvSpPr>
          <p:cNvPr id="14" name="Shape 12"/>
          <p:cNvSpPr/>
          <p:nvPr/>
        </p:nvSpPr>
        <p:spPr>
          <a:xfrm>
            <a:off x="640080" y="3337560"/>
            <a:ext cx="10881360" cy="868680"/>
          </a:xfrm>
          <a:prstGeom prst="rect">
            <a:avLst/>
          </a:prstGeom>
          <a:solidFill>
            <a:srgbClr val="FFFFFF"/>
          </a:solidFill>
          <a:ln w="6350">
            <a:solidFill>
              <a:srgbClr val="E3E7EC"/>
            </a:solidFill>
            <a:prstDash val="solid"/>
          </a:ln>
        </p:spPr>
      </p:sp>
      <p:sp>
        <p:nvSpPr>
          <p:cNvPr id="15" name="Text 13"/>
          <p:cNvSpPr/>
          <p:nvPr/>
        </p:nvSpPr>
        <p:spPr>
          <a:xfrm>
            <a:off x="777240" y="3337560"/>
            <a:ext cx="1828800" cy="868680"/>
          </a:xfrm>
          <a:prstGeom prst="rect">
            <a:avLst/>
          </a:prstGeom>
          <a:noFill/>
          <a:ln/>
        </p:spPr>
        <p:txBody>
          <a:bodyPr wrap="square" lIns="0" tIns="0" rIns="0" bIns="0" rtlCol="0" anchor="ctr"/>
          <a:lstStyle/>
          <a:p>
            <a:pPr indent="0" marL="0">
              <a:buNone/>
            </a:pPr>
            <a:r>
              <a:rPr lang="en-US" sz="1150" b="1" dirty="0">
                <a:solidFill>
                  <a:srgbClr val="0D2C54"/>
                </a:solidFill>
                <a:latin typeface="DejaVu Sans Mono" pitchFamily="34" charset="0"/>
                <a:ea typeface="DejaVu Sans Mono" pitchFamily="34" charset="-122"/>
                <a:cs typeface="DejaVu Sans Mono" pitchFamily="34" charset="-120"/>
              </a:rPr>
              <a:t>payment-svc</a:t>
            </a:r>
            <a:endParaRPr lang="en-US" sz="1150" dirty="0"/>
          </a:p>
        </p:txBody>
      </p:sp>
      <p:sp>
        <p:nvSpPr>
          <p:cNvPr id="16" name="Text 14"/>
          <p:cNvSpPr/>
          <p:nvPr/>
        </p:nvSpPr>
        <p:spPr>
          <a:xfrm>
            <a:off x="2606040" y="3337560"/>
            <a:ext cx="731520" cy="868680"/>
          </a:xfrm>
          <a:prstGeom prst="rect">
            <a:avLst/>
          </a:prstGeom>
          <a:noFill/>
          <a:ln/>
        </p:spPr>
        <p:txBody>
          <a:bodyPr wrap="square" lIns="0" tIns="0" rIns="0" bIns="0" rtlCol="0" anchor="ctr"/>
          <a:lstStyle/>
          <a:p>
            <a:pPr indent="0" marL="0">
              <a:buNone/>
            </a:pPr>
            <a:r>
              <a:rPr lang="en-US" sz="1050" dirty="0">
                <a:solidFill>
                  <a:srgbClr val="C7A052"/>
                </a:solidFill>
                <a:latin typeface="DejaVu Sans Mono" pitchFamily="34" charset="0"/>
                <a:ea typeface="DejaVu Sans Mono" pitchFamily="34" charset="-122"/>
                <a:cs typeface="DejaVu Sans Mono" pitchFamily="34" charset="-120"/>
              </a:rPr>
              <a:t>:3002</a:t>
            </a:r>
            <a:endParaRPr lang="en-US" sz="1050" dirty="0"/>
          </a:p>
        </p:txBody>
      </p:sp>
      <p:sp>
        <p:nvSpPr>
          <p:cNvPr id="17" name="Text 15"/>
          <p:cNvSpPr/>
          <p:nvPr/>
        </p:nvSpPr>
        <p:spPr>
          <a:xfrm>
            <a:off x="3337560" y="3337560"/>
            <a:ext cx="1188720" cy="868680"/>
          </a:xfrm>
          <a:prstGeom prst="rect">
            <a:avLst/>
          </a:prstGeom>
          <a:noFill/>
          <a:ln/>
        </p:spPr>
        <p:txBody>
          <a:bodyPr wrap="square" lIns="0" tIns="0" rIns="0" bIns="0" rtlCol="0" anchor="ctr"/>
          <a:lstStyle/>
          <a:p>
            <a:pPr indent="0" marL="0">
              <a:buNone/>
            </a:pPr>
            <a:r>
              <a:rPr lang="en-US" sz="1050" dirty="0">
                <a:solidFill>
                  <a:srgbClr val="666666"/>
                </a:solidFill>
                <a:latin typeface="Caladea" pitchFamily="34" charset="0"/>
                <a:ea typeface="Caladea" pitchFamily="34" charset="-122"/>
                <a:cs typeface="Caladea" pitchFamily="34" charset="-120"/>
              </a:rPr>
              <a:t>FastAPI</a:t>
            </a:r>
            <a:endParaRPr lang="en-US" sz="1050" dirty="0"/>
          </a:p>
        </p:txBody>
      </p:sp>
      <p:sp>
        <p:nvSpPr>
          <p:cNvPr id="18" name="Text 16"/>
          <p:cNvSpPr/>
          <p:nvPr/>
        </p:nvSpPr>
        <p:spPr>
          <a:xfrm>
            <a:off x="4572000" y="3337560"/>
            <a:ext cx="6766560" cy="868680"/>
          </a:xfrm>
          <a:prstGeom prst="rect">
            <a:avLst/>
          </a:prstGeom>
          <a:noFill/>
          <a:ln/>
        </p:spPr>
        <p:txBody>
          <a:bodyPr wrap="square" lIns="0" tIns="0" rIns="0" bIns="0" rtlCol="0" anchor="ctr"/>
          <a:lstStyle/>
          <a:p>
            <a:pPr indent="0" marL="0">
              <a:buNone/>
            </a:pPr>
            <a:r>
              <a:rPr lang="en-US" sz="1200" dirty="0">
                <a:solidFill>
                  <a:srgbClr val="333333"/>
                </a:solidFill>
                <a:latin typeface="Caladea" pitchFamily="34" charset="0"/>
                <a:ea typeface="Caladea" pitchFamily="34" charset="-122"/>
                <a:cs typeface="Caladea" pitchFamily="34" charset="-120"/>
              </a:rPr>
              <a:t>Accept an instruction, validate it against the mandate, persist it, queue it for settlement. Returns before money moves.</a:t>
            </a:r>
            <a:endParaRPr lang="en-US" sz="1200" dirty="0"/>
          </a:p>
        </p:txBody>
      </p:sp>
      <p:sp>
        <p:nvSpPr>
          <p:cNvPr id="19" name="Shape 17"/>
          <p:cNvSpPr/>
          <p:nvPr/>
        </p:nvSpPr>
        <p:spPr>
          <a:xfrm>
            <a:off x="640080" y="4206240"/>
            <a:ext cx="10881360" cy="868680"/>
          </a:xfrm>
          <a:prstGeom prst="rect">
            <a:avLst/>
          </a:prstGeom>
          <a:solidFill>
            <a:srgbClr val="F5F7FA"/>
          </a:solidFill>
          <a:ln w="6350">
            <a:solidFill>
              <a:srgbClr val="E3E7EC"/>
            </a:solidFill>
            <a:prstDash val="solid"/>
          </a:ln>
        </p:spPr>
      </p:sp>
      <p:sp>
        <p:nvSpPr>
          <p:cNvPr id="20" name="Text 18"/>
          <p:cNvSpPr/>
          <p:nvPr/>
        </p:nvSpPr>
        <p:spPr>
          <a:xfrm>
            <a:off x="777240" y="4206240"/>
            <a:ext cx="1828800" cy="868680"/>
          </a:xfrm>
          <a:prstGeom prst="rect">
            <a:avLst/>
          </a:prstGeom>
          <a:noFill/>
          <a:ln/>
        </p:spPr>
        <p:txBody>
          <a:bodyPr wrap="square" lIns="0" tIns="0" rIns="0" bIns="0" rtlCol="0" anchor="ctr"/>
          <a:lstStyle/>
          <a:p>
            <a:pPr indent="0" marL="0">
              <a:buNone/>
            </a:pPr>
            <a:r>
              <a:rPr lang="en-US" sz="1150" b="1" dirty="0">
                <a:solidFill>
                  <a:srgbClr val="0D2C54"/>
                </a:solidFill>
                <a:latin typeface="DejaVu Sans Mono" pitchFamily="34" charset="0"/>
                <a:ea typeface="DejaVu Sans Mono" pitchFamily="34" charset="-122"/>
                <a:cs typeface="DejaVu Sans Mono" pitchFamily="34" charset="-120"/>
              </a:rPr>
              <a:t>ledger-svc</a:t>
            </a:r>
            <a:endParaRPr lang="en-US" sz="1150" dirty="0"/>
          </a:p>
        </p:txBody>
      </p:sp>
      <p:sp>
        <p:nvSpPr>
          <p:cNvPr id="21" name="Text 19"/>
          <p:cNvSpPr/>
          <p:nvPr/>
        </p:nvSpPr>
        <p:spPr>
          <a:xfrm>
            <a:off x="2606040" y="4206240"/>
            <a:ext cx="731520" cy="868680"/>
          </a:xfrm>
          <a:prstGeom prst="rect">
            <a:avLst/>
          </a:prstGeom>
          <a:noFill/>
          <a:ln/>
        </p:spPr>
        <p:txBody>
          <a:bodyPr wrap="square" lIns="0" tIns="0" rIns="0" bIns="0" rtlCol="0" anchor="ctr"/>
          <a:lstStyle/>
          <a:p>
            <a:pPr indent="0" marL="0">
              <a:buNone/>
            </a:pPr>
            <a:r>
              <a:rPr lang="en-US" sz="1050" dirty="0">
                <a:solidFill>
                  <a:srgbClr val="C7A052"/>
                </a:solidFill>
                <a:latin typeface="DejaVu Sans Mono" pitchFamily="34" charset="0"/>
                <a:ea typeface="DejaVu Sans Mono" pitchFamily="34" charset="-122"/>
                <a:cs typeface="DejaVu Sans Mono" pitchFamily="34" charset="-120"/>
              </a:rPr>
              <a:t>:3003</a:t>
            </a:r>
            <a:endParaRPr lang="en-US" sz="1050" dirty="0"/>
          </a:p>
        </p:txBody>
      </p:sp>
      <p:sp>
        <p:nvSpPr>
          <p:cNvPr id="22" name="Text 20"/>
          <p:cNvSpPr/>
          <p:nvPr/>
        </p:nvSpPr>
        <p:spPr>
          <a:xfrm>
            <a:off x="3337560" y="4206240"/>
            <a:ext cx="1188720" cy="868680"/>
          </a:xfrm>
          <a:prstGeom prst="rect">
            <a:avLst/>
          </a:prstGeom>
          <a:noFill/>
          <a:ln/>
        </p:spPr>
        <p:txBody>
          <a:bodyPr wrap="square" lIns="0" tIns="0" rIns="0" bIns="0" rtlCol="0" anchor="ctr"/>
          <a:lstStyle/>
          <a:p>
            <a:pPr indent="0" marL="0">
              <a:buNone/>
            </a:pPr>
            <a:r>
              <a:rPr lang="en-US" sz="1050" dirty="0">
                <a:solidFill>
                  <a:srgbClr val="666666"/>
                </a:solidFill>
                <a:latin typeface="Caladea" pitchFamily="34" charset="0"/>
                <a:ea typeface="Caladea" pitchFamily="34" charset="-122"/>
                <a:cs typeface="Caladea" pitchFamily="34" charset="-120"/>
              </a:rPr>
              <a:t>FastAPI</a:t>
            </a:r>
            <a:endParaRPr lang="en-US" sz="1050" dirty="0"/>
          </a:p>
        </p:txBody>
      </p:sp>
      <p:sp>
        <p:nvSpPr>
          <p:cNvPr id="23" name="Text 21"/>
          <p:cNvSpPr/>
          <p:nvPr/>
        </p:nvSpPr>
        <p:spPr>
          <a:xfrm>
            <a:off x="4572000" y="4206240"/>
            <a:ext cx="6766560" cy="868680"/>
          </a:xfrm>
          <a:prstGeom prst="rect">
            <a:avLst/>
          </a:prstGeom>
          <a:noFill/>
          <a:ln/>
        </p:spPr>
        <p:txBody>
          <a:bodyPr wrap="square" lIns="0" tIns="0" rIns="0" bIns="0" rtlCol="0" anchor="ctr"/>
          <a:lstStyle/>
          <a:p>
            <a:pPr indent="0" marL="0">
              <a:buNone/>
            </a:pPr>
            <a:r>
              <a:rPr lang="en-US" sz="1200" dirty="0">
                <a:solidFill>
                  <a:srgbClr val="333333"/>
                </a:solidFill>
                <a:latin typeface="Caladea" pitchFamily="34" charset="0"/>
                <a:ea typeface="Caladea" pitchFamily="34" charset="-122"/>
                <a:cs typeface="Caladea" pitchFamily="34" charset="-120"/>
              </a:rPr>
              <a:t>Accounts, balances, the double-entry ledger, and the reconciliation check.</a:t>
            </a:r>
            <a:endParaRPr lang="en-US" sz="1200" dirty="0"/>
          </a:p>
        </p:txBody>
      </p:sp>
      <p:sp>
        <p:nvSpPr>
          <p:cNvPr id="24" name="Shape 22"/>
          <p:cNvSpPr/>
          <p:nvPr/>
        </p:nvSpPr>
        <p:spPr>
          <a:xfrm>
            <a:off x="640080" y="5074920"/>
            <a:ext cx="10881360" cy="868680"/>
          </a:xfrm>
          <a:prstGeom prst="rect">
            <a:avLst/>
          </a:prstGeom>
          <a:solidFill>
            <a:srgbClr val="FFFFFF"/>
          </a:solidFill>
          <a:ln w="6350">
            <a:solidFill>
              <a:srgbClr val="E3E7EC"/>
            </a:solidFill>
            <a:prstDash val="solid"/>
          </a:ln>
        </p:spPr>
      </p:sp>
      <p:sp>
        <p:nvSpPr>
          <p:cNvPr id="25" name="Text 23"/>
          <p:cNvSpPr/>
          <p:nvPr/>
        </p:nvSpPr>
        <p:spPr>
          <a:xfrm>
            <a:off x="777240" y="5074920"/>
            <a:ext cx="1828800" cy="868680"/>
          </a:xfrm>
          <a:prstGeom prst="rect">
            <a:avLst/>
          </a:prstGeom>
          <a:noFill/>
          <a:ln/>
        </p:spPr>
        <p:txBody>
          <a:bodyPr wrap="square" lIns="0" tIns="0" rIns="0" bIns="0" rtlCol="0" anchor="ctr"/>
          <a:lstStyle/>
          <a:p>
            <a:pPr indent="0" marL="0">
              <a:buNone/>
            </a:pPr>
            <a:r>
              <a:rPr lang="en-US" sz="1150" b="1" dirty="0">
                <a:solidFill>
                  <a:srgbClr val="0D2C54"/>
                </a:solidFill>
                <a:latin typeface="DejaVu Sans Mono" pitchFamily="34" charset="0"/>
                <a:ea typeface="DejaVu Sans Mono" pitchFamily="34" charset="-122"/>
                <a:cs typeface="DejaVu Sans Mono" pitchFamily="34" charset="-120"/>
              </a:rPr>
              <a:t>settlement-worker</a:t>
            </a:r>
            <a:endParaRPr lang="en-US" sz="1150" dirty="0"/>
          </a:p>
        </p:txBody>
      </p:sp>
      <p:sp>
        <p:nvSpPr>
          <p:cNvPr id="26" name="Text 24"/>
          <p:cNvSpPr/>
          <p:nvPr/>
        </p:nvSpPr>
        <p:spPr>
          <a:xfrm>
            <a:off x="2606040" y="5074920"/>
            <a:ext cx="731520" cy="868680"/>
          </a:xfrm>
          <a:prstGeom prst="rect">
            <a:avLst/>
          </a:prstGeom>
          <a:noFill/>
          <a:ln/>
        </p:spPr>
        <p:txBody>
          <a:bodyPr wrap="square" lIns="0" tIns="0" rIns="0" bIns="0" rtlCol="0" anchor="ctr"/>
          <a:lstStyle/>
          <a:p>
            <a:pPr indent="0" marL="0">
              <a:buNone/>
            </a:pPr>
            <a:r>
              <a:rPr lang="en-US" sz="1050" dirty="0">
                <a:solidFill>
                  <a:srgbClr val="C7A052"/>
                </a:solidFill>
                <a:latin typeface="DejaVu Sans Mono" pitchFamily="34" charset="0"/>
                <a:ea typeface="DejaVu Sans Mono" pitchFamily="34" charset="-122"/>
                <a:cs typeface="DejaVu Sans Mono" pitchFamily="34" charset="-120"/>
              </a:rPr>
              <a:t>—</a:t>
            </a:r>
            <a:endParaRPr lang="en-US" sz="1050" dirty="0"/>
          </a:p>
        </p:txBody>
      </p:sp>
      <p:sp>
        <p:nvSpPr>
          <p:cNvPr id="27" name="Text 25"/>
          <p:cNvSpPr/>
          <p:nvPr/>
        </p:nvSpPr>
        <p:spPr>
          <a:xfrm>
            <a:off x="3337560" y="5074920"/>
            <a:ext cx="1188720" cy="868680"/>
          </a:xfrm>
          <a:prstGeom prst="rect">
            <a:avLst/>
          </a:prstGeom>
          <a:noFill/>
          <a:ln/>
        </p:spPr>
        <p:txBody>
          <a:bodyPr wrap="square" lIns="0" tIns="0" rIns="0" bIns="0" rtlCol="0" anchor="ctr"/>
          <a:lstStyle/>
          <a:p>
            <a:pPr indent="0" marL="0">
              <a:buNone/>
            </a:pPr>
            <a:r>
              <a:rPr lang="en-US" sz="1050" dirty="0">
                <a:solidFill>
                  <a:srgbClr val="666666"/>
                </a:solidFill>
                <a:latin typeface="Caladea" pitchFamily="34" charset="0"/>
                <a:ea typeface="Caladea" pitchFamily="34" charset="-122"/>
                <a:cs typeface="Caladea" pitchFamily="34" charset="-120"/>
              </a:rPr>
              <a:t>Python</a:t>
            </a:r>
            <a:endParaRPr lang="en-US" sz="1050" dirty="0"/>
          </a:p>
        </p:txBody>
      </p:sp>
      <p:sp>
        <p:nvSpPr>
          <p:cNvPr id="28" name="Text 26"/>
          <p:cNvSpPr/>
          <p:nvPr/>
        </p:nvSpPr>
        <p:spPr>
          <a:xfrm>
            <a:off x="4572000" y="5074920"/>
            <a:ext cx="6766560" cy="868680"/>
          </a:xfrm>
          <a:prstGeom prst="rect">
            <a:avLst/>
          </a:prstGeom>
          <a:noFill/>
          <a:ln/>
        </p:spPr>
        <p:txBody>
          <a:bodyPr wrap="square" lIns="0" tIns="0" rIns="0" bIns="0" rtlCol="0" anchor="ctr"/>
          <a:lstStyle/>
          <a:p>
            <a:pPr indent="0" marL="0">
              <a:buNone/>
            </a:pPr>
            <a:r>
              <a:rPr lang="en-US" sz="1200" dirty="0">
                <a:solidFill>
                  <a:srgbClr val="333333"/>
                </a:solidFill>
                <a:latin typeface="Caladea" pitchFamily="34" charset="0"/>
                <a:ea typeface="Caladea" pitchFamily="34" charset="-122"/>
                <a:cs typeface="Caladea" pitchFamily="34" charset="-120"/>
              </a:rPr>
              <a:t>Consumes the queue: moves the money, writes the ledger pair, marks the payment settled. Not a server — nothing connects to it.</a:t>
            </a:r>
            <a:endParaRPr lang="en-US" sz="1200" dirty="0"/>
          </a:p>
        </p:txBody>
      </p:sp>
      <p:sp>
        <p:nvSpPr>
          <p:cNvPr id="29" name="Shape 27"/>
          <p:cNvSpPr/>
          <p:nvPr/>
        </p:nvSpPr>
        <p:spPr>
          <a:xfrm>
            <a:off x="640080" y="6080760"/>
            <a:ext cx="10881360" cy="548640"/>
          </a:xfrm>
          <a:prstGeom prst="roundRect">
            <a:avLst>
              <a:gd name="adj" fmla="val 13333"/>
            </a:avLst>
          </a:prstGeom>
          <a:solidFill>
            <a:srgbClr val="EEF1F5"/>
          </a:solidFill>
          <a:ln w="12700">
            <a:solidFill>
              <a:srgbClr val="0D2C54"/>
            </a:solidFill>
            <a:prstDash val="solid"/>
          </a:ln>
        </p:spPr>
      </p:sp>
      <p:sp>
        <p:nvSpPr>
          <p:cNvPr id="30" name="Text 28"/>
          <p:cNvSpPr/>
          <p:nvPr/>
        </p:nvSpPr>
        <p:spPr>
          <a:xfrm>
            <a:off x="804672" y="6190488"/>
            <a:ext cx="10552176" cy="329184"/>
          </a:xfrm>
          <a:prstGeom prst="rect">
            <a:avLst/>
          </a:prstGeom>
          <a:noFill/>
          <a:ln/>
        </p:spPr>
        <p:txBody>
          <a:bodyPr wrap="square" lIns="0" tIns="0" rIns="0" bIns="0" rtlCol="0" anchor="t"/>
          <a:lstStyle/>
          <a:p>
            <a:pPr indent="0" marL="0">
              <a:buNone/>
            </a:pPr>
            <a:endParaRPr lang="en-US" sz="1200" dirty="0"/>
          </a:p>
          <a:p>
            <a:pPr indent="0" marL="0">
              <a:buNone/>
            </a:pPr>
            <a:r>
              <a:rPr lang="en-US" sz="1250" dirty="0">
                <a:solidFill>
                  <a:srgbClr val="333333"/>
                </a:solidFill>
                <a:latin typeface="Caladea" pitchFamily="34" charset="0"/>
                <a:ea typeface="Caladea" pitchFamily="34" charset="-122"/>
                <a:cs typeface="Caladea" pitchFamily="34" charset="-120"/>
              </a:rPr>
              <a:t>Every service exposes /health and /metrics, and logs structured JSON. Nothing needs instrumenting — it needs collecting.</a:t>
            </a:r>
            <a:endParaRPr lang="en-US" sz="1200" dirty="0"/>
          </a:p>
        </p:txBody>
      </p:sp>
      <p:sp>
        <p:nvSpPr>
          <p:cNvPr id="31" name="Text 29"/>
          <p:cNvSpPr/>
          <p:nvPr/>
        </p:nvSpPr>
        <p:spPr>
          <a:xfrm>
            <a:off x="11155680" y="6446520"/>
            <a:ext cx="914400" cy="320040"/>
          </a:xfrm>
          <a:prstGeom prst="rect">
            <a:avLst/>
          </a:prstGeom>
          <a:noFill/>
          <a:ln/>
        </p:spPr>
        <p:txBody>
          <a:bodyPr wrap="square" lIns="0" tIns="0" rIns="0" bIns="0" rtlCol="0" anchor="ctr"/>
          <a:lstStyle/>
          <a:p>
            <a:pPr algn="r" indent="0" marL="0">
              <a:buNone/>
            </a:pPr>
            <a:r>
              <a:rPr lang="en-US" sz="1000" dirty="0">
                <a:solidFill>
                  <a:srgbClr val="666666"/>
                </a:solidFill>
                <a:latin typeface="Caladea" pitchFamily="34" charset="0"/>
                <a:ea typeface="Caladea" pitchFamily="34" charset="-122"/>
                <a:cs typeface="Caladea" pitchFamily="34" charset="-120"/>
              </a:rPr>
              <a:t>3 / 15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47472"/>
            <a:ext cx="10881360" cy="320040"/>
          </a:xfrm>
          <a:prstGeom prst="rect">
            <a:avLst/>
          </a:prstGeom>
          <a:noFill/>
          <a:ln/>
        </p:spPr>
        <p:txBody>
          <a:bodyPr wrap="square" lIns="0" tIns="0" rIns="0" bIns="0" rtlCol="0" anchor="ctr"/>
          <a:lstStyle/>
          <a:p>
            <a:pPr indent="0" marL="0">
              <a:buNone/>
            </a:pPr>
            <a:r>
              <a:rPr lang="en-US" sz="1300" b="1" spc="200" kern="0" dirty="0">
                <a:solidFill>
                  <a:srgbClr val="C7A052"/>
                </a:solidFill>
                <a:latin typeface="Caladea" pitchFamily="34" charset="0"/>
                <a:ea typeface="Caladea" pitchFamily="34" charset="-122"/>
                <a:cs typeface="Caladea" pitchFamily="34" charset="-120"/>
              </a:rPr>
              <a:t>FLOW 1 · THE SYNCHRONOUS PATH</a:t>
            </a:r>
            <a:endParaRPr lang="en-US" sz="13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D2C54"/>
                </a:solidFill>
                <a:latin typeface="Caladea" pitchFamily="34" charset="0"/>
                <a:ea typeface="Caladea" pitchFamily="34" charset="-122"/>
                <a:cs typeface="Caladea" pitchFamily="34" charset="-120"/>
              </a:rPr>
              <a:t>Accepting a payment: milliseconds, no money moved</a:t>
            </a:r>
            <a:endParaRPr lang="en-US" sz="3000" dirty="0"/>
          </a:p>
        </p:txBody>
      </p:sp>
      <p:sp>
        <p:nvSpPr>
          <p:cNvPr id="4" name="Shape 2"/>
          <p:cNvSpPr/>
          <p:nvPr/>
        </p:nvSpPr>
        <p:spPr>
          <a:xfrm>
            <a:off x="731520" y="1572768"/>
            <a:ext cx="402336" cy="402336"/>
          </a:xfrm>
          <a:prstGeom prst="ellipse">
            <a:avLst/>
          </a:prstGeom>
          <a:solidFill>
            <a:srgbClr val="0D2C54"/>
          </a:solidFill>
          <a:ln/>
        </p:spPr>
      </p:sp>
      <p:sp>
        <p:nvSpPr>
          <p:cNvPr id="5" name="Text 3"/>
          <p:cNvSpPr/>
          <p:nvPr/>
        </p:nvSpPr>
        <p:spPr>
          <a:xfrm>
            <a:off x="73152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adea" pitchFamily="34" charset="0"/>
                <a:ea typeface="Caladea" pitchFamily="34" charset="-122"/>
                <a:cs typeface="Caladea" pitchFamily="34" charset="-120"/>
              </a:rPr>
              <a:t>1</a:t>
            </a:r>
            <a:endParaRPr lang="en-US" sz="1300" dirty="0"/>
          </a:p>
        </p:txBody>
      </p:sp>
      <p:sp>
        <p:nvSpPr>
          <p:cNvPr id="6" name="Text 4"/>
          <p:cNvSpPr/>
          <p:nvPr/>
        </p:nvSpPr>
        <p:spPr>
          <a:xfrm>
            <a:off x="1325880" y="1554480"/>
            <a:ext cx="10058400" cy="457200"/>
          </a:xfrm>
          <a:prstGeom prst="rect">
            <a:avLst/>
          </a:prstGeom>
          <a:noFill/>
          <a:ln/>
        </p:spPr>
        <p:txBody>
          <a:bodyPr wrap="square" lIns="0" tIns="0" rIns="0" bIns="0" rtlCol="0" anchor="ctr"/>
          <a:lstStyle/>
          <a:p>
            <a:pPr indent="0" marL="0">
              <a:buNone/>
            </a:pPr>
            <a:r>
              <a:rPr lang="en-US" sz="1450" b="1" dirty="0">
                <a:solidFill>
                  <a:srgbClr val="0D2C54"/>
                </a:solidFill>
                <a:latin typeface="Caladea" pitchFamily="34" charset="0"/>
                <a:ea typeface="Caladea" pitchFamily="34" charset="-122"/>
                <a:cs typeface="Caladea" pitchFamily="34" charset="-120"/>
              </a:rPr>
              <a:t>Browser posts to portal   </a:t>
            </a:r>
            <a:pPr indent="0" marL="0">
              <a:buNone/>
            </a:pPr>
            <a:r>
              <a:rPr lang="en-US" sz="1300" dirty="0">
                <a:solidFill>
                  <a:srgbClr val="666666"/>
                </a:solidFill>
                <a:latin typeface="Caladea" pitchFamily="34" charset="0"/>
                <a:ea typeface="Caladea" pitchFamily="34" charset="-122"/>
                <a:cs typeface="Caladea" pitchFamily="34" charset="-120"/>
              </a:rPr>
              <a:t>customer picks a mandate and an amount</a:t>
            </a:r>
            <a:endParaRPr lang="en-US" sz="1450" dirty="0"/>
          </a:p>
        </p:txBody>
      </p:sp>
      <p:sp>
        <p:nvSpPr>
          <p:cNvPr id="7" name="Shape 5"/>
          <p:cNvSpPr/>
          <p:nvPr/>
        </p:nvSpPr>
        <p:spPr>
          <a:xfrm>
            <a:off x="731520" y="2139696"/>
            <a:ext cx="402336" cy="402336"/>
          </a:xfrm>
          <a:prstGeom prst="ellipse">
            <a:avLst/>
          </a:prstGeom>
          <a:solidFill>
            <a:srgbClr val="0D2C54"/>
          </a:solidFill>
          <a:ln/>
        </p:spPr>
      </p:sp>
      <p:sp>
        <p:nvSpPr>
          <p:cNvPr id="8" name="Text 6"/>
          <p:cNvSpPr/>
          <p:nvPr/>
        </p:nvSpPr>
        <p:spPr>
          <a:xfrm>
            <a:off x="731520" y="213969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adea" pitchFamily="34" charset="0"/>
                <a:ea typeface="Caladea" pitchFamily="34" charset="-122"/>
                <a:cs typeface="Caladea" pitchFamily="34" charset="-120"/>
              </a:rPr>
              <a:t>2</a:t>
            </a:r>
            <a:endParaRPr lang="en-US" sz="1300" dirty="0"/>
          </a:p>
        </p:txBody>
      </p:sp>
      <p:sp>
        <p:nvSpPr>
          <p:cNvPr id="9" name="Text 7"/>
          <p:cNvSpPr/>
          <p:nvPr/>
        </p:nvSpPr>
        <p:spPr>
          <a:xfrm>
            <a:off x="1325880" y="2121408"/>
            <a:ext cx="10058400" cy="457200"/>
          </a:xfrm>
          <a:prstGeom prst="rect">
            <a:avLst/>
          </a:prstGeom>
          <a:noFill/>
          <a:ln/>
        </p:spPr>
        <p:txBody>
          <a:bodyPr wrap="square" lIns="0" tIns="0" rIns="0" bIns="0" rtlCol="0" anchor="ctr"/>
          <a:lstStyle/>
          <a:p>
            <a:pPr indent="0" marL="0">
              <a:buNone/>
            </a:pPr>
            <a:r>
              <a:rPr lang="en-US" sz="1450" b="1" dirty="0">
                <a:solidFill>
                  <a:srgbClr val="0D2C54"/>
                </a:solidFill>
                <a:latin typeface="Caladea" pitchFamily="34" charset="0"/>
                <a:ea typeface="Caladea" pitchFamily="34" charset="-122"/>
                <a:cs typeface="Caladea" pitchFamily="34" charset="-120"/>
              </a:rPr>
              <a:t>portal calls payment-svc   </a:t>
            </a:r>
            <a:pPr indent="0" marL="0">
              <a:buNone/>
            </a:pPr>
            <a:r>
              <a:rPr lang="en-US" sz="1300" dirty="0">
                <a:solidFill>
                  <a:srgbClr val="666666"/>
                </a:solidFill>
                <a:latin typeface="Caladea" pitchFamily="34" charset="0"/>
                <a:ea typeface="Caladea" pitchFamily="34" charset="-122"/>
                <a:cs typeface="Caladea" pitchFamily="34" charset="-120"/>
              </a:rPr>
              <a:t>one HTTP call, service to service</a:t>
            </a:r>
            <a:endParaRPr lang="en-US" sz="1450" dirty="0"/>
          </a:p>
        </p:txBody>
      </p:sp>
      <p:sp>
        <p:nvSpPr>
          <p:cNvPr id="10" name="Shape 8"/>
          <p:cNvSpPr/>
          <p:nvPr/>
        </p:nvSpPr>
        <p:spPr>
          <a:xfrm>
            <a:off x="731520" y="2706624"/>
            <a:ext cx="402336" cy="402336"/>
          </a:xfrm>
          <a:prstGeom prst="ellipse">
            <a:avLst/>
          </a:prstGeom>
          <a:solidFill>
            <a:srgbClr val="0D2C54"/>
          </a:solidFill>
          <a:ln/>
        </p:spPr>
      </p:sp>
      <p:sp>
        <p:nvSpPr>
          <p:cNvPr id="11" name="Text 9"/>
          <p:cNvSpPr/>
          <p:nvPr/>
        </p:nvSpPr>
        <p:spPr>
          <a:xfrm>
            <a:off x="731520" y="27066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adea" pitchFamily="34" charset="0"/>
                <a:ea typeface="Caladea" pitchFamily="34" charset="-122"/>
                <a:cs typeface="Caladea" pitchFamily="34" charset="-120"/>
              </a:rPr>
              <a:t>3</a:t>
            </a:r>
            <a:endParaRPr lang="en-US" sz="1300" dirty="0"/>
          </a:p>
        </p:txBody>
      </p:sp>
      <p:sp>
        <p:nvSpPr>
          <p:cNvPr id="12" name="Text 10"/>
          <p:cNvSpPr/>
          <p:nvPr/>
        </p:nvSpPr>
        <p:spPr>
          <a:xfrm>
            <a:off x="1325880" y="2688336"/>
            <a:ext cx="10058400" cy="457200"/>
          </a:xfrm>
          <a:prstGeom prst="rect">
            <a:avLst/>
          </a:prstGeom>
          <a:noFill/>
          <a:ln/>
        </p:spPr>
        <p:txBody>
          <a:bodyPr wrap="square" lIns="0" tIns="0" rIns="0" bIns="0" rtlCol="0" anchor="ctr"/>
          <a:lstStyle/>
          <a:p>
            <a:pPr indent="0" marL="0">
              <a:buNone/>
            </a:pPr>
            <a:r>
              <a:rPr lang="en-US" sz="1450" b="1" dirty="0">
                <a:solidFill>
                  <a:srgbClr val="0D2C54"/>
                </a:solidFill>
                <a:latin typeface="Caladea" pitchFamily="34" charset="0"/>
                <a:ea typeface="Caladea" pitchFamily="34" charset="-122"/>
                <a:cs typeface="Caladea" pitchFamily="34" charset="-120"/>
              </a:rPr>
              <a:t>payment-svc calls mandate-svc   </a:t>
            </a:r>
            <a:pPr indent="0" marL="0">
              <a:buNone/>
            </a:pPr>
            <a:r>
              <a:rPr lang="en-US" sz="1300" dirty="0">
                <a:solidFill>
                  <a:srgbClr val="666666"/>
                </a:solidFill>
                <a:latin typeface="Caladea" pitchFamily="34" charset="0"/>
                <a:ea typeface="Caladea" pitchFamily="34" charset="-122"/>
                <a:cs typeface="Caladea" pitchFamily="34" charset="-120"/>
              </a:rPr>
              <a:t>is the mandate real, active, and is the amount within its cap?</a:t>
            </a:r>
            <a:endParaRPr lang="en-US" sz="1450" dirty="0"/>
          </a:p>
        </p:txBody>
      </p:sp>
      <p:sp>
        <p:nvSpPr>
          <p:cNvPr id="13" name="Shape 11"/>
          <p:cNvSpPr/>
          <p:nvPr/>
        </p:nvSpPr>
        <p:spPr>
          <a:xfrm>
            <a:off x="731520" y="3273552"/>
            <a:ext cx="402336" cy="402336"/>
          </a:xfrm>
          <a:prstGeom prst="ellipse">
            <a:avLst/>
          </a:prstGeom>
          <a:solidFill>
            <a:srgbClr val="0D2C54"/>
          </a:solidFill>
          <a:ln/>
        </p:spPr>
      </p:sp>
      <p:sp>
        <p:nvSpPr>
          <p:cNvPr id="14" name="Text 12"/>
          <p:cNvSpPr/>
          <p:nvPr/>
        </p:nvSpPr>
        <p:spPr>
          <a:xfrm>
            <a:off x="731520" y="32735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adea" pitchFamily="34" charset="0"/>
                <a:ea typeface="Caladea" pitchFamily="34" charset="-122"/>
                <a:cs typeface="Caladea" pitchFamily="34" charset="-120"/>
              </a:rPr>
              <a:t>4</a:t>
            </a:r>
            <a:endParaRPr lang="en-US" sz="1300" dirty="0"/>
          </a:p>
        </p:txBody>
      </p:sp>
      <p:sp>
        <p:nvSpPr>
          <p:cNvPr id="15" name="Text 13"/>
          <p:cNvSpPr/>
          <p:nvPr/>
        </p:nvSpPr>
        <p:spPr>
          <a:xfrm>
            <a:off x="1325880" y="3255264"/>
            <a:ext cx="10058400" cy="457200"/>
          </a:xfrm>
          <a:prstGeom prst="rect">
            <a:avLst/>
          </a:prstGeom>
          <a:noFill/>
          <a:ln/>
        </p:spPr>
        <p:txBody>
          <a:bodyPr wrap="square" lIns="0" tIns="0" rIns="0" bIns="0" rtlCol="0" anchor="ctr"/>
          <a:lstStyle/>
          <a:p>
            <a:pPr indent="0" marL="0">
              <a:buNone/>
            </a:pPr>
            <a:r>
              <a:rPr lang="en-US" sz="1450" b="1" dirty="0">
                <a:solidFill>
                  <a:srgbClr val="0D2C54"/>
                </a:solidFill>
                <a:latin typeface="Caladea" pitchFamily="34" charset="0"/>
                <a:ea typeface="Caladea" pitchFamily="34" charset="-122"/>
                <a:cs typeface="Caladea" pitchFamily="34" charset="-120"/>
              </a:rPr>
              <a:t>Payment row written to Postgres   </a:t>
            </a:r>
            <a:pPr indent="0" marL="0">
              <a:buNone/>
            </a:pPr>
            <a:r>
              <a:rPr lang="en-US" sz="1300" dirty="0">
                <a:solidFill>
                  <a:srgbClr val="666666"/>
                </a:solidFill>
                <a:latin typeface="Caladea" pitchFamily="34" charset="0"/>
                <a:ea typeface="Caladea" pitchFamily="34" charset="-122"/>
                <a:cs typeface="Caladea" pitchFamily="34" charset="-120"/>
              </a:rPr>
              <a:t>status ACCEPTED — the instruction now exists</a:t>
            </a:r>
            <a:endParaRPr lang="en-US" sz="1450" dirty="0"/>
          </a:p>
        </p:txBody>
      </p:sp>
      <p:sp>
        <p:nvSpPr>
          <p:cNvPr id="16" name="Shape 14"/>
          <p:cNvSpPr/>
          <p:nvPr/>
        </p:nvSpPr>
        <p:spPr>
          <a:xfrm>
            <a:off x="731520" y="3840480"/>
            <a:ext cx="402336" cy="402336"/>
          </a:xfrm>
          <a:prstGeom prst="ellipse">
            <a:avLst/>
          </a:prstGeom>
          <a:solidFill>
            <a:srgbClr val="0D2C54"/>
          </a:solidFill>
          <a:ln/>
        </p:spPr>
      </p:sp>
      <p:sp>
        <p:nvSpPr>
          <p:cNvPr id="17" name="Text 15"/>
          <p:cNvSpPr/>
          <p:nvPr/>
        </p:nvSpPr>
        <p:spPr>
          <a:xfrm>
            <a:off x="731520" y="3840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adea" pitchFamily="34" charset="0"/>
                <a:ea typeface="Caladea" pitchFamily="34" charset="-122"/>
                <a:cs typeface="Caladea" pitchFamily="34" charset="-120"/>
              </a:rPr>
              <a:t>5</a:t>
            </a:r>
            <a:endParaRPr lang="en-US" sz="1300" dirty="0"/>
          </a:p>
        </p:txBody>
      </p:sp>
      <p:sp>
        <p:nvSpPr>
          <p:cNvPr id="18" name="Text 16"/>
          <p:cNvSpPr/>
          <p:nvPr/>
        </p:nvSpPr>
        <p:spPr>
          <a:xfrm>
            <a:off x="1325880" y="3822192"/>
            <a:ext cx="10058400" cy="457200"/>
          </a:xfrm>
          <a:prstGeom prst="rect">
            <a:avLst/>
          </a:prstGeom>
          <a:noFill/>
          <a:ln/>
        </p:spPr>
        <p:txBody>
          <a:bodyPr wrap="square" lIns="0" tIns="0" rIns="0" bIns="0" rtlCol="0" anchor="ctr"/>
          <a:lstStyle/>
          <a:p>
            <a:pPr indent="0" marL="0">
              <a:buNone/>
            </a:pPr>
            <a:r>
              <a:rPr lang="en-US" sz="1450" b="1" dirty="0">
                <a:solidFill>
                  <a:srgbClr val="0D2C54"/>
                </a:solidFill>
                <a:latin typeface="Caladea" pitchFamily="34" charset="0"/>
                <a:ea typeface="Caladea" pitchFamily="34" charset="-122"/>
                <a:cs typeface="Caladea" pitchFamily="34" charset="-120"/>
              </a:rPr>
              <a:t>Audit row written   </a:t>
            </a:r>
            <a:pPr indent="0" marL="0">
              <a:buNone/>
            </a:pPr>
            <a:r>
              <a:rPr lang="en-US" sz="1300" dirty="0">
                <a:solidFill>
                  <a:srgbClr val="666666"/>
                </a:solidFill>
                <a:latin typeface="Caladea" pitchFamily="34" charset="0"/>
                <a:ea typeface="Caladea" pitchFamily="34" charset="-122"/>
                <a:cs typeface="Caladea" pitchFamily="34" charset="-120"/>
              </a:rPr>
              <a:t>append-only: who did what, when</a:t>
            </a:r>
            <a:endParaRPr lang="en-US" sz="1450" dirty="0"/>
          </a:p>
        </p:txBody>
      </p:sp>
      <p:sp>
        <p:nvSpPr>
          <p:cNvPr id="19" name="Shape 17"/>
          <p:cNvSpPr/>
          <p:nvPr/>
        </p:nvSpPr>
        <p:spPr>
          <a:xfrm>
            <a:off x="731520" y="4407408"/>
            <a:ext cx="402336" cy="402336"/>
          </a:xfrm>
          <a:prstGeom prst="ellipse">
            <a:avLst/>
          </a:prstGeom>
          <a:solidFill>
            <a:srgbClr val="0D2C54"/>
          </a:solidFill>
          <a:ln/>
        </p:spPr>
      </p:sp>
      <p:sp>
        <p:nvSpPr>
          <p:cNvPr id="20" name="Text 18"/>
          <p:cNvSpPr/>
          <p:nvPr/>
        </p:nvSpPr>
        <p:spPr>
          <a:xfrm>
            <a:off x="731520" y="44074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adea" pitchFamily="34" charset="0"/>
                <a:ea typeface="Caladea" pitchFamily="34" charset="-122"/>
                <a:cs typeface="Caladea" pitchFamily="34" charset="-120"/>
              </a:rPr>
              <a:t>6</a:t>
            </a:r>
            <a:endParaRPr lang="en-US" sz="1300" dirty="0"/>
          </a:p>
        </p:txBody>
      </p:sp>
      <p:sp>
        <p:nvSpPr>
          <p:cNvPr id="21" name="Text 19"/>
          <p:cNvSpPr/>
          <p:nvPr/>
        </p:nvSpPr>
        <p:spPr>
          <a:xfrm>
            <a:off x="1325880" y="4389120"/>
            <a:ext cx="10058400" cy="457200"/>
          </a:xfrm>
          <a:prstGeom prst="rect">
            <a:avLst/>
          </a:prstGeom>
          <a:noFill/>
          <a:ln/>
        </p:spPr>
        <p:txBody>
          <a:bodyPr wrap="square" lIns="0" tIns="0" rIns="0" bIns="0" rtlCol="0" anchor="ctr"/>
          <a:lstStyle/>
          <a:p>
            <a:pPr indent="0" marL="0">
              <a:buNone/>
            </a:pPr>
            <a:r>
              <a:rPr lang="en-US" sz="1450" b="1" dirty="0">
                <a:solidFill>
                  <a:srgbClr val="0D2C54"/>
                </a:solidFill>
                <a:latin typeface="Caladea" pitchFamily="34" charset="0"/>
                <a:ea typeface="Caladea" pitchFamily="34" charset="-122"/>
                <a:cs typeface="Caladea" pitchFamily="34" charset="-120"/>
              </a:rPr>
              <a:t>Job pushed to Redis   </a:t>
            </a:r>
            <a:pPr indent="0" marL="0">
              <a:buNone/>
            </a:pPr>
            <a:r>
              <a:rPr lang="en-US" sz="1300" dirty="0">
                <a:solidFill>
                  <a:srgbClr val="666666"/>
                </a:solidFill>
                <a:latin typeface="Caladea" pitchFamily="34" charset="0"/>
                <a:ea typeface="Caladea" pitchFamily="34" charset="-122"/>
                <a:cs typeface="Caladea" pitchFamily="34" charset="-120"/>
              </a:rPr>
              <a:t>queue:settlement — “someone should settle this”</a:t>
            </a:r>
            <a:endParaRPr lang="en-US" sz="1450" dirty="0"/>
          </a:p>
        </p:txBody>
      </p:sp>
      <p:sp>
        <p:nvSpPr>
          <p:cNvPr id="22" name="Shape 20"/>
          <p:cNvSpPr/>
          <p:nvPr/>
        </p:nvSpPr>
        <p:spPr>
          <a:xfrm>
            <a:off x="731520" y="4974336"/>
            <a:ext cx="402336" cy="402336"/>
          </a:xfrm>
          <a:prstGeom prst="ellipse">
            <a:avLst/>
          </a:prstGeom>
          <a:solidFill>
            <a:srgbClr val="0D2C54"/>
          </a:solidFill>
          <a:ln/>
        </p:spPr>
      </p:sp>
      <p:sp>
        <p:nvSpPr>
          <p:cNvPr id="23" name="Text 21"/>
          <p:cNvSpPr/>
          <p:nvPr/>
        </p:nvSpPr>
        <p:spPr>
          <a:xfrm>
            <a:off x="731520" y="497433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adea" pitchFamily="34" charset="0"/>
                <a:ea typeface="Caladea" pitchFamily="34" charset="-122"/>
                <a:cs typeface="Caladea" pitchFamily="34" charset="-120"/>
              </a:rPr>
              <a:t>7</a:t>
            </a:r>
            <a:endParaRPr lang="en-US" sz="1300" dirty="0"/>
          </a:p>
        </p:txBody>
      </p:sp>
      <p:sp>
        <p:nvSpPr>
          <p:cNvPr id="24" name="Text 22"/>
          <p:cNvSpPr/>
          <p:nvPr/>
        </p:nvSpPr>
        <p:spPr>
          <a:xfrm>
            <a:off x="1325880" y="4956048"/>
            <a:ext cx="10058400" cy="457200"/>
          </a:xfrm>
          <a:prstGeom prst="rect">
            <a:avLst/>
          </a:prstGeom>
          <a:noFill/>
          <a:ln/>
        </p:spPr>
        <p:txBody>
          <a:bodyPr wrap="square" lIns="0" tIns="0" rIns="0" bIns="0" rtlCol="0" anchor="ctr"/>
          <a:lstStyle/>
          <a:p>
            <a:pPr indent="0" marL="0">
              <a:buNone/>
            </a:pPr>
            <a:r>
              <a:rPr lang="en-US" sz="1450" b="1" dirty="0">
                <a:solidFill>
                  <a:srgbClr val="0D2C54"/>
                </a:solidFill>
                <a:latin typeface="Caladea" pitchFamily="34" charset="0"/>
                <a:ea typeface="Caladea" pitchFamily="34" charset="-122"/>
                <a:cs typeface="Caladea" pitchFamily="34" charset="-120"/>
              </a:rPr>
              <a:t>201 ACCEPTED returned   </a:t>
            </a:r>
            <a:pPr indent="0" marL="0">
              <a:buNone/>
            </a:pPr>
            <a:r>
              <a:rPr lang="en-US" sz="1300" dirty="0">
                <a:solidFill>
                  <a:srgbClr val="666666"/>
                </a:solidFill>
                <a:latin typeface="Caladea" pitchFamily="34" charset="0"/>
                <a:ea typeface="Caladea" pitchFamily="34" charset="-122"/>
                <a:cs typeface="Caladea" pitchFamily="34" charset="-120"/>
              </a:rPr>
              <a:t>the customer is done. No money has moved.</a:t>
            </a:r>
            <a:endParaRPr lang="en-US" sz="1450" dirty="0"/>
          </a:p>
        </p:txBody>
      </p:sp>
      <p:sp>
        <p:nvSpPr>
          <p:cNvPr id="25" name="Shape 23"/>
          <p:cNvSpPr/>
          <p:nvPr/>
        </p:nvSpPr>
        <p:spPr>
          <a:xfrm>
            <a:off x="640080" y="5623560"/>
            <a:ext cx="10881360" cy="868680"/>
          </a:xfrm>
          <a:prstGeom prst="roundRect">
            <a:avLst>
              <a:gd name="adj" fmla="val 8421"/>
            </a:avLst>
          </a:prstGeom>
          <a:solidFill>
            <a:srgbClr val="F4ECD8"/>
          </a:solidFill>
          <a:ln w="12700">
            <a:solidFill>
              <a:srgbClr val="C7A052"/>
            </a:solidFill>
            <a:prstDash val="solid"/>
          </a:ln>
        </p:spPr>
      </p:sp>
      <p:sp>
        <p:nvSpPr>
          <p:cNvPr id="26" name="Text 24"/>
          <p:cNvSpPr/>
          <p:nvPr/>
        </p:nvSpPr>
        <p:spPr>
          <a:xfrm>
            <a:off x="804672" y="5733288"/>
            <a:ext cx="10552176" cy="649224"/>
          </a:xfrm>
          <a:prstGeom prst="rect">
            <a:avLst/>
          </a:prstGeom>
          <a:noFill/>
          <a:ln/>
        </p:spPr>
        <p:txBody>
          <a:bodyPr wrap="square" lIns="0" tIns="0" rIns="0" bIns="0" rtlCol="0" anchor="t"/>
          <a:lstStyle/>
          <a:p>
            <a:pPr indent="0" marL="0">
              <a:buNone/>
            </a:pPr>
            <a:r>
              <a:rPr lang="en-US" sz="1200" b="1" dirty="0">
                <a:solidFill>
                  <a:srgbClr val="0D2C54"/>
                </a:solidFill>
                <a:latin typeface="Caladea" pitchFamily="34" charset="0"/>
                <a:ea typeface="Caladea" pitchFamily="34" charset="-122"/>
                <a:cs typeface="Caladea" pitchFamily="34" charset="-120"/>
              </a:rPr>
              <a:t>The point of this flow</a:t>
            </a:r>
            <a:endParaRPr lang="en-US" sz="1200" dirty="0"/>
          </a:p>
          <a:p>
            <a:pPr indent="0" marL="0">
              <a:buNone/>
            </a:pPr>
            <a:r>
              <a:rPr lang="en-US" sz="1250" dirty="0">
                <a:solidFill>
                  <a:srgbClr val="333333"/>
                </a:solidFill>
                <a:latin typeface="Caladea" pitchFamily="34" charset="0"/>
                <a:ea typeface="Caladea" pitchFamily="34" charset="-122"/>
                <a:cs typeface="Caladea" pitchFamily="34" charset="-120"/>
              </a:rPr>
              <a:t>Validation is synchronous because a bad instruction must be rejected while the customer is still there. Settlement is not, because moving money is slow and the customer should not wait for it. Everything interesting follows from that one decision.</a:t>
            </a:r>
            <a:endParaRPr lang="en-US" sz="1200" dirty="0"/>
          </a:p>
        </p:txBody>
      </p:sp>
      <p:sp>
        <p:nvSpPr>
          <p:cNvPr id="27" name="Text 25"/>
          <p:cNvSpPr/>
          <p:nvPr/>
        </p:nvSpPr>
        <p:spPr>
          <a:xfrm>
            <a:off x="11155680" y="6446520"/>
            <a:ext cx="914400" cy="320040"/>
          </a:xfrm>
          <a:prstGeom prst="rect">
            <a:avLst/>
          </a:prstGeom>
          <a:noFill/>
          <a:ln/>
        </p:spPr>
        <p:txBody>
          <a:bodyPr wrap="square" lIns="0" tIns="0" rIns="0" bIns="0" rtlCol="0" anchor="ctr"/>
          <a:lstStyle/>
          <a:p>
            <a:pPr algn="r" indent="0" marL="0">
              <a:buNone/>
            </a:pPr>
            <a:r>
              <a:rPr lang="en-US" sz="1000" dirty="0">
                <a:solidFill>
                  <a:srgbClr val="666666"/>
                </a:solidFill>
                <a:latin typeface="Caladea" pitchFamily="34" charset="0"/>
                <a:ea typeface="Caladea" pitchFamily="34" charset="-122"/>
                <a:cs typeface="Caladea" pitchFamily="34" charset="-120"/>
              </a:rPr>
              <a:t>4 / 15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47472"/>
            <a:ext cx="10881360" cy="320040"/>
          </a:xfrm>
          <a:prstGeom prst="rect">
            <a:avLst/>
          </a:prstGeom>
          <a:noFill/>
          <a:ln/>
        </p:spPr>
        <p:txBody>
          <a:bodyPr wrap="square" lIns="0" tIns="0" rIns="0" bIns="0" rtlCol="0" anchor="ctr"/>
          <a:lstStyle/>
          <a:p>
            <a:pPr indent="0" marL="0">
              <a:buNone/>
            </a:pPr>
            <a:r>
              <a:rPr lang="en-US" sz="1300" b="1" spc="200" kern="0" dirty="0">
                <a:solidFill>
                  <a:srgbClr val="C7A052"/>
                </a:solidFill>
                <a:latin typeface="Caladea" pitchFamily="34" charset="0"/>
                <a:ea typeface="Caladea" pitchFamily="34" charset="-122"/>
                <a:cs typeface="Caladea" pitchFamily="34" charset="-120"/>
              </a:rPr>
              <a:t>FLOW 2 · THE ASYNCHRONOUS PATH</a:t>
            </a:r>
            <a:endParaRPr lang="en-US" sz="13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D2C54"/>
                </a:solidFill>
                <a:latin typeface="Caladea" pitchFamily="34" charset="0"/>
                <a:ea typeface="Caladea" pitchFamily="34" charset="-122"/>
                <a:cs typeface="Caladea" pitchFamily="34" charset="-120"/>
              </a:rPr>
              <a:t>Settling a payment: this is where money actually moves</a:t>
            </a:r>
            <a:endParaRPr lang="en-US" sz="3000" dirty="0"/>
          </a:p>
        </p:txBody>
      </p:sp>
      <p:sp>
        <p:nvSpPr>
          <p:cNvPr id="4" name="Shape 2"/>
          <p:cNvSpPr/>
          <p:nvPr/>
        </p:nvSpPr>
        <p:spPr>
          <a:xfrm>
            <a:off x="640080" y="1600200"/>
            <a:ext cx="2103120" cy="777240"/>
          </a:xfrm>
          <a:prstGeom prst="roundRect">
            <a:avLst>
              <a:gd name="adj" fmla="val 7059"/>
            </a:avLst>
          </a:prstGeom>
          <a:solidFill>
            <a:srgbClr val="FFFFFF"/>
          </a:solidFill>
          <a:ln w="19050">
            <a:solidFill>
              <a:srgbClr val="0D2C54"/>
            </a:solidFill>
            <a:prstDash val="solid"/>
          </a:ln>
        </p:spPr>
      </p:sp>
      <p:sp>
        <p:nvSpPr>
          <p:cNvPr id="5" name="Text 3"/>
          <p:cNvSpPr/>
          <p:nvPr/>
        </p:nvSpPr>
        <p:spPr>
          <a:xfrm>
            <a:off x="640080" y="1600200"/>
            <a:ext cx="2103120" cy="777240"/>
          </a:xfrm>
          <a:prstGeom prst="rect">
            <a:avLst/>
          </a:prstGeom>
          <a:noFill/>
          <a:ln/>
        </p:spPr>
        <p:txBody>
          <a:bodyPr wrap="square" lIns="508" tIns="508" rIns="508" bIns="508" rtlCol="0" anchor="ctr"/>
          <a:lstStyle/>
          <a:p>
            <a:pPr algn="ctr" indent="0" marL="0">
              <a:buNone/>
            </a:pPr>
            <a:r>
              <a:rPr lang="en-US" sz="1150" b="1" dirty="0">
                <a:solidFill>
                  <a:srgbClr val="0D2C54"/>
                </a:solidFill>
                <a:latin typeface="DejaVu Sans Mono" pitchFamily="34" charset="0"/>
                <a:ea typeface="DejaVu Sans Mono" pitchFamily="34" charset="-122"/>
                <a:cs typeface="DejaVu Sans Mono" pitchFamily="34" charset="-120"/>
              </a:rPr>
              <a:t>payment-svc</a:t>
            </a:r>
            <a:endParaRPr lang="en-US" sz="1150" dirty="0"/>
          </a:p>
          <a:p>
            <a:pPr algn="ctr" indent="0" marL="0">
              <a:buNone/>
            </a:pPr>
            <a:r>
              <a:rPr lang="en-US" sz="1000" dirty="0">
                <a:solidFill>
                  <a:srgbClr val="666666"/>
                </a:solidFill>
                <a:latin typeface="Caladea" pitchFamily="34" charset="0"/>
                <a:ea typeface="Caladea" pitchFamily="34" charset="-122"/>
                <a:cs typeface="Caladea" pitchFamily="34" charset="-120"/>
              </a:rPr>
              <a:t>producer</a:t>
            </a:r>
            <a:endParaRPr lang="en-US" sz="1150" dirty="0"/>
          </a:p>
        </p:txBody>
      </p:sp>
      <p:sp>
        <p:nvSpPr>
          <p:cNvPr id="6" name="Shape 4"/>
          <p:cNvSpPr/>
          <p:nvPr/>
        </p:nvSpPr>
        <p:spPr>
          <a:xfrm>
            <a:off x="2743200" y="1984248"/>
            <a:ext cx="914400" cy="0"/>
          </a:xfrm>
          <a:prstGeom prst="line">
            <a:avLst/>
          </a:prstGeom>
          <a:noFill/>
          <a:ln w="28575">
            <a:solidFill>
              <a:srgbClr val="C7A052"/>
            </a:solidFill>
            <a:prstDash val="solid"/>
            <a:tailEnd type="triangle"/>
          </a:ln>
        </p:spPr>
      </p:sp>
      <p:sp>
        <p:nvSpPr>
          <p:cNvPr id="7" name="Shape 5"/>
          <p:cNvSpPr/>
          <p:nvPr/>
        </p:nvSpPr>
        <p:spPr>
          <a:xfrm>
            <a:off x="3657600" y="1600200"/>
            <a:ext cx="2743200" cy="777240"/>
          </a:xfrm>
          <a:prstGeom prst="roundRect">
            <a:avLst>
              <a:gd name="adj" fmla="val 7059"/>
            </a:avLst>
          </a:prstGeom>
          <a:solidFill>
            <a:srgbClr val="0D2C54"/>
          </a:solidFill>
          <a:ln w="19050">
            <a:solidFill>
              <a:srgbClr val="0D2C54"/>
            </a:solidFill>
            <a:prstDash val="solid"/>
          </a:ln>
        </p:spPr>
      </p:sp>
      <p:sp>
        <p:nvSpPr>
          <p:cNvPr id="8" name="Text 6"/>
          <p:cNvSpPr/>
          <p:nvPr/>
        </p:nvSpPr>
        <p:spPr>
          <a:xfrm>
            <a:off x="3657600" y="1600200"/>
            <a:ext cx="2743200" cy="777240"/>
          </a:xfrm>
          <a:prstGeom prst="rect">
            <a:avLst/>
          </a:prstGeom>
          <a:noFill/>
          <a:ln/>
        </p:spPr>
        <p:txBody>
          <a:bodyPr wrap="square" lIns="508" tIns="508" rIns="508" bIns="508" rtlCol="0" anchor="ctr"/>
          <a:lstStyle/>
          <a:p>
            <a:pPr algn="ctr" indent="0" marL="0">
              <a:buNone/>
            </a:pPr>
            <a:r>
              <a:rPr lang="en-US" sz="1150" b="1" dirty="0">
                <a:solidFill>
                  <a:srgbClr val="FFFFFF"/>
                </a:solidFill>
                <a:latin typeface="DejaVu Sans Mono" pitchFamily="34" charset="0"/>
                <a:ea typeface="DejaVu Sans Mono" pitchFamily="34" charset="-122"/>
                <a:cs typeface="DejaVu Sans Mono" pitchFamily="34" charset="-120"/>
              </a:rPr>
              <a:t>queue:settlement</a:t>
            </a:r>
            <a:endParaRPr lang="en-US" sz="1150" dirty="0"/>
          </a:p>
          <a:p>
            <a:pPr algn="ctr" indent="0" marL="0">
              <a:buNone/>
            </a:pPr>
            <a:r>
              <a:rPr lang="en-US" sz="1000" dirty="0">
                <a:solidFill>
                  <a:srgbClr val="C9D2E0"/>
                </a:solidFill>
                <a:latin typeface="Caladea" pitchFamily="34" charset="0"/>
                <a:ea typeface="Caladea" pitchFamily="34" charset="-122"/>
                <a:cs typeface="Caladea" pitchFamily="34" charset="-120"/>
              </a:rPr>
              <a:t>a Redis list</a:t>
            </a:r>
            <a:endParaRPr lang="en-US" sz="1150" dirty="0"/>
          </a:p>
        </p:txBody>
      </p:sp>
      <p:sp>
        <p:nvSpPr>
          <p:cNvPr id="9" name="Shape 7"/>
          <p:cNvSpPr/>
          <p:nvPr/>
        </p:nvSpPr>
        <p:spPr>
          <a:xfrm>
            <a:off x="6400800" y="1984248"/>
            <a:ext cx="914400" cy="0"/>
          </a:xfrm>
          <a:prstGeom prst="line">
            <a:avLst/>
          </a:prstGeom>
          <a:noFill/>
          <a:ln w="28575">
            <a:solidFill>
              <a:srgbClr val="C7A052"/>
            </a:solidFill>
            <a:prstDash val="solid"/>
            <a:tailEnd type="triangle"/>
          </a:ln>
        </p:spPr>
      </p:sp>
      <p:sp>
        <p:nvSpPr>
          <p:cNvPr id="10" name="Shape 8"/>
          <p:cNvSpPr/>
          <p:nvPr/>
        </p:nvSpPr>
        <p:spPr>
          <a:xfrm>
            <a:off x="7315200" y="1600200"/>
            <a:ext cx="2560320" cy="777240"/>
          </a:xfrm>
          <a:prstGeom prst="roundRect">
            <a:avLst>
              <a:gd name="adj" fmla="val 7059"/>
            </a:avLst>
          </a:prstGeom>
          <a:solidFill>
            <a:srgbClr val="FFFFFF"/>
          </a:solidFill>
          <a:ln w="19050">
            <a:solidFill>
              <a:srgbClr val="0D2C54"/>
            </a:solidFill>
            <a:prstDash val="solid"/>
          </a:ln>
        </p:spPr>
      </p:sp>
      <p:sp>
        <p:nvSpPr>
          <p:cNvPr id="11" name="Text 9"/>
          <p:cNvSpPr/>
          <p:nvPr/>
        </p:nvSpPr>
        <p:spPr>
          <a:xfrm>
            <a:off x="7315200" y="1600200"/>
            <a:ext cx="2560320" cy="777240"/>
          </a:xfrm>
          <a:prstGeom prst="rect">
            <a:avLst/>
          </a:prstGeom>
          <a:noFill/>
          <a:ln/>
        </p:spPr>
        <p:txBody>
          <a:bodyPr wrap="square" lIns="508" tIns="508" rIns="508" bIns="508" rtlCol="0" anchor="ctr"/>
          <a:lstStyle/>
          <a:p>
            <a:pPr algn="ctr" indent="0" marL="0">
              <a:buNone/>
            </a:pPr>
            <a:r>
              <a:rPr lang="en-US" sz="1150" b="1" dirty="0">
                <a:solidFill>
                  <a:srgbClr val="0D2C54"/>
                </a:solidFill>
                <a:latin typeface="DejaVu Sans Mono" pitchFamily="34" charset="0"/>
                <a:ea typeface="DejaVu Sans Mono" pitchFamily="34" charset="-122"/>
                <a:cs typeface="DejaVu Sans Mono" pitchFamily="34" charset="-120"/>
              </a:rPr>
              <a:t>settlement-worker</a:t>
            </a:r>
            <a:endParaRPr lang="en-US" sz="1150" dirty="0"/>
          </a:p>
          <a:p>
            <a:pPr algn="ctr" indent="0" marL="0">
              <a:buNone/>
            </a:pPr>
            <a:r>
              <a:rPr lang="en-US" sz="1000" dirty="0">
                <a:solidFill>
                  <a:srgbClr val="666666"/>
                </a:solidFill>
                <a:latin typeface="Caladea" pitchFamily="34" charset="0"/>
                <a:ea typeface="Caladea" pitchFamily="34" charset="-122"/>
                <a:cs typeface="Caladea" pitchFamily="34" charset="-120"/>
              </a:rPr>
              <a:t>consumer</a:t>
            </a:r>
            <a:endParaRPr lang="en-US" sz="1150" dirty="0"/>
          </a:p>
        </p:txBody>
      </p:sp>
      <p:sp>
        <p:nvSpPr>
          <p:cNvPr id="12" name="Text 10"/>
          <p:cNvSpPr/>
          <p:nvPr/>
        </p:nvSpPr>
        <p:spPr>
          <a:xfrm>
            <a:off x="2697480" y="1298448"/>
            <a:ext cx="1005840" cy="256032"/>
          </a:xfrm>
          <a:prstGeom prst="rect">
            <a:avLst/>
          </a:prstGeom>
          <a:noFill/>
          <a:ln/>
        </p:spPr>
        <p:txBody>
          <a:bodyPr wrap="square" lIns="0" tIns="0" rIns="0" bIns="0" rtlCol="0" anchor="ctr"/>
          <a:lstStyle/>
          <a:p>
            <a:pPr algn="ctr" indent="0" marL="0">
              <a:buNone/>
            </a:pPr>
            <a:r>
              <a:rPr lang="en-US" sz="900" dirty="0">
                <a:solidFill>
                  <a:srgbClr val="666666"/>
                </a:solidFill>
                <a:latin typeface="DejaVu Sans Mono" pitchFamily="34" charset="0"/>
                <a:ea typeface="DejaVu Sans Mono" pitchFamily="34" charset="-122"/>
                <a:cs typeface="DejaVu Sans Mono" pitchFamily="34" charset="-120"/>
              </a:rPr>
              <a:t>lpush</a:t>
            </a:r>
            <a:endParaRPr lang="en-US" sz="900" dirty="0"/>
          </a:p>
        </p:txBody>
      </p:sp>
      <p:sp>
        <p:nvSpPr>
          <p:cNvPr id="13" name="Text 11"/>
          <p:cNvSpPr/>
          <p:nvPr/>
        </p:nvSpPr>
        <p:spPr>
          <a:xfrm>
            <a:off x="6355080" y="1298448"/>
            <a:ext cx="1005840" cy="256032"/>
          </a:xfrm>
          <a:prstGeom prst="rect">
            <a:avLst/>
          </a:prstGeom>
          <a:noFill/>
          <a:ln/>
        </p:spPr>
        <p:txBody>
          <a:bodyPr wrap="square" lIns="0" tIns="0" rIns="0" bIns="0" rtlCol="0" anchor="ctr"/>
          <a:lstStyle/>
          <a:p>
            <a:pPr algn="ctr" indent="0" marL="0">
              <a:buNone/>
            </a:pPr>
            <a:r>
              <a:rPr lang="en-US" sz="900" dirty="0">
                <a:solidFill>
                  <a:srgbClr val="666666"/>
                </a:solidFill>
                <a:latin typeface="DejaVu Sans Mono" pitchFamily="34" charset="0"/>
                <a:ea typeface="DejaVu Sans Mono" pitchFamily="34" charset="-122"/>
                <a:cs typeface="DejaVu Sans Mono" pitchFamily="34" charset="-120"/>
              </a:rPr>
              <a:t>brpop</a:t>
            </a:r>
            <a:endParaRPr lang="en-US" sz="900" dirty="0"/>
          </a:p>
        </p:txBody>
      </p:sp>
      <p:sp>
        <p:nvSpPr>
          <p:cNvPr id="14" name="Shape 12"/>
          <p:cNvSpPr/>
          <p:nvPr/>
        </p:nvSpPr>
        <p:spPr>
          <a:xfrm>
            <a:off x="731520" y="2715768"/>
            <a:ext cx="365760" cy="365760"/>
          </a:xfrm>
          <a:prstGeom prst="ellipse">
            <a:avLst/>
          </a:prstGeom>
          <a:solidFill>
            <a:srgbClr val="C7A052"/>
          </a:solidFill>
          <a:ln/>
        </p:spPr>
      </p:sp>
      <p:sp>
        <p:nvSpPr>
          <p:cNvPr id="15" name="Text 13"/>
          <p:cNvSpPr/>
          <p:nvPr/>
        </p:nvSpPr>
        <p:spPr>
          <a:xfrm>
            <a:off x="731520" y="2715768"/>
            <a:ext cx="365760" cy="365760"/>
          </a:xfrm>
          <a:prstGeom prst="rect">
            <a:avLst/>
          </a:prstGeom>
          <a:noFill/>
          <a:ln/>
        </p:spPr>
        <p:txBody>
          <a:bodyPr wrap="square" lIns="0" tIns="0" rIns="0" bIns="0" rtlCol="0" anchor="ctr"/>
          <a:lstStyle/>
          <a:p>
            <a:pPr algn="ctr" indent="0" marL="0">
              <a:buNone/>
            </a:pPr>
            <a:r>
              <a:rPr lang="en-US" sz="1200" b="1" dirty="0">
                <a:solidFill>
                  <a:srgbClr val="0D2C54"/>
                </a:solidFill>
                <a:latin typeface="Caladea" pitchFamily="34" charset="0"/>
                <a:ea typeface="Caladea" pitchFamily="34" charset="-122"/>
                <a:cs typeface="Caladea" pitchFamily="34" charset="-120"/>
              </a:rPr>
              <a:t>1</a:t>
            </a:r>
            <a:endParaRPr lang="en-US" sz="1200" dirty="0"/>
          </a:p>
        </p:txBody>
      </p:sp>
      <p:sp>
        <p:nvSpPr>
          <p:cNvPr id="16" name="Text 14"/>
          <p:cNvSpPr/>
          <p:nvPr/>
        </p:nvSpPr>
        <p:spPr>
          <a:xfrm>
            <a:off x="1280160" y="2697480"/>
            <a:ext cx="10058400" cy="411480"/>
          </a:xfrm>
          <a:prstGeom prst="rect">
            <a:avLst/>
          </a:prstGeom>
          <a:noFill/>
          <a:ln/>
        </p:spPr>
        <p:txBody>
          <a:bodyPr wrap="square" lIns="0" tIns="0" rIns="0" bIns="0" rtlCol="0" anchor="ctr"/>
          <a:lstStyle/>
          <a:p>
            <a:pPr indent="0" marL="0">
              <a:buNone/>
            </a:pPr>
            <a:r>
              <a:rPr lang="en-US" sz="1350" b="1" dirty="0">
                <a:solidFill>
                  <a:srgbClr val="0D2C54"/>
                </a:solidFill>
                <a:latin typeface="Caladea" pitchFamily="34" charset="0"/>
                <a:ea typeface="Caladea" pitchFamily="34" charset="-122"/>
                <a:cs typeface="Caladea" pitchFamily="34" charset="-120"/>
              </a:rPr>
              <a:t>Worker pulls a job   </a:t>
            </a:r>
            <a:pPr indent="0" marL="0">
              <a:buNone/>
            </a:pPr>
            <a:r>
              <a:rPr lang="en-US" sz="1250" dirty="0">
                <a:solidFill>
                  <a:srgbClr val="666666"/>
                </a:solidFill>
                <a:latin typeface="Caladea" pitchFamily="34" charset="0"/>
                <a:ea typeface="Caladea" pitchFamily="34" charset="-122"/>
                <a:cs typeface="Caladea" pitchFamily="34" charset="-120"/>
              </a:rPr>
              <a:t>brpop blocks until there is work</a:t>
            </a:r>
            <a:endParaRPr lang="en-US" sz="1350" dirty="0"/>
          </a:p>
        </p:txBody>
      </p:sp>
      <p:sp>
        <p:nvSpPr>
          <p:cNvPr id="17" name="Shape 15"/>
          <p:cNvSpPr/>
          <p:nvPr/>
        </p:nvSpPr>
        <p:spPr>
          <a:xfrm>
            <a:off x="731520" y="3227832"/>
            <a:ext cx="365760" cy="365760"/>
          </a:xfrm>
          <a:prstGeom prst="ellipse">
            <a:avLst/>
          </a:prstGeom>
          <a:solidFill>
            <a:srgbClr val="C7A052"/>
          </a:solidFill>
          <a:ln/>
        </p:spPr>
      </p:sp>
      <p:sp>
        <p:nvSpPr>
          <p:cNvPr id="18" name="Text 16"/>
          <p:cNvSpPr/>
          <p:nvPr/>
        </p:nvSpPr>
        <p:spPr>
          <a:xfrm>
            <a:off x="731520" y="3227832"/>
            <a:ext cx="365760" cy="365760"/>
          </a:xfrm>
          <a:prstGeom prst="rect">
            <a:avLst/>
          </a:prstGeom>
          <a:noFill/>
          <a:ln/>
        </p:spPr>
        <p:txBody>
          <a:bodyPr wrap="square" lIns="0" tIns="0" rIns="0" bIns="0" rtlCol="0" anchor="ctr"/>
          <a:lstStyle/>
          <a:p>
            <a:pPr algn="ctr" indent="0" marL="0">
              <a:buNone/>
            </a:pPr>
            <a:r>
              <a:rPr lang="en-US" sz="1200" b="1" dirty="0">
                <a:solidFill>
                  <a:srgbClr val="0D2C54"/>
                </a:solidFill>
                <a:latin typeface="Caladea" pitchFamily="34" charset="0"/>
                <a:ea typeface="Caladea" pitchFamily="34" charset="-122"/>
                <a:cs typeface="Caladea" pitchFamily="34" charset="-120"/>
              </a:rPr>
              <a:t>2</a:t>
            </a:r>
            <a:endParaRPr lang="en-US" sz="1200" dirty="0"/>
          </a:p>
        </p:txBody>
      </p:sp>
      <p:sp>
        <p:nvSpPr>
          <p:cNvPr id="19" name="Text 17"/>
          <p:cNvSpPr/>
          <p:nvPr/>
        </p:nvSpPr>
        <p:spPr>
          <a:xfrm>
            <a:off x="1280160" y="3209544"/>
            <a:ext cx="10058400" cy="411480"/>
          </a:xfrm>
          <a:prstGeom prst="rect">
            <a:avLst/>
          </a:prstGeom>
          <a:noFill/>
          <a:ln/>
        </p:spPr>
        <p:txBody>
          <a:bodyPr wrap="square" lIns="0" tIns="0" rIns="0" bIns="0" rtlCol="0" anchor="ctr"/>
          <a:lstStyle/>
          <a:p>
            <a:pPr indent="0" marL="0">
              <a:buNone/>
            </a:pPr>
            <a:r>
              <a:rPr lang="en-US" sz="1350" b="1" dirty="0">
                <a:solidFill>
                  <a:srgbClr val="0D2C54"/>
                </a:solidFill>
                <a:latin typeface="Caladea" pitchFamily="34" charset="0"/>
                <a:ea typeface="Caladea" pitchFamily="34" charset="-122"/>
                <a:cs typeface="Caladea" pitchFamily="34" charset="-120"/>
              </a:rPr>
              <a:t>Reads the payment   </a:t>
            </a:r>
            <a:pPr indent="0" marL="0">
              <a:buNone/>
            </a:pPr>
            <a:r>
              <a:rPr lang="en-US" sz="1250" dirty="0">
                <a:solidFill>
                  <a:srgbClr val="666666"/>
                </a:solidFill>
                <a:latin typeface="Caladea" pitchFamily="34" charset="0"/>
                <a:ea typeface="Caladea" pitchFamily="34" charset="-122"/>
                <a:cs typeface="Caladea" pitchFamily="34" charset="-120"/>
              </a:rPr>
              <a:t>who pays whom, how much</a:t>
            </a:r>
            <a:endParaRPr lang="en-US" sz="1350" dirty="0"/>
          </a:p>
        </p:txBody>
      </p:sp>
      <p:sp>
        <p:nvSpPr>
          <p:cNvPr id="20" name="Shape 18"/>
          <p:cNvSpPr/>
          <p:nvPr/>
        </p:nvSpPr>
        <p:spPr>
          <a:xfrm>
            <a:off x="731520" y="3739896"/>
            <a:ext cx="365760" cy="365760"/>
          </a:xfrm>
          <a:prstGeom prst="ellipse">
            <a:avLst/>
          </a:prstGeom>
          <a:solidFill>
            <a:srgbClr val="C7A052"/>
          </a:solidFill>
          <a:ln/>
        </p:spPr>
      </p:sp>
      <p:sp>
        <p:nvSpPr>
          <p:cNvPr id="21" name="Text 19"/>
          <p:cNvSpPr/>
          <p:nvPr/>
        </p:nvSpPr>
        <p:spPr>
          <a:xfrm>
            <a:off x="731520" y="3739896"/>
            <a:ext cx="365760" cy="365760"/>
          </a:xfrm>
          <a:prstGeom prst="rect">
            <a:avLst/>
          </a:prstGeom>
          <a:noFill/>
          <a:ln/>
        </p:spPr>
        <p:txBody>
          <a:bodyPr wrap="square" lIns="0" tIns="0" rIns="0" bIns="0" rtlCol="0" anchor="ctr"/>
          <a:lstStyle/>
          <a:p>
            <a:pPr algn="ctr" indent="0" marL="0">
              <a:buNone/>
            </a:pPr>
            <a:r>
              <a:rPr lang="en-US" sz="1200" b="1" dirty="0">
                <a:solidFill>
                  <a:srgbClr val="0D2C54"/>
                </a:solidFill>
                <a:latin typeface="Caladea" pitchFamily="34" charset="0"/>
                <a:ea typeface="Caladea" pitchFamily="34" charset="-122"/>
                <a:cs typeface="Caladea" pitchFamily="34" charset="-120"/>
              </a:rPr>
              <a:t>3</a:t>
            </a:r>
            <a:endParaRPr lang="en-US" sz="1200" dirty="0"/>
          </a:p>
        </p:txBody>
      </p:sp>
      <p:sp>
        <p:nvSpPr>
          <p:cNvPr id="22" name="Text 20"/>
          <p:cNvSpPr/>
          <p:nvPr/>
        </p:nvSpPr>
        <p:spPr>
          <a:xfrm>
            <a:off x="1280160" y="3721608"/>
            <a:ext cx="10058400" cy="411480"/>
          </a:xfrm>
          <a:prstGeom prst="rect">
            <a:avLst/>
          </a:prstGeom>
          <a:noFill/>
          <a:ln/>
        </p:spPr>
        <p:txBody>
          <a:bodyPr wrap="square" lIns="0" tIns="0" rIns="0" bIns="0" rtlCol="0" anchor="ctr"/>
          <a:lstStyle/>
          <a:p>
            <a:pPr indent="0" marL="0">
              <a:buNone/>
            </a:pPr>
            <a:r>
              <a:rPr lang="en-US" sz="1350" b="1" dirty="0">
                <a:solidFill>
                  <a:srgbClr val="0D2C54"/>
                </a:solidFill>
                <a:latin typeface="Caladea" pitchFamily="34" charset="0"/>
                <a:ea typeface="Caladea" pitchFamily="34" charset="-122"/>
                <a:cs typeface="Caladea" pitchFamily="34" charset="-120"/>
              </a:rPr>
              <a:t>Checks the payer's balance   </a:t>
            </a:r>
            <a:pPr indent="0" marL="0">
              <a:buNone/>
            </a:pPr>
            <a:r>
              <a:rPr lang="en-US" sz="1250" dirty="0">
                <a:solidFill>
                  <a:srgbClr val="666666"/>
                </a:solidFill>
                <a:latin typeface="Caladea" pitchFamily="34" charset="0"/>
                <a:ea typeface="Caladea" pitchFamily="34" charset="-122"/>
                <a:cs typeface="Caladea" pitchFamily="34" charset="-120"/>
              </a:rPr>
              <a:t>not enough? status FAILED, and stop — the customer already got a 201</a:t>
            </a:r>
            <a:endParaRPr lang="en-US" sz="1350" dirty="0"/>
          </a:p>
        </p:txBody>
      </p:sp>
      <p:sp>
        <p:nvSpPr>
          <p:cNvPr id="23" name="Shape 21"/>
          <p:cNvSpPr/>
          <p:nvPr/>
        </p:nvSpPr>
        <p:spPr>
          <a:xfrm>
            <a:off x="731520" y="4251960"/>
            <a:ext cx="365760" cy="365760"/>
          </a:xfrm>
          <a:prstGeom prst="ellipse">
            <a:avLst/>
          </a:prstGeom>
          <a:solidFill>
            <a:srgbClr val="C7A052"/>
          </a:solidFill>
          <a:ln/>
        </p:spPr>
      </p:sp>
      <p:sp>
        <p:nvSpPr>
          <p:cNvPr id="24" name="Text 22"/>
          <p:cNvSpPr/>
          <p:nvPr/>
        </p:nvSpPr>
        <p:spPr>
          <a:xfrm>
            <a:off x="731520" y="4251960"/>
            <a:ext cx="365760" cy="365760"/>
          </a:xfrm>
          <a:prstGeom prst="rect">
            <a:avLst/>
          </a:prstGeom>
          <a:noFill/>
          <a:ln/>
        </p:spPr>
        <p:txBody>
          <a:bodyPr wrap="square" lIns="0" tIns="0" rIns="0" bIns="0" rtlCol="0" anchor="ctr"/>
          <a:lstStyle/>
          <a:p>
            <a:pPr algn="ctr" indent="0" marL="0">
              <a:buNone/>
            </a:pPr>
            <a:r>
              <a:rPr lang="en-US" sz="1200" b="1" dirty="0">
                <a:solidFill>
                  <a:srgbClr val="0D2C54"/>
                </a:solidFill>
                <a:latin typeface="Caladea" pitchFamily="34" charset="0"/>
                <a:ea typeface="Caladea" pitchFamily="34" charset="-122"/>
                <a:cs typeface="Caladea" pitchFamily="34" charset="-120"/>
              </a:rPr>
              <a:t>4</a:t>
            </a:r>
            <a:endParaRPr lang="en-US" sz="1200" dirty="0"/>
          </a:p>
        </p:txBody>
      </p:sp>
      <p:sp>
        <p:nvSpPr>
          <p:cNvPr id="25" name="Text 23"/>
          <p:cNvSpPr/>
          <p:nvPr/>
        </p:nvSpPr>
        <p:spPr>
          <a:xfrm>
            <a:off x="1280160" y="4233672"/>
            <a:ext cx="10058400" cy="411480"/>
          </a:xfrm>
          <a:prstGeom prst="rect">
            <a:avLst/>
          </a:prstGeom>
          <a:noFill/>
          <a:ln/>
        </p:spPr>
        <p:txBody>
          <a:bodyPr wrap="square" lIns="0" tIns="0" rIns="0" bIns="0" rtlCol="0" anchor="ctr"/>
          <a:lstStyle/>
          <a:p>
            <a:pPr indent="0" marL="0">
              <a:buNone/>
            </a:pPr>
            <a:r>
              <a:rPr lang="en-US" sz="1350" b="1" dirty="0">
                <a:solidFill>
                  <a:srgbClr val="0D2C54"/>
                </a:solidFill>
                <a:latin typeface="Caladea" pitchFamily="34" charset="0"/>
                <a:ea typeface="Caladea" pitchFamily="34" charset="-122"/>
                <a:cs typeface="Caladea" pitchFamily="34" charset="-120"/>
              </a:rPr>
              <a:t>Debits the payer, credits the payee   </a:t>
            </a:r>
            <a:pPr indent="0" marL="0">
              <a:buNone/>
            </a:pPr>
            <a:r>
              <a:rPr lang="en-US" sz="1250" dirty="0">
                <a:solidFill>
                  <a:srgbClr val="666666"/>
                </a:solidFill>
                <a:latin typeface="Caladea" pitchFamily="34" charset="0"/>
                <a:ea typeface="Caladea" pitchFamily="34" charset="-122"/>
                <a:cs typeface="Caladea" pitchFamily="34" charset="-120"/>
              </a:rPr>
              <a:t>two UPDATEs, one transaction</a:t>
            </a:r>
            <a:endParaRPr lang="en-US" sz="1350" dirty="0"/>
          </a:p>
        </p:txBody>
      </p:sp>
      <p:sp>
        <p:nvSpPr>
          <p:cNvPr id="26" name="Shape 24"/>
          <p:cNvSpPr/>
          <p:nvPr/>
        </p:nvSpPr>
        <p:spPr>
          <a:xfrm>
            <a:off x="731520" y="4764024"/>
            <a:ext cx="365760" cy="365760"/>
          </a:xfrm>
          <a:prstGeom prst="ellipse">
            <a:avLst/>
          </a:prstGeom>
          <a:solidFill>
            <a:srgbClr val="C7A052"/>
          </a:solidFill>
          <a:ln/>
        </p:spPr>
      </p:sp>
      <p:sp>
        <p:nvSpPr>
          <p:cNvPr id="27" name="Text 25"/>
          <p:cNvSpPr/>
          <p:nvPr/>
        </p:nvSpPr>
        <p:spPr>
          <a:xfrm>
            <a:off x="731520" y="4764024"/>
            <a:ext cx="365760" cy="365760"/>
          </a:xfrm>
          <a:prstGeom prst="rect">
            <a:avLst/>
          </a:prstGeom>
          <a:noFill/>
          <a:ln/>
        </p:spPr>
        <p:txBody>
          <a:bodyPr wrap="square" lIns="0" tIns="0" rIns="0" bIns="0" rtlCol="0" anchor="ctr"/>
          <a:lstStyle/>
          <a:p>
            <a:pPr algn="ctr" indent="0" marL="0">
              <a:buNone/>
            </a:pPr>
            <a:r>
              <a:rPr lang="en-US" sz="1200" b="1" dirty="0">
                <a:solidFill>
                  <a:srgbClr val="0D2C54"/>
                </a:solidFill>
                <a:latin typeface="Caladea" pitchFamily="34" charset="0"/>
                <a:ea typeface="Caladea" pitchFamily="34" charset="-122"/>
                <a:cs typeface="Caladea" pitchFamily="34" charset="-120"/>
              </a:rPr>
              <a:t>5</a:t>
            </a:r>
            <a:endParaRPr lang="en-US" sz="1200" dirty="0"/>
          </a:p>
        </p:txBody>
      </p:sp>
      <p:sp>
        <p:nvSpPr>
          <p:cNvPr id="28" name="Text 26"/>
          <p:cNvSpPr/>
          <p:nvPr/>
        </p:nvSpPr>
        <p:spPr>
          <a:xfrm>
            <a:off x="1280160" y="4745736"/>
            <a:ext cx="10058400" cy="411480"/>
          </a:xfrm>
          <a:prstGeom prst="rect">
            <a:avLst/>
          </a:prstGeom>
          <a:noFill/>
          <a:ln/>
        </p:spPr>
        <p:txBody>
          <a:bodyPr wrap="square" lIns="0" tIns="0" rIns="0" bIns="0" rtlCol="0" anchor="ctr"/>
          <a:lstStyle/>
          <a:p>
            <a:pPr indent="0" marL="0">
              <a:buNone/>
            </a:pPr>
            <a:r>
              <a:rPr lang="en-US" sz="1350" b="1" dirty="0">
                <a:solidFill>
                  <a:srgbClr val="0D2C54"/>
                </a:solidFill>
                <a:latin typeface="Caladea" pitchFamily="34" charset="0"/>
                <a:ea typeface="Caladea" pitchFamily="34" charset="-122"/>
                <a:cs typeface="Caladea" pitchFamily="34" charset="-120"/>
              </a:rPr>
              <a:t>Writes two ledger entries   </a:t>
            </a:r>
            <a:pPr indent="0" marL="0">
              <a:buNone/>
            </a:pPr>
            <a:r>
              <a:rPr lang="en-US" sz="1250" dirty="0">
                <a:solidFill>
                  <a:srgbClr val="666666"/>
                </a:solidFill>
                <a:latin typeface="Caladea" pitchFamily="34" charset="0"/>
                <a:ea typeface="Caladea" pitchFamily="34" charset="-122"/>
                <a:cs typeface="Caladea" pitchFamily="34" charset="-120"/>
              </a:rPr>
              <a:t>one DEBIT, one CREDIT, equal and opposite</a:t>
            </a:r>
            <a:endParaRPr lang="en-US" sz="1350" dirty="0"/>
          </a:p>
        </p:txBody>
      </p:sp>
      <p:sp>
        <p:nvSpPr>
          <p:cNvPr id="29" name="Shape 27"/>
          <p:cNvSpPr/>
          <p:nvPr/>
        </p:nvSpPr>
        <p:spPr>
          <a:xfrm>
            <a:off x="731520" y="5276088"/>
            <a:ext cx="365760" cy="365760"/>
          </a:xfrm>
          <a:prstGeom prst="ellipse">
            <a:avLst/>
          </a:prstGeom>
          <a:solidFill>
            <a:srgbClr val="C7A052"/>
          </a:solidFill>
          <a:ln/>
        </p:spPr>
      </p:sp>
      <p:sp>
        <p:nvSpPr>
          <p:cNvPr id="30" name="Text 28"/>
          <p:cNvSpPr/>
          <p:nvPr/>
        </p:nvSpPr>
        <p:spPr>
          <a:xfrm>
            <a:off x="731520" y="5276088"/>
            <a:ext cx="365760" cy="365760"/>
          </a:xfrm>
          <a:prstGeom prst="rect">
            <a:avLst/>
          </a:prstGeom>
          <a:noFill/>
          <a:ln/>
        </p:spPr>
        <p:txBody>
          <a:bodyPr wrap="square" lIns="0" tIns="0" rIns="0" bIns="0" rtlCol="0" anchor="ctr"/>
          <a:lstStyle/>
          <a:p>
            <a:pPr algn="ctr" indent="0" marL="0">
              <a:buNone/>
            </a:pPr>
            <a:r>
              <a:rPr lang="en-US" sz="1200" b="1" dirty="0">
                <a:solidFill>
                  <a:srgbClr val="0D2C54"/>
                </a:solidFill>
                <a:latin typeface="Caladea" pitchFamily="34" charset="0"/>
                <a:ea typeface="Caladea" pitchFamily="34" charset="-122"/>
                <a:cs typeface="Caladea" pitchFamily="34" charset="-120"/>
              </a:rPr>
              <a:t>6</a:t>
            </a:r>
            <a:endParaRPr lang="en-US" sz="1200" dirty="0"/>
          </a:p>
        </p:txBody>
      </p:sp>
      <p:sp>
        <p:nvSpPr>
          <p:cNvPr id="31" name="Text 29"/>
          <p:cNvSpPr/>
          <p:nvPr/>
        </p:nvSpPr>
        <p:spPr>
          <a:xfrm>
            <a:off x="1280160" y="5257800"/>
            <a:ext cx="10058400" cy="411480"/>
          </a:xfrm>
          <a:prstGeom prst="rect">
            <a:avLst/>
          </a:prstGeom>
          <a:noFill/>
          <a:ln/>
        </p:spPr>
        <p:txBody>
          <a:bodyPr wrap="square" lIns="0" tIns="0" rIns="0" bIns="0" rtlCol="0" anchor="ctr"/>
          <a:lstStyle/>
          <a:p>
            <a:pPr indent="0" marL="0">
              <a:buNone/>
            </a:pPr>
            <a:r>
              <a:rPr lang="en-US" sz="1350" b="1" dirty="0">
                <a:solidFill>
                  <a:srgbClr val="0D2C54"/>
                </a:solidFill>
                <a:latin typeface="Caladea" pitchFamily="34" charset="0"/>
                <a:ea typeface="Caladea" pitchFamily="34" charset="-122"/>
                <a:cs typeface="Caladea" pitchFamily="34" charset="-120"/>
              </a:rPr>
              <a:t>Marks the payment SETTLED   </a:t>
            </a:r>
            <a:pPr indent="0" marL="0">
              <a:buNone/>
            </a:pPr>
            <a:r>
              <a:rPr lang="en-US" sz="1250" dirty="0">
                <a:solidFill>
                  <a:srgbClr val="666666"/>
                </a:solidFill>
                <a:latin typeface="Caladea" pitchFamily="34" charset="0"/>
                <a:ea typeface="Caladea" pitchFamily="34" charset="-122"/>
                <a:cs typeface="Caladea" pitchFamily="34" charset="-120"/>
              </a:rPr>
              <a:t>plus an audit row. Commit.</a:t>
            </a:r>
            <a:endParaRPr lang="en-US" sz="1350" dirty="0"/>
          </a:p>
        </p:txBody>
      </p:sp>
      <p:sp>
        <p:nvSpPr>
          <p:cNvPr id="32" name="Shape 30"/>
          <p:cNvSpPr/>
          <p:nvPr/>
        </p:nvSpPr>
        <p:spPr>
          <a:xfrm>
            <a:off x="640080" y="5852160"/>
            <a:ext cx="10881360" cy="640080"/>
          </a:xfrm>
          <a:prstGeom prst="roundRect">
            <a:avLst>
              <a:gd name="adj" fmla="val 11429"/>
            </a:avLst>
          </a:prstGeom>
          <a:solidFill>
            <a:srgbClr val="F4ECD8"/>
          </a:solidFill>
          <a:ln w="12700">
            <a:solidFill>
              <a:srgbClr val="C7A052"/>
            </a:solidFill>
            <a:prstDash val="solid"/>
          </a:ln>
        </p:spPr>
      </p:sp>
      <p:sp>
        <p:nvSpPr>
          <p:cNvPr id="33" name="Text 31"/>
          <p:cNvSpPr/>
          <p:nvPr/>
        </p:nvSpPr>
        <p:spPr>
          <a:xfrm>
            <a:off x="804672" y="5961888"/>
            <a:ext cx="10552176" cy="420624"/>
          </a:xfrm>
          <a:prstGeom prst="rect">
            <a:avLst/>
          </a:prstGeom>
          <a:noFill/>
          <a:ln/>
        </p:spPr>
        <p:txBody>
          <a:bodyPr wrap="square" lIns="0" tIns="0" rIns="0" bIns="0" rtlCol="0" anchor="t"/>
          <a:lstStyle/>
          <a:p>
            <a:pPr indent="0" marL="0">
              <a:buNone/>
            </a:pPr>
            <a:r>
              <a:rPr lang="en-US" sz="1200" b="1" dirty="0">
                <a:solidFill>
                  <a:srgbClr val="0D2C54"/>
                </a:solidFill>
                <a:latin typeface="Caladea" pitchFamily="34" charset="0"/>
                <a:ea typeface="Caladea" pitchFamily="34" charset="-122"/>
                <a:cs typeface="Caladea" pitchFamily="34" charset="-120"/>
              </a:rPr>
              <a:t>Why this design</a:t>
            </a:r>
            <a:endParaRPr lang="en-US" sz="1200" dirty="0"/>
          </a:p>
          <a:p>
            <a:pPr indent="0" marL="0">
              <a:buNone/>
            </a:pPr>
            <a:r>
              <a:rPr lang="en-US" sz="1250" dirty="0">
                <a:solidFill>
                  <a:srgbClr val="333333"/>
                </a:solidFill>
                <a:latin typeface="Caladea" pitchFamily="34" charset="0"/>
                <a:ea typeface="Caladea" pitchFamily="34" charset="-122"/>
                <a:cs typeface="Caladea" pitchFamily="34" charset="-120"/>
              </a:rPr>
              <a:t>A slow or crashed worker does not take the site down — jobs simply wait in the queue. That resilience is the whole reason for the split, and queue depth is how you know it is happening.</a:t>
            </a:r>
            <a:endParaRPr lang="en-US" sz="1200" dirty="0"/>
          </a:p>
        </p:txBody>
      </p:sp>
      <p:sp>
        <p:nvSpPr>
          <p:cNvPr id="34" name="Text 32"/>
          <p:cNvSpPr/>
          <p:nvPr/>
        </p:nvSpPr>
        <p:spPr>
          <a:xfrm>
            <a:off x="11155680" y="6446520"/>
            <a:ext cx="914400" cy="320040"/>
          </a:xfrm>
          <a:prstGeom prst="rect">
            <a:avLst/>
          </a:prstGeom>
          <a:noFill/>
          <a:ln/>
        </p:spPr>
        <p:txBody>
          <a:bodyPr wrap="square" lIns="0" tIns="0" rIns="0" bIns="0" rtlCol="0" anchor="ctr"/>
          <a:lstStyle/>
          <a:p>
            <a:pPr algn="r" indent="0" marL="0">
              <a:buNone/>
            </a:pPr>
            <a:r>
              <a:rPr lang="en-US" sz="1000" dirty="0">
                <a:solidFill>
                  <a:srgbClr val="666666"/>
                </a:solidFill>
                <a:latin typeface="Caladea" pitchFamily="34" charset="0"/>
                <a:ea typeface="Caladea" pitchFamily="34" charset="-122"/>
                <a:cs typeface="Caladea" pitchFamily="34" charset="-120"/>
              </a:rPr>
              <a:t>5 / 15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47472"/>
            <a:ext cx="10881360" cy="320040"/>
          </a:xfrm>
          <a:prstGeom prst="rect">
            <a:avLst/>
          </a:prstGeom>
          <a:noFill/>
          <a:ln/>
        </p:spPr>
        <p:txBody>
          <a:bodyPr wrap="square" lIns="0" tIns="0" rIns="0" bIns="0" rtlCol="0" anchor="ctr"/>
          <a:lstStyle/>
          <a:p>
            <a:pPr indent="0" marL="0">
              <a:buNone/>
            </a:pPr>
            <a:r>
              <a:rPr lang="en-US" sz="1300" b="1" spc="200" kern="0" dirty="0">
                <a:solidFill>
                  <a:srgbClr val="C7A052"/>
                </a:solidFill>
                <a:latin typeface="Caladea" pitchFamily="34" charset="0"/>
                <a:ea typeface="Caladea" pitchFamily="34" charset="-122"/>
                <a:cs typeface="Caladea" pitchFamily="34" charset="-120"/>
              </a:rPr>
              <a:t>FLOW 3 · WHEN THINGS GO WRONG</a:t>
            </a:r>
            <a:endParaRPr lang="en-US" sz="13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D2C54"/>
                </a:solidFill>
                <a:latin typeface="Caladea" pitchFamily="34" charset="0"/>
                <a:ea typeface="Caladea" pitchFamily="34" charset="-122"/>
                <a:cs typeface="Caladea" pitchFamily="34" charset="-120"/>
              </a:rPr>
              <a:t>Four ways a payment fails, and where each one is caught</a:t>
            </a:r>
            <a:endParaRPr lang="en-US" sz="3000" dirty="0"/>
          </a:p>
        </p:txBody>
      </p:sp>
      <p:sp>
        <p:nvSpPr>
          <p:cNvPr id="4" name="Shape 2"/>
          <p:cNvSpPr/>
          <p:nvPr/>
        </p:nvSpPr>
        <p:spPr>
          <a:xfrm>
            <a:off x="640080" y="1600200"/>
            <a:ext cx="10881360" cy="960120"/>
          </a:xfrm>
          <a:prstGeom prst="roundRect">
            <a:avLst>
              <a:gd name="adj" fmla="val 5714"/>
            </a:avLst>
          </a:prstGeom>
          <a:solidFill>
            <a:srgbClr val="FFFFFF"/>
          </a:solidFill>
          <a:ln w="19050">
            <a:solidFill>
              <a:srgbClr val="A23B3B"/>
            </a:solidFill>
            <a:prstDash val="solid"/>
          </a:ln>
        </p:spPr>
      </p:sp>
      <p:sp>
        <p:nvSpPr>
          <p:cNvPr id="5" name="Text 3"/>
          <p:cNvSpPr/>
          <p:nvPr/>
        </p:nvSpPr>
        <p:spPr>
          <a:xfrm>
            <a:off x="868680" y="1600200"/>
            <a:ext cx="2743200" cy="960120"/>
          </a:xfrm>
          <a:prstGeom prst="rect">
            <a:avLst/>
          </a:prstGeom>
          <a:noFill/>
          <a:ln/>
        </p:spPr>
        <p:txBody>
          <a:bodyPr wrap="square" lIns="0" tIns="0" rIns="0" bIns="0" rtlCol="0" anchor="ctr"/>
          <a:lstStyle/>
          <a:p>
            <a:pPr indent="0" marL="0">
              <a:buNone/>
            </a:pPr>
            <a:r>
              <a:rPr lang="en-US" sz="1350" b="1" dirty="0">
                <a:solidFill>
                  <a:srgbClr val="0D2C54"/>
                </a:solidFill>
                <a:latin typeface="Caladea" pitchFamily="34" charset="0"/>
                <a:ea typeface="Caladea" pitchFamily="34" charset="-122"/>
                <a:cs typeface="Caladea" pitchFamily="34" charset="-120"/>
              </a:rPr>
              <a:t>Unknown mandate</a:t>
            </a:r>
            <a:endParaRPr lang="en-US" sz="1350" dirty="0"/>
          </a:p>
        </p:txBody>
      </p:sp>
      <p:sp>
        <p:nvSpPr>
          <p:cNvPr id="6" name="Text 4"/>
          <p:cNvSpPr/>
          <p:nvPr/>
        </p:nvSpPr>
        <p:spPr>
          <a:xfrm>
            <a:off x="3657600" y="1600200"/>
            <a:ext cx="2468880" cy="960120"/>
          </a:xfrm>
          <a:prstGeom prst="rect">
            <a:avLst/>
          </a:prstGeom>
          <a:noFill/>
          <a:ln/>
        </p:spPr>
        <p:txBody>
          <a:bodyPr wrap="square" lIns="0" tIns="0" rIns="0" bIns="0" rtlCol="0" anchor="ctr"/>
          <a:lstStyle/>
          <a:p>
            <a:pPr indent="0" marL="0">
              <a:buNone/>
            </a:pPr>
            <a:r>
              <a:rPr lang="en-US" sz="1000" dirty="0">
                <a:solidFill>
                  <a:srgbClr val="A23B3B"/>
                </a:solidFill>
                <a:latin typeface="DejaVu Sans Mono" pitchFamily="34" charset="0"/>
                <a:ea typeface="DejaVu Sans Mono" pitchFamily="34" charset="-122"/>
                <a:cs typeface="DejaVu Sans Mono" pitchFamily="34" charset="-120"/>
              </a:rPr>
              <a:t>payment-svc, synchronously</a:t>
            </a:r>
            <a:endParaRPr lang="en-US" sz="1000" dirty="0"/>
          </a:p>
        </p:txBody>
      </p:sp>
      <p:sp>
        <p:nvSpPr>
          <p:cNvPr id="7" name="Text 5"/>
          <p:cNvSpPr/>
          <p:nvPr/>
        </p:nvSpPr>
        <p:spPr>
          <a:xfrm>
            <a:off x="6217920" y="1600200"/>
            <a:ext cx="5120640" cy="960120"/>
          </a:xfrm>
          <a:prstGeom prst="rect">
            <a:avLst/>
          </a:prstGeom>
          <a:noFill/>
          <a:ln/>
        </p:spPr>
        <p:txBody>
          <a:bodyPr wrap="square" lIns="0" tIns="0" rIns="0" bIns="0" rtlCol="0" anchor="ctr"/>
          <a:lstStyle/>
          <a:p>
            <a:pPr indent="0" marL="0">
              <a:buNone/>
            </a:pPr>
            <a:r>
              <a:rPr lang="en-US" sz="1200" dirty="0">
                <a:solidFill>
                  <a:srgbClr val="333333"/>
                </a:solidFill>
                <a:latin typeface="Caladea" pitchFamily="34" charset="0"/>
                <a:ea typeface="Caladea" pitchFamily="34" charset="-122"/>
                <a:cs typeface="Caladea" pitchFamily="34" charset="-120"/>
              </a:rPr>
              <a:t>400 to the caller. Nothing written.</a:t>
            </a:r>
            <a:endParaRPr lang="en-US" sz="1200" dirty="0"/>
          </a:p>
        </p:txBody>
      </p:sp>
      <p:sp>
        <p:nvSpPr>
          <p:cNvPr id="8" name="Shape 6"/>
          <p:cNvSpPr/>
          <p:nvPr/>
        </p:nvSpPr>
        <p:spPr>
          <a:xfrm>
            <a:off x="640080" y="2679192"/>
            <a:ext cx="10881360" cy="960120"/>
          </a:xfrm>
          <a:prstGeom prst="roundRect">
            <a:avLst>
              <a:gd name="adj" fmla="val 5714"/>
            </a:avLst>
          </a:prstGeom>
          <a:solidFill>
            <a:srgbClr val="FFFFFF"/>
          </a:solidFill>
          <a:ln w="19050">
            <a:solidFill>
              <a:srgbClr val="A23B3B"/>
            </a:solidFill>
            <a:prstDash val="solid"/>
          </a:ln>
        </p:spPr>
      </p:sp>
      <p:sp>
        <p:nvSpPr>
          <p:cNvPr id="9" name="Text 7"/>
          <p:cNvSpPr/>
          <p:nvPr/>
        </p:nvSpPr>
        <p:spPr>
          <a:xfrm>
            <a:off x="868680" y="2679192"/>
            <a:ext cx="2743200" cy="960120"/>
          </a:xfrm>
          <a:prstGeom prst="rect">
            <a:avLst/>
          </a:prstGeom>
          <a:noFill/>
          <a:ln/>
        </p:spPr>
        <p:txBody>
          <a:bodyPr wrap="square" lIns="0" tIns="0" rIns="0" bIns="0" rtlCol="0" anchor="ctr"/>
          <a:lstStyle/>
          <a:p>
            <a:pPr indent="0" marL="0">
              <a:buNone/>
            </a:pPr>
            <a:r>
              <a:rPr lang="en-US" sz="1350" b="1" dirty="0">
                <a:solidFill>
                  <a:srgbClr val="0D2C54"/>
                </a:solidFill>
                <a:latin typeface="Caladea" pitchFamily="34" charset="0"/>
                <a:ea typeface="Caladea" pitchFamily="34" charset="-122"/>
                <a:cs typeface="Caladea" pitchFamily="34" charset="-120"/>
              </a:rPr>
              <a:t>Amount over the mandate cap</a:t>
            </a:r>
            <a:endParaRPr lang="en-US" sz="1350" dirty="0"/>
          </a:p>
        </p:txBody>
      </p:sp>
      <p:sp>
        <p:nvSpPr>
          <p:cNvPr id="10" name="Text 8"/>
          <p:cNvSpPr/>
          <p:nvPr/>
        </p:nvSpPr>
        <p:spPr>
          <a:xfrm>
            <a:off x="3657600" y="2679192"/>
            <a:ext cx="2468880" cy="960120"/>
          </a:xfrm>
          <a:prstGeom prst="rect">
            <a:avLst/>
          </a:prstGeom>
          <a:noFill/>
          <a:ln/>
        </p:spPr>
        <p:txBody>
          <a:bodyPr wrap="square" lIns="0" tIns="0" rIns="0" bIns="0" rtlCol="0" anchor="ctr"/>
          <a:lstStyle/>
          <a:p>
            <a:pPr indent="0" marL="0">
              <a:buNone/>
            </a:pPr>
            <a:r>
              <a:rPr lang="en-US" sz="1000" dirty="0">
                <a:solidFill>
                  <a:srgbClr val="A23B3B"/>
                </a:solidFill>
                <a:latin typeface="DejaVu Sans Mono" pitchFamily="34" charset="0"/>
                <a:ea typeface="DejaVu Sans Mono" pitchFamily="34" charset="-122"/>
                <a:cs typeface="DejaVu Sans Mono" pitchFamily="34" charset="-120"/>
              </a:rPr>
              <a:t>payment-svc, synchronously</a:t>
            </a:r>
            <a:endParaRPr lang="en-US" sz="1000" dirty="0"/>
          </a:p>
        </p:txBody>
      </p:sp>
      <p:sp>
        <p:nvSpPr>
          <p:cNvPr id="11" name="Text 9"/>
          <p:cNvSpPr/>
          <p:nvPr/>
        </p:nvSpPr>
        <p:spPr>
          <a:xfrm>
            <a:off x="6217920" y="2679192"/>
            <a:ext cx="5120640" cy="960120"/>
          </a:xfrm>
          <a:prstGeom prst="rect">
            <a:avLst/>
          </a:prstGeom>
          <a:noFill/>
          <a:ln/>
        </p:spPr>
        <p:txBody>
          <a:bodyPr wrap="square" lIns="0" tIns="0" rIns="0" bIns="0" rtlCol="0" anchor="ctr"/>
          <a:lstStyle/>
          <a:p>
            <a:pPr indent="0" marL="0">
              <a:buNone/>
            </a:pPr>
            <a:r>
              <a:rPr lang="en-US" sz="1200" dirty="0">
                <a:solidFill>
                  <a:srgbClr val="333333"/>
                </a:solidFill>
                <a:latin typeface="Caladea" pitchFamily="34" charset="0"/>
                <a:ea typeface="Caladea" pitchFamily="34" charset="-122"/>
                <a:cs typeface="Caladea" pitchFamily="34" charset="-120"/>
              </a:rPr>
              <a:t>400 to the caller. Nothing written.</a:t>
            </a:r>
            <a:endParaRPr lang="en-US" sz="1200" dirty="0"/>
          </a:p>
        </p:txBody>
      </p:sp>
      <p:sp>
        <p:nvSpPr>
          <p:cNvPr id="12" name="Shape 10"/>
          <p:cNvSpPr/>
          <p:nvPr/>
        </p:nvSpPr>
        <p:spPr>
          <a:xfrm>
            <a:off x="640080" y="3758184"/>
            <a:ext cx="10881360" cy="960120"/>
          </a:xfrm>
          <a:prstGeom prst="roundRect">
            <a:avLst>
              <a:gd name="adj" fmla="val 5714"/>
            </a:avLst>
          </a:prstGeom>
          <a:solidFill>
            <a:srgbClr val="FFFFFF"/>
          </a:solidFill>
          <a:ln w="19050">
            <a:solidFill>
              <a:srgbClr val="C7A052"/>
            </a:solidFill>
            <a:prstDash val="solid"/>
          </a:ln>
        </p:spPr>
      </p:sp>
      <p:sp>
        <p:nvSpPr>
          <p:cNvPr id="13" name="Text 11"/>
          <p:cNvSpPr/>
          <p:nvPr/>
        </p:nvSpPr>
        <p:spPr>
          <a:xfrm>
            <a:off x="868680" y="3758184"/>
            <a:ext cx="2743200" cy="960120"/>
          </a:xfrm>
          <a:prstGeom prst="rect">
            <a:avLst/>
          </a:prstGeom>
          <a:noFill/>
          <a:ln/>
        </p:spPr>
        <p:txBody>
          <a:bodyPr wrap="square" lIns="0" tIns="0" rIns="0" bIns="0" rtlCol="0" anchor="ctr"/>
          <a:lstStyle/>
          <a:p>
            <a:pPr indent="0" marL="0">
              <a:buNone/>
            </a:pPr>
            <a:r>
              <a:rPr lang="en-US" sz="1350" b="1" dirty="0">
                <a:solidFill>
                  <a:srgbClr val="0D2C54"/>
                </a:solidFill>
                <a:latin typeface="Caladea" pitchFamily="34" charset="0"/>
                <a:ea typeface="Caladea" pitchFamily="34" charset="-122"/>
                <a:cs typeface="Caladea" pitchFamily="34" charset="-120"/>
              </a:rPr>
              <a:t>Insufficient funds</a:t>
            </a:r>
            <a:endParaRPr lang="en-US" sz="1350" dirty="0"/>
          </a:p>
        </p:txBody>
      </p:sp>
      <p:sp>
        <p:nvSpPr>
          <p:cNvPr id="14" name="Text 12"/>
          <p:cNvSpPr/>
          <p:nvPr/>
        </p:nvSpPr>
        <p:spPr>
          <a:xfrm>
            <a:off x="3657600" y="3758184"/>
            <a:ext cx="2468880" cy="960120"/>
          </a:xfrm>
          <a:prstGeom prst="rect">
            <a:avLst/>
          </a:prstGeom>
          <a:noFill/>
          <a:ln/>
        </p:spPr>
        <p:txBody>
          <a:bodyPr wrap="square" lIns="0" tIns="0" rIns="0" bIns="0" rtlCol="0" anchor="ctr"/>
          <a:lstStyle/>
          <a:p>
            <a:pPr indent="0" marL="0">
              <a:buNone/>
            </a:pPr>
            <a:r>
              <a:rPr lang="en-US" sz="1000" dirty="0">
                <a:solidFill>
                  <a:srgbClr val="C7A052"/>
                </a:solidFill>
                <a:latin typeface="DejaVu Sans Mono" pitchFamily="34" charset="0"/>
                <a:ea typeface="DejaVu Sans Mono" pitchFamily="34" charset="-122"/>
                <a:cs typeface="DejaVu Sans Mono" pitchFamily="34" charset="-120"/>
              </a:rPr>
              <a:t>settlement-worker, later</a:t>
            </a:r>
            <a:endParaRPr lang="en-US" sz="1000" dirty="0"/>
          </a:p>
        </p:txBody>
      </p:sp>
      <p:sp>
        <p:nvSpPr>
          <p:cNvPr id="15" name="Text 13"/>
          <p:cNvSpPr/>
          <p:nvPr/>
        </p:nvSpPr>
        <p:spPr>
          <a:xfrm>
            <a:off x="6217920" y="3758184"/>
            <a:ext cx="5120640" cy="960120"/>
          </a:xfrm>
          <a:prstGeom prst="rect">
            <a:avLst/>
          </a:prstGeom>
          <a:noFill/>
          <a:ln/>
        </p:spPr>
        <p:txBody>
          <a:bodyPr wrap="square" lIns="0" tIns="0" rIns="0" bIns="0" rtlCol="0" anchor="ctr"/>
          <a:lstStyle/>
          <a:p>
            <a:pPr indent="0" marL="0">
              <a:buNone/>
            </a:pPr>
            <a:r>
              <a:rPr lang="en-US" sz="1200" dirty="0">
                <a:solidFill>
                  <a:srgbClr val="333333"/>
                </a:solidFill>
                <a:latin typeface="Caladea" pitchFamily="34" charset="0"/>
                <a:ea typeface="Caladea" pitchFamily="34" charset="-122"/>
                <a:cs typeface="Caladea" pitchFamily="34" charset="-120"/>
              </a:rPr>
              <a:t>The caller already got 201 ACCEPTED. Payment becomes FAILED. Nobody told the customer — yet.</a:t>
            </a:r>
            <a:endParaRPr lang="en-US" sz="1200" dirty="0"/>
          </a:p>
        </p:txBody>
      </p:sp>
      <p:sp>
        <p:nvSpPr>
          <p:cNvPr id="16" name="Shape 14"/>
          <p:cNvSpPr/>
          <p:nvPr/>
        </p:nvSpPr>
        <p:spPr>
          <a:xfrm>
            <a:off x="640080" y="4837176"/>
            <a:ext cx="10881360" cy="960120"/>
          </a:xfrm>
          <a:prstGeom prst="roundRect">
            <a:avLst>
              <a:gd name="adj" fmla="val 5714"/>
            </a:avLst>
          </a:prstGeom>
          <a:solidFill>
            <a:srgbClr val="FFFFFF"/>
          </a:solidFill>
          <a:ln w="19050">
            <a:solidFill>
              <a:srgbClr val="C7A052"/>
            </a:solidFill>
            <a:prstDash val="solid"/>
          </a:ln>
        </p:spPr>
      </p:sp>
      <p:sp>
        <p:nvSpPr>
          <p:cNvPr id="17" name="Text 15"/>
          <p:cNvSpPr/>
          <p:nvPr/>
        </p:nvSpPr>
        <p:spPr>
          <a:xfrm>
            <a:off x="868680" y="4837176"/>
            <a:ext cx="2743200" cy="960120"/>
          </a:xfrm>
          <a:prstGeom prst="rect">
            <a:avLst/>
          </a:prstGeom>
          <a:noFill/>
          <a:ln/>
        </p:spPr>
        <p:txBody>
          <a:bodyPr wrap="square" lIns="0" tIns="0" rIns="0" bIns="0" rtlCol="0" anchor="ctr"/>
          <a:lstStyle/>
          <a:p>
            <a:pPr indent="0" marL="0">
              <a:buNone/>
            </a:pPr>
            <a:r>
              <a:rPr lang="en-US" sz="1350" b="1" dirty="0">
                <a:solidFill>
                  <a:srgbClr val="0D2C54"/>
                </a:solidFill>
                <a:latin typeface="Caladea" pitchFamily="34" charset="0"/>
                <a:ea typeface="Caladea" pitchFamily="34" charset="-122"/>
                <a:cs typeface="Caladea" pitchFamily="34" charset="-120"/>
              </a:rPr>
              <a:t>Malformed job on the queue</a:t>
            </a:r>
            <a:endParaRPr lang="en-US" sz="1350" dirty="0"/>
          </a:p>
        </p:txBody>
      </p:sp>
      <p:sp>
        <p:nvSpPr>
          <p:cNvPr id="18" name="Text 16"/>
          <p:cNvSpPr/>
          <p:nvPr/>
        </p:nvSpPr>
        <p:spPr>
          <a:xfrm>
            <a:off x="3657600" y="4837176"/>
            <a:ext cx="2468880" cy="960120"/>
          </a:xfrm>
          <a:prstGeom prst="rect">
            <a:avLst/>
          </a:prstGeom>
          <a:noFill/>
          <a:ln/>
        </p:spPr>
        <p:txBody>
          <a:bodyPr wrap="square" lIns="0" tIns="0" rIns="0" bIns="0" rtlCol="0" anchor="ctr"/>
          <a:lstStyle/>
          <a:p>
            <a:pPr indent="0" marL="0">
              <a:buNone/>
            </a:pPr>
            <a:r>
              <a:rPr lang="en-US" sz="1000" dirty="0">
                <a:solidFill>
                  <a:srgbClr val="C7A052"/>
                </a:solidFill>
                <a:latin typeface="DejaVu Sans Mono" pitchFamily="34" charset="0"/>
                <a:ea typeface="DejaVu Sans Mono" pitchFamily="34" charset="-122"/>
                <a:cs typeface="DejaVu Sans Mono" pitchFamily="34" charset="-120"/>
              </a:rPr>
              <a:t>settlement-worker, later</a:t>
            </a:r>
            <a:endParaRPr lang="en-US" sz="1000" dirty="0"/>
          </a:p>
        </p:txBody>
      </p:sp>
      <p:sp>
        <p:nvSpPr>
          <p:cNvPr id="19" name="Text 17"/>
          <p:cNvSpPr/>
          <p:nvPr/>
        </p:nvSpPr>
        <p:spPr>
          <a:xfrm>
            <a:off x="6217920" y="4837176"/>
            <a:ext cx="5120640" cy="960120"/>
          </a:xfrm>
          <a:prstGeom prst="rect">
            <a:avLst/>
          </a:prstGeom>
          <a:noFill/>
          <a:ln/>
        </p:spPr>
        <p:txBody>
          <a:bodyPr wrap="square" lIns="0" tIns="0" rIns="0" bIns="0" rtlCol="0" anchor="ctr"/>
          <a:lstStyle/>
          <a:p>
            <a:pPr indent="0" marL="0">
              <a:buNone/>
            </a:pPr>
            <a:r>
              <a:rPr lang="en-US" sz="1200" dirty="0">
                <a:solidFill>
                  <a:srgbClr val="333333"/>
                </a:solidFill>
                <a:latin typeface="Caladea" pitchFamily="34" charset="0"/>
                <a:ea typeface="Caladea" pitchFamily="34" charset="-122"/>
                <a:cs typeface="Caladea" pitchFamily="34" charset="-120"/>
              </a:rPr>
              <a:t>Pushed to queue:settlement:dead — the dead-letter queue. Nothing retries it forever.</a:t>
            </a:r>
            <a:endParaRPr lang="en-US" sz="1200" dirty="0"/>
          </a:p>
        </p:txBody>
      </p:sp>
      <p:sp>
        <p:nvSpPr>
          <p:cNvPr id="20" name="Shape 18"/>
          <p:cNvSpPr/>
          <p:nvPr/>
        </p:nvSpPr>
        <p:spPr>
          <a:xfrm>
            <a:off x="640080" y="5943600"/>
            <a:ext cx="10881360" cy="685800"/>
          </a:xfrm>
          <a:prstGeom prst="roundRect">
            <a:avLst>
              <a:gd name="adj" fmla="val 10667"/>
            </a:avLst>
          </a:prstGeom>
          <a:solidFill>
            <a:srgbClr val="F4ECD8"/>
          </a:solidFill>
          <a:ln w="12700">
            <a:solidFill>
              <a:srgbClr val="C7A052"/>
            </a:solidFill>
            <a:prstDash val="solid"/>
          </a:ln>
        </p:spPr>
      </p:sp>
      <p:sp>
        <p:nvSpPr>
          <p:cNvPr id="21" name="Text 19"/>
          <p:cNvSpPr/>
          <p:nvPr/>
        </p:nvSpPr>
        <p:spPr>
          <a:xfrm>
            <a:off x="804672" y="6053328"/>
            <a:ext cx="10552176" cy="466344"/>
          </a:xfrm>
          <a:prstGeom prst="rect">
            <a:avLst/>
          </a:prstGeom>
          <a:noFill/>
          <a:ln/>
        </p:spPr>
        <p:txBody>
          <a:bodyPr wrap="square" lIns="0" tIns="0" rIns="0" bIns="0" rtlCol="0" anchor="t"/>
          <a:lstStyle/>
          <a:p>
            <a:pPr indent="0" marL="0">
              <a:buNone/>
            </a:pPr>
            <a:r>
              <a:rPr lang="en-US" sz="1200" b="1" dirty="0">
                <a:solidFill>
                  <a:srgbClr val="0D2C54"/>
                </a:solidFill>
                <a:latin typeface="Caladea" pitchFamily="34" charset="0"/>
                <a:ea typeface="Caladea" pitchFamily="34" charset="-122"/>
                <a:cs typeface="Caladea" pitchFamily="34" charset="-120"/>
              </a:rPr>
              <a:t>The line that matters</a:t>
            </a:r>
            <a:endParaRPr lang="en-US" sz="1200" dirty="0"/>
          </a:p>
          <a:p>
            <a:pPr indent="0" marL="0">
              <a:buNone/>
            </a:pPr>
            <a:r>
              <a:rPr lang="en-US" sz="1250" dirty="0">
                <a:solidFill>
                  <a:srgbClr val="333333"/>
                </a:solidFill>
                <a:latin typeface="Caladea" pitchFamily="34" charset="0"/>
                <a:ea typeface="Caladea" pitchFamily="34" charset="-122"/>
                <a:cs typeface="Caladea" pitchFamily="34" charset="-120"/>
              </a:rPr>
              <a:t>Red = caught while the customer is still there. Gold = caught after they have gone. Everything gold needs a way to tell someone — that is what observability is for, and paylane does not have it yet.</a:t>
            </a:r>
            <a:endParaRPr lang="en-US" sz="1200" dirty="0"/>
          </a:p>
        </p:txBody>
      </p:sp>
      <p:sp>
        <p:nvSpPr>
          <p:cNvPr id="22" name="Text 20"/>
          <p:cNvSpPr/>
          <p:nvPr/>
        </p:nvSpPr>
        <p:spPr>
          <a:xfrm>
            <a:off x="11155680" y="6446520"/>
            <a:ext cx="914400" cy="320040"/>
          </a:xfrm>
          <a:prstGeom prst="rect">
            <a:avLst/>
          </a:prstGeom>
          <a:noFill/>
          <a:ln/>
        </p:spPr>
        <p:txBody>
          <a:bodyPr wrap="square" lIns="0" tIns="0" rIns="0" bIns="0" rtlCol="0" anchor="ctr"/>
          <a:lstStyle/>
          <a:p>
            <a:pPr algn="r" indent="0" marL="0">
              <a:buNone/>
            </a:pPr>
            <a:r>
              <a:rPr lang="en-US" sz="1000" dirty="0">
                <a:solidFill>
                  <a:srgbClr val="666666"/>
                </a:solidFill>
                <a:latin typeface="Caladea" pitchFamily="34" charset="0"/>
                <a:ea typeface="Caladea" pitchFamily="34" charset="-122"/>
                <a:cs typeface="Caladea" pitchFamily="34" charset="-120"/>
              </a:rPr>
              <a:t>6 / 15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47472"/>
            <a:ext cx="10881360" cy="320040"/>
          </a:xfrm>
          <a:prstGeom prst="rect">
            <a:avLst/>
          </a:prstGeom>
          <a:noFill/>
          <a:ln/>
        </p:spPr>
        <p:txBody>
          <a:bodyPr wrap="square" lIns="0" tIns="0" rIns="0" bIns="0" rtlCol="0" anchor="ctr"/>
          <a:lstStyle/>
          <a:p>
            <a:pPr indent="0" marL="0">
              <a:buNone/>
            </a:pPr>
            <a:r>
              <a:rPr lang="en-US" sz="1300" b="1" spc="200" kern="0" dirty="0">
                <a:solidFill>
                  <a:srgbClr val="C7A052"/>
                </a:solidFill>
                <a:latin typeface="Caladea" pitchFamily="34" charset="0"/>
                <a:ea typeface="Caladea" pitchFamily="34" charset="-122"/>
                <a:cs typeface="Caladea" pitchFamily="34" charset="-120"/>
              </a:rPr>
              <a:t>THE DATA</a:t>
            </a:r>
            <a:endParaRPr lang="en-US" sz="13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D2C54"/>
                </a:solidFill>
                <a:latin typeface="Caladea" pitchFamily="34" charset="0"/>
                <a:ea typeface="Caladea" pitchFamily="34" charset="-122"/>
                <a:cs typeface="Caladea" pitchFamily="34" charset="-120"/>
              </a:rPr>
              <a:t>Five tables, and one rule that must never break</a:t>
            </a:r>
            <a:endParaRPr lang="en-US" sz="3000" dirty="0"/>
          </a:p>
        </p:txBody>
      </p:sp>
      <p:sp>
        <p:nvSpPr>
          <p:cNvPr id="4" name="Shape 2"/>
          <p:cNvSpPr/>
          <p:nvPr/>
        </p:nvSpPr>
        <p:spPr>
          <a:xfrm>
            <a:off x="640080" y="1645920"/>
            <a:ext cx="5120640" cy="658368"/>
          </a:xfrm>
          <a:prstGeom prst="roundRect">
            <a:avLst>
              <a:gd name="adj" fmla="val 6944"/>
            </a:avLst>
          </a:prstGeom>
          <a:solidFill>
            <a:srgbClr val="FFFFFF"/>
          </a:solidFill>
          <a:ln w="15875">
            <a:solidFill>
              <a:srgbClr val="0D2C54"/>
            </a:solidFill>
            <a:prstDash val="solid"/>
          </a:ln>
        </p:spPr>
      </p:sp>
      <p:sp>
        <p:nvSpPr>
          <p:cNvPr id="5" name="Text 3"/>
          <p:cNvSpPr/>
          <p:nvPr/>
        </p:nvSpPr>
        <p:spPr>
          <a:xfrm>
            <a:off x="822960" y="1700784"/>
            <a:ext cx="4754880" cy="548640"/>
          </a:xfrm>
          <a:prstGeom prst="rect">
            <a:avLst/>
          </a:prstGeom>
          <a:noFill/>
          <a:ln/>
        </p:spPr>
        <p:txBody>
          <a:bodyPr wrap="square" lIns="0" tIns="0" rIns="0" bIns="0" rtlCol="0" anchor="ctr"/>
          <a:lstStyle/>
          <a:p>
            <a:pPr indent="0" marL="0">
              <a:buNone/>
            </a:pPr>
            <a:r>
              <a:rPr lang="en-US" sz="1200" b="1" dirty="0">
                <a:solidFill>
                  <a:srgbClr val="0D2C54"/>
                </a:solidFill>
                <a:latin typeface="DejaVu Sans Mono" pitchFamily="34" charset="0"/>
                <a:ea typeface="DejaVu Sans Mono" pitchFamily="34" charset="-122"/>
                <a:cs typeface="DejaVu Sans Mono" pitchFamily="34" charset="-120"/>
              </a:rPr>
              <a:t>accounts</a:t>
            </a:r>
            <a:endParaRPr lang="en-US" sz="1200" dirty="0"/>
          </a:p>
          <a:p>
            <a:pPr indent="0" marL="0">
              <a:buNone/>
            </a:pPr>
            <a:r>
              <a:rPr lang="en-US" sz="1050" dirty="0">
                <a:solidFill>
                  <a:srgbClr val="666666"/>
                </a:solidFill>
                <a:latin typeface="Caladea" pitchFamily="34" charset="0"/>
                <a:ea typeface="Caladea" pitchFamily="34" charset="-122"/>
                <a:cs typeface="Caladea" pitchFamily="34" charset="-120"/>
              </a:rPr>
              <a:t>who can send and receive, with balances in paise</a:t>
            </a:r>
            <a:endParaRPr lang="en-US" sz="1200" dirty="0"/>
          </a:p>
        </p:txBody>
      </p:sp>
      <p:sp>
        <p:nvSpPr>
          <p:cNvPr id="6" name="Shape 4"/>
          <p:cNvSpPr/>
          <p:nvPr/>
        </p:nvSpPr>
        <p:spPr>
          <a:xfrm>
            <a:off x="640080" y="2395728"/>
            <a:ext cx="5120640" cy="658368"/>
          </a:xfrm>
          <a:prstGeom prst="roundRect">
            <a:avLst>
              <a:gd name="adj" fmla="val 6944"/>
            </a:avLst>
          </a:prstGeom>
          <a:solidFill>
            <a:srgbClr val="FFFFFF"/>
          </a:solidFill>
          <a:ln w="15875">
            <a:solidFill>
              <a:srgbClr val="0D2C54"/>
            </a:solidFill>
            <a:prstDash val="solid"/>
          </a:ln>
        </p:spPr>
      </p:sp>
      <p:sp>
        <p:nvSpPr>
          <p:cNvPr id="7" name="Text 5"/>
          <p:cNvSpPr/>
          <p:nvPr/>
        </p:nvSpPr>
        <p:spPr>
          <a:xfrm>
            <a:off x="822960" y="2450592"/>
            <a:ext cx="4754880" cy="548640"/>
          </a:xfrm>
          <a:prstGeom prst="rect">
            <a:avLst/>
          </a:prstGeom>
          <a:noFill/>
          <a:ln/>
        </p:spPr>
        <p:txBody>
          <a:bodyPr wrap="square" lIns="0" tIns="0" rIns="0" bIns="0" rtlCol="0" anchor="ctr"/>
          <a:lstStyle/>
          <a:p>
            <a:pPr indent="0" marL="0">
              <a:buNone/>
            </a:pPr>
            <a:r>
              <a:rPr lang="en-US" sz="1200" b="1" dirty="0">
                <a:solidFill>
                  <a:srgbClr val="0D2C54"/>
                </a:solidFill>
                <a:latin typeface="DejaVu Sans Mono" pitchFamily="34" charset="0"/>
                <a:ea typeface="DejaVu Sans Mono" pitchFamily="34" charset="-122"/>
                <a:cs typeface="DejaVu Sans Mono" pitchFamily="34" charset="-120"/>
              </a:rPr>
              <a:t>mandates</a:t>
            </a:r>
            <a:endParaRPr lang="en-US" sz="1200" dirty="0"/>
          </a:p>
          <a:p>
            <a:pPr indent="0" marL="0">
              <a:buNone/>
            </a:pPr>
            <a:r>
              <a:rPr lang="en-US" sz="1050" dirty="0">
                <a:solidFill>
                  <a:srgbClr val="666666"/>
                </a:solidFill>
                <a:latin typeface="Caladea" pitchFamily="34" charset="0"/>
                <a:ea typeface="Caladea" pitchFamily="34" charset="-122"/>
                <a:cs typeface="Caladea" pitchFamily="34" charset="-120"/>
              </a:rPr>
              <a:t>a payer's standing permission for a payee, with a cap</a:t>
            </a:r>
            <a:endParaRPr lang="en-US" sz="1200" dirty="0"/>
          </a:p>
        </p:txBody>
      </p:sp>
      <p:sp>
        <p:nvSpPr>
          <p:cNvPr id="8" name="Shape 6"/>
          <p:cNvSpPr/>
          <p:nvPr/>
        </p:nvSpPr>
        <p:spPr>
          <a:xfrm>
            <a:off x="640080" y="3145536"/>
            <a:ext cx="5120640" cy="658368"/>
          </a:xfrm>
          <a:prstGeom prst="roundRect">
            <a:avLst>
              <a:gd name="adj" fmla="val 6944"/>
            </a:avLst>
          </a:prstGeom>
          <a:solidFill>
            <a:srgbClr val="FFFFFF"/>
          </a:solidFill>
          <a:ln w="15875">
            <a:solidFill>
              <a:srgbClr val="0D2C54"/>
            </a:solidFill>
            <a:prstDash val="solid"/>
          </a:ln>
        </p:spPr>
      </p:sp>
      <p:sp>
        <p:nvSpPr>
          <p:cNvPr id="9" name="Text 7"/>
          <p:cNvSpPr/>
          <p:nvPr/>
        </p:nvSpPr>
        <p:spPr>
          <a:xfrm>
            <a:off x="822960" y="3200400"/>
            <a:ext cx="4754880" cy="548640"/>
          </a:xfrm>
          <a:prstGeom prst="rect">
            <a:avLst/>
          </a:prstGeom>
          <a:noFill/>
          <a:ln/>
        </p:spPr>
        <p:txBody>
          <a:bodyPr wrap="square" lIns="0" tIns="0" rIns="0" bIns="0" rtlCol="0" anchor="ctr"/>
          <a:lstStyle/>
          <a:p>
            <a:pPr indent="0" marL="0">
              <a:buNone/>
            </a:pPr>
            <a:r>
              <a:rPr lang="en-US" sz="1200" b="1" dirty="0">
                <a:solidFill>
                  <a:srgbClr val="0D2C54"/>
                </a:solidFill>
                <a:latin typeface="DejaVu Sans Mono" pitchFamily="34" charset="0"/>
                <a:ea typeface="DejaVu Sans Mono" pitchFamily="34" charset="-122"/>
                <a:cs typeface="DejaVu Sans Mono" pitchFamily="34" charset="-120"/>
              </a:rPr>
              <a:t>payments</a:t>
            </a:r>
            <a:endParaRPr lang="en-US" sz="1200" dirty="0"/>
          </a:p>
          <a:p>
            <a:pPr indent="0" marL="0">
              <a:buNone/>
            </a:pPr>
            <a:r>
              <a:rPr lang="en-US" sz="1050" dirty="0">
                <a:solidFill>
                  <a:srgbClr val="666666"/>
                </a:solidFill>
                <a:latin typeface="Caladea" pitchFamily="34" charset="0"/>
                <a:ea typeface="Caladea" pitchFamily="34" charset="-122"/>
                <a:cs typeface="Caladea" pitchFamily="34" charset="-120"/>
              </a:rPr>
              <a:t>the instruction: ACCEPTED, then SETTLED or FAILED</a:t>
            </a:r>
            <a:endParaRPr lang="en-US" sz="1200" dirty="0"/>
          </a:p>
        </p:txBody>
      </p:sp>
      <p:sp>
        <p:nvSpPr>
          <p:cNvPr id="10" name="Shape 8"/>
          <p:cNvSpPr/>
          <p:nvPr/>
        </p:nvSpPr>
        <p:spPr>
          <a:xfrm>
            <a:off x="640080" y="3895344"/>
            <a:ext cx="5120640" cy="658368"/>
          </a:xfrm>
          <a:prstGeom prst="roundRect">
            <a:avLst>
              <a:gd name="adj" fmla="val 6944"/>
            </a:avLst>
          </a:prstGeom>
          <a:solidFill>
            <a:srgbClr val="FFFFFF"/>
          </a:solidFill>
          <a:ln w="15875">
            <a:solidFill>
              <a:srgbClr val="0D2C54"/>
            </a:solidFill>
            <a:prstDash val="solid"/>
          </a:ln>
        </p:spPr>
      </p:sp>
      <p:sp>
        <p:nvSpPr>
          <p:cNvPr id="11" name="Text 9"/>
          <p:cNvSpPr/>
          <p:nvPr/>
        </p:nvSpPr>
        <p:spPr>
          <a:xfrm>
            <a:off x="822960" y="3950208"/>
            <a:ext cx="4754880" cy="548640"/>
          </a:xfrm>
          <a:prstGeom prst="rect">
            <a:avLst/>
          </a:prstGeom>
          <a:noFill/>
          <a:ln/>
        </p:spPr>
        <p:txBody>
          <a:bodyPr wrap="square" lIns="0" tIns="0" rIns="0" bIns="0" rtlCol="0" anchor="ctr"/>
          <a:lstStyle/>
          <a:p>
            <a:pPr indent="0" marL="0">
              <a:buNone/>
            </a:pPr>
            <a:r>
              <a:rPr lang="en-US" sz="1200" b="1" dirty="0">
                <a:solidFill>
                  <a:srgbClr val="0D2C54"/>
                </a:solidFill>
                <a:latin typeface="DejaVu Sans Mono" pitchFamily="34" charset="0"/>
                <a:ea typeface="DejaVu Sans Mono" pitchFamily="34" charset="-122"/>
                <a:cs typeface="DejaVu Sans Mono" pitchFamily="34" charset="-120"/>
              </a:rPr>
              <a:t>ledger_entries</a:t>
            </a:r>
            <a:endParaRPr lang="en-US" sz="1200" dirty="0"/>
          </a:p>
          <a:p>
            <a:pPr indent="0" marL="0">
              <a:buNone/>
            </a:pPr>
            <a:r>
              <a:rPr lang="en-US" sz="1050" dirty="0">
                <a:solidFill>
                  <a:srgbClr val="666666"/>
                </a:solidFill>
                <a:latin typeface="Caladea" pitchFamily="34" charset="0"/>
                <a:ea typeface="Caladea" pitchFamily="34" charset="-122"/>
                <a:cs typeface="Caladea" pitchFamily="34" charset="-120"/>
              </a:rPr>
              <a:t>double entry: one DEBIT and one CREDIT per settled payment</a:t>
            </a:r>
            <a:endParaRPr lang="en-US" sz="1200" dirty="0"/>
          </a:p>
        </p:txBody>
      </p:sp>
      <p:sp>
        <p:nvSpPr>
          <p:cNvPr id="12" name="Shape 10"/>
          <p:cNvSpPr/>
          <p:nvPr/>
        </p:nvSpPr>
        <p:spPr>
          <a:xfrm>
            <a:off x="640080" y="4645152"/>
            <a:ext cx="5120640" cy="658368"/>
          </a:xfrm>
          <a:prstGeom prst="roundRect">
            <a:avLst>
              <a:gd name="adj" fmla="val 6944"/>
            </a:avLst>
          </a:prstGeom>
          <a:solidFill>
            <a:srgbClr val="FFFFFF"/>
          </a:solidFill>
          <a:ln w="15875">
            <a:solidFill>
              <a:srgbClr val="0D2C54"/>
            </a:solidFill>
            <a:prstDash val="solid"/>
          </a:ln>
        </p:spPr>
      </p:sp>
      <p:sp>
        <p:nvSpPr>
          <p:cNvPr id="13" name="Text 11"/>
          <p:cNvSpPr/>
          <p:nvPr/>
        </p:nvSpPr>
        <p:spPr>
          <a:xfrm>
            <a:off x="822960" y="4700016"/>
            <a:ext cx="4754880" cy="548640"/>
          </a:xfrm>
          <a:prstGeom prst="rect">
            <a:avLst/>
          </a:prstGeom>
          <a:noFill/>
          <a:ln/>
        </p:spPr>
        <p:txBody>
          <a:bodyPr wrap="square" lIns="0" tIns="0" rIns="0" bIns="0" rtlCol="0" anchor="ctr"/>
          <a:lstStyle/>
          <a:p>
            <a:pPr indent="0" marL="0">
              <a:buNone/>
            </a:pPr>
            <a:r>
              <a:rPr lang="en-US" sz="1200" b="1" dirty="0">
                <a:solidFill>
                  <a:srgbClr val="0D2C54"/>
                </a:solidFill>
                <a:latin typeface="DejaVu Sans Mono" pitchFamily="34" charset="0"/>
                <a:ea typeface="DejaVu Sans Mono" pitchFamily="34" charset="-122"/>
                <a:cs typeface="DejaVu Sans Mono" pitchFamily="34" charset="-120"/>
              </a:rPr>
              <a:t>audit_log</a:t>
            </a:r>
            <a:endParaRPr lang="en-US" sz="1200" dirty="0"/>
          </a:p>
          <a:p>
            <a:pPr indent="0" marL="0">
              <a:buNone/>
            </a:pPr>
            <a:r>
              <a:rPr lang="en-US" sz="1050" dirty="0">
                <a:solidFill>
                  <a:srgbClr val="666666"/>
                </a:solidFill>
                <a:latin typeface="Caladea" pitchFamily="34" charset="0"/>
                <a:ea typeface="Caladea" pitchFamily="34" charset="-122"/>
                <a:cs typeface="Caladea" pitchFamily="34" charset="-120"/>
              </a:rPr>
              <a:t>append-only. Nothing updates it. Nothing deletes from it.</a:t>
            </a:r>
            <a:endParaRPr lang="en-US" sz="1200" dirty="0"/>
          </a:p>
        </p:txBody>
      </p:sp>
      <p:sp>
        <p:nvSpPr>
          <p:cNvPr id="14" name="Shape 12"/>
          <p:cNvSpPr/>
          <p:nvPr/>
        </p:nvSpPr>
        <p:spPr>
          <a:xfrm>
            <a:off x="6126480" y="1645920"/>
            <a:ext cx="5394960" cy="3200400"/>
          </a:xfrm>
          <a:prstGeom prst="roundRect">
            <a:avLst>
              <a:gd name="adj" fmla="val 2286"/>
            </a:avLst>
          </a:prstGeom>
          <a:solidFill>
            <a:srgbClr val="F4ECD8"/>
          </a:solidFill>
          <a:ln w="19050">
            <a:solidFill>
              <a:srgbClr val="C7A052"/>
            </a:solidFill>
            <a:prstDash val="solid"/>
          </a:ln>
        </p:spPr>
      </p:sp>
      <p:sp>
        <p:nvSpPr>
          <p:cNvPr id="15" name="Text 13"/>
          <p:cNvSpPr/>
          <p:nvPr/>
        </p:nvSpPr>
        <p:spPr>
          <a:xfrm>
            <a:off x="6355080" y="1828800"/>
            <a:ext cx="4937760" cy="2926080"/>
          </a:xfrm>
          <a:prstGeom prst="rect">
            <a:avLst/>
          </a:prstGeom>
          <a:noFill/>
          <a:ln/>
        </p:spPr>
        <p:txBody>
          <a:bodyPr wrap="square" lIns="0" tIns="0" rIns="0" bIns="0" rtlCol="0" anchor="t"/>
          <a:lstStyle/>
          <a:p>
            <a:pPr indent="0" marL="0">
              <a:spcAft>
                <a:spcPts val="1000"/>
              </a:spcAft>
              <a:buNone/>
            </a:pPr>
            <a:r>
              <a:rPr lang="en-US" sz="1600" b="1" dirty="0">
                <a:solidFill>
                  <a:srgbClr val="0D2C54"/>
                </a:solidFill>
                <a:latin typeface="Caladea" pitchFamily="34" charset="0"/>
                <a:ea typeface="Caladea" pitchFamily="34" charset="-122"/>
                <a:cs typeface="Caladea" pitchFamily="34" charset="-120"/>
              </a:rPr>
              <a:t>The double-entry invariant</a:t>
            </a:r>
            <a:endParaRPr lang="en-US" sz="1600" dirty="0"/>
          </a:p>
          <a:p>
            <a:pPr indent="0" marL="0">
              <a:spcAft>
                <a:spcPts val="800"/>
              </a:spcAft>
              <a:buNone/>
            </a:pPr>
            <a:r>
              <a:rPr lang="en-US" sz="1300" dirty="0">
                <a:solidFill>
                  <a:srgbClr val="333333"/>
                </a:solidFill>
                <a:latin typeface="Caladea" pitchFamily="34" charset="0"/>
                <a:ea typeface="Caladea" pitchFamily="34" charset="-122"/>
                <a:cs typeface="Caladea" pitchFamily="34" charset="-120"/>
              </a:rPr>
              <a:t>Every settled payment writes exactly one DEBIT and one CREDIT, of equal value. They must sum to zero.</a:t>
            </a:r>
            <a:endParaRPr lang="en-US" sz="1600" dirty="0"/>
          </a:p>
          <a:p>
            <a:pPr indent="0" marL="0">
              <a:spcAft>
                <a:spcPts val="600"/>
              </a:spcAft>
              <a:buNone/>
            </a:pPr>
            <a:r>
              <a:rPr lang="en-US" sz="1300" b="1" dirty="0">
                <a:solidFill>
                  <a:srgbClr val="333333"/>
                </a:solidFill>
                <a:latin typeface="Caladea" pitchFamily="34" charset="0"/>
                <a:ea typeface="Caladea" pitchFamily="34" charset="-122"/>
                <a:cs typeface="Caladea" pitchFamily="34" charset="-120"/>
              </a:rPr>
              <a:t>Anything else is a break:</a:t>
            </a:r>
            <a:endParaRPr lang="en-US" sz="1600" dirty="0"/>
          </a:p>
          <a:p>
            <a:pPr marL="342900" indent="-342900">
              <a:spcAft>
                <a:spcPts val="400"/>
              </a:spcAft>
              <a:buSzPct val="100000"/>
              <a:buChar char="•"/>
            </a:pPr>
            <a:r>
              <a:rPr lang="en-US" sz="1250" dirty="0">
                <a:solidFill>
                  <a:srgbClr val="333333"/>
                </a:solidFill>
                <a:latin typeface="Caladea" pitchFamily="34" charset="0"/>
                <a:ea typeface="Caladea" pitchFamily="34" charset="-122"/>
                <a:cs typeface="Caladea" pitchFamily="34" charset="-120"/>
              </a:rPr>
              <a:t>four entries instead of two — settled twice</a:t>
            </a:r>
            <a:endParaRPr lang="en-US" sz="1600" dirty="0"/>
          </a:p>
          <a:p>
            <a:pPr marL="342900" indent="-342900">
              <a:spcAft>
                <a:spcPts val="400"/>
              </a:spcAft>
              <a:buSzPct val="100000"/>
              <a:buChar char="•"/>
            </a:pPr>
            <a:r>
              <a:rPr lang="en-US" sz="1250" dirty="0">
                <a:solidFill>
                  <a:srgbClr val="333333"/>
                </a:solidFill>
                <a:latin typeface="Caladea" pitchFamily="34" charset="0"/>
                <a:ea typeface="Caladea" pitchFamily="34" charset="-122"/>
                <a:cs typeface="Caladea" pitchFamily="34" charset="-120"/>
              </a:rPr>
              <a:t>one entry instead of two — half-written</a:t>
            </a:r>
            <a:endParaRPr lang="en-US" sz="1600" dirty="0"/>
          </a:p>
          <a:p>
            <a:pPr marL="342900" indent="-342900">
              <a:spcAft>
                <a:spcPts val="800"/>
              </a:spcAft>
              <a:buSzPct val="100000"/>
              <a:buChar char="•"/>
            </a:pPr>
            <a:r>
              <a:rPr lang="en-US" sz="1250" dirty="0">
                <a:solidFill>
                  <a:srgbClr val="333333"/>
                </a:solidFill>
                <a:latin typeface="Caladea" pitchFamily="34" charset="0"/>
                <a:ea typeface="Caladea" pitchFamily="34" charset="-122"/>
                <a:cs typeface="Caladea" pitchFamily="34" charset="-120"/>
              </a:rPr>
              <a:t>two entries that don't net to zero — mismatched</a:t>
            </a:r>
            <a:endParaRPr lang="en-US" sz="1600" dirty="0"/>
          </a:p>
          <a:p>
            <a:pPr indent="0" marL="0">
              <a:buNone/>
            </a:pPr>
            <a:r>
              <a:rPr lang="en-US" sz="1250" i="1" dirty="0">
                <a:solidFill>
                  <a:srgbClr val="333333"/>
                </a:solidFill>
                <a:latin typeface="Caladea" pitchFamily="34" charset="0"/>
                <a:ea typeface="Caladea" pitchFamily="34" charset="-122"/>
                <a:cs typeface="Caladea" pitchFamily="34" charset="-120"/>
              </a:rPr>
              <a:t>GET /reconcile checks exactly this, and reports CLEAN or BREAKS_FOUND.</a:t>
            </a:r>
            <a:endParaRPr lang="en-US" sz="1600" dirty="0"/>
          </a:p>
        </p:txBody>
      </p:sp>
      <p:sp>
        <p:nvSpPr>
          <p:cNvPr id="16" name="Shape 14"/>
          <p:cNvSpPr/>
          <p:nvPr/>
        </p:nvSpPr>
        <p:spPr>
          <a:xfrm>
            <a:off x="640080" y="5486400"/>
            <a:ext cx="10881360" cy="960120"/>
          </a:xfrm>
          <a:prstGeom prst="roundRect">
            <a:avLst>
              <a:gd name="adj" fmla="val 7619"/>
            </a:avLst>
          </a:prstGeom>
          <a:solidFill>
            <a:srgbClr val="EEF1F5"/>
          </a:solidFill>
          <a:ln w="12700">
            <a:solidFill>
              <a:srgbClr val="0D2C54"/>
            </a:solidFill>
            <a:prstDash val="solid"/>
          </a:ln>
        </p:spPr>
      </p:sp>
      <p:sp>
        <p:nvSpPr>
          <p:cNvPr id="17" name="Text 15"/>
          <p:cNvSpPr/>
          <p:nvPr/>
        </p:nvSpPr>
        <p:spPr>
          <a:xfrm>
            <a:off x="804672" y="5596128"/>
            <a:ext cx="10552176" cy="740664"/>
          </a:xfrm>
          <a:prstGeom prst="rect">
            <a:avLst/>
          </a:prstGeom>
          <a:noFill/>
          <a:ln/>
        </p:spPr>
        <p:txBody>
          <a:bodyPr wrap="square" lIns="0" tIns="0" rIns="0" bIns="0" rtlCol="0" anchor="t"/>
          <a:lstStyle/>
          <a:p>
            <a:pPr indent="0" marL="0">
              <a:buNone/>
            </a:pPr>
            <a:r>
              <a:rPr lang="en-US" sz="1200" b="1" dirty="0">
                <a:solidFill>
                  <a:srgbClr val="0D2C54"/>
                </a:solidFill>
                <a:latin typeface="Caladea" pitchFamily="34" charset="0"/>
                <a:ea typeface="Caladea" pitchFamily="34" charset="-122"/>
                <a:cs typeface="Caladea" pitchFamily="34" charset="-120"/>
              </a:rPr>
              <a:t>Why a bank thinks this way</a:t>
            </a:r>
            <a:endParaRPr lang="en-US" sz="1200" dirty="0"/>
          </a:p>
          <a:p>
            <a:pPr indent="0" marL="0">
              <a:buNone/>
            </a:pPr>
            <a:r>
              <a:rPr lang="en-US" sz="1250" dirty="0">
                <a:solidFill>
                  <a:srgbClr val="333333"/>
                </a:solidFill>
                <a:latin typeface="Caladea" pitchFamily="34" charset="0"/>
                <a:ea typeface="Caladea" pitchFamily="34" charset="-122"/>
                <a:cs typeface="Caladea" pitchFamily="34" charset="-120"/>
              </a:rPr>
              <a:t>A balance is a number you can argue about. A ledger is a history you cannot. If the balance and the ledger disagree, the ledger is right and something is broken — and reconciliation is how you find out before your customer does.</a:t>
            </a:r>
            <a:endParaRPr lang="en-US" sz="1200" dirty="0"/>
          </a:p>
        </p:txBody>
      </p:sp>
      <p:sp>
        <p:nvSpPr>
          <p:cNvPr id="18" name="Text 16"/>
          <p:cNvSpPr/>
          <p:nvPr/>
        </p:nvSpPr>
        <p:spPr>
          <a:xfrm>
            <a:off x="11155680" y="6446520"/>
            <a:ext cx="914400" cy="320040"/>
          </a:xfrm>
          <a:prstGeom prst="rect">
            <a:avLst/>
          </a:prstGeom>
          <a:noFill/>
          <a:ln/>
        </p:spPr>
        <p:txBody>
          <a:bodyPr wrap="square" lIns="0" tIns="0" rIns="0" bIns="0" rtlCol="0" anchor="ctr"/>
          <a:lstStyle/>
          <a:p>
            <a:pPr algn="r" indent="0" marL="0">
              <a:buNone/>
            </a:pPr>
            <a:r>
              <a:rPr lang="en-US" sz="1000" dirty="0">
                <a:solidFill>
                  <a:srgbClr val="666666"/>
                </a:solidFill>
                <a:latin typeface="Caladea" pitchFamily="34" charset="0"/>
                <a:ea typeface="Caladea" pitchFamily="34" charset="-122"/>
                <a:cs typeface="Caladea" pitchFamily="34" charset="-120"/>
              </a:rPr>
              <a:t>7 / 15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47472"/>
            <a:ext cx="10881360" cy="320040"/>
          </a:xfrm>
          <a:prstGeom prst="rect">
            <a:avLst/>
          </a:prstGeom>
          <a:noFill/>
          <a:ln/>
        </p:spPr>
        <p:txBody>
          <a:bodyPr wrap="square" lIns="0" tIns="0" rIns="0" bIns="0" rtlCol="0" anchor="ctr"/>
          <a:lstStyle/>
          <a:p>
            <a:pPr indent="0" marL="0">
              <a:buNone/>
            </a:pPr>
            <a:r>
              <a:rPr lang="en-US" sz="1300" b="1" spc="200" kern="0" dirty="0">
                <a:solidFill>
                  <a:srgbClr val="C7A052"/>
                </a:solidFill>
                <a:latin typeface="Caladea" pitchFamily="34" charset="0"/>
                <a:ea typeface="Caladea" pitchFamily="34" charset="-122"/>
                <a:cs typeface="Caladea" pitchFamily="34" charset="-120"/>
              </a:rPr>
              <a:t>TWO DATASTORES</a:t>
            </a:r>
            <a:endParaRPr lang="en-US" sz="13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D2C54"/>
                </a:solidFill>
                <a:latin typeface="Caladea" pitchFamily="34" charset="0"/>
                <a:ea typeface="Caladea" pitchFamily="34" charset="-122"/>
                <a:cs typeface="Caladea" pitchFamily="34" charset="-120"/>
              </a:rPr>
              <a:t>One tells the truth, one is allowed to forget</a:t>
            </a:r>
            <a:endParaRPr lang="en-US" sz="3000" dirty="0"/>
          </a:p>
        </p:txBody>
      </p:sp>
      <p:sp>
        <p:nvSpPr>
          <p:cNvPr id="4" name="Shape 2"/>
          <p:cNvSpPr/>
          <p:nvPr/>
        </p:nvSpPr>
        <p:spPr>
          <a:xfrm>
            <a:off x="640080" y="1645920"/>
            <a:ext cx="5349240" cy="3291840"/>
          </a:xfrm>
          <a:prstGeom prst="roundRect">
            <a:avLst>
              <a:gd name="adj" fmla="val 2222"/>
            </a:avLst>
          </a:prstGeom>
          <a:solidFill>
            <a:srgbClr val="FFFFFF"/>
          </a:solidFill>
          <a:ln w="19050">
            <a:solidFill>
              <a:srgbClr val="0D2C54"/>
            </a:solidFill>
            <a:prstDash val="solid"/>
          </a:ln>
        </p:spPr>
      </p:sp>
      <p:sp>
        <p:nvSpPr>
          <p:cNvPr id="5" name="Text 3"/>
          <p:cNvSpPr/>
          <p:nvPr/>
        </p:nvSpPr>
        <p:spPr>
          <a:xfrm>
            <a:off x="868680" y="1828800"/>
            <a:ext cx="4892040" cy="2926080"/>
          </a:xfrm>
          <a:prstGeom prst="rect">
            <a:avLst/>
          </a:prstGeom>
          <a:noFill/>
          <a:ln/>
        </p:spPr>
        <p:txBody>
          <a:bodyPr wrap="square" lIns="0" tIns="0" rIns="0" bIns="0" rtlCol="0" anchor="t"/>
          <a:lstStyle/>
          <a:p>
            <a:pPr indent="0" marL="0">
              <a:spcAft>
                <a:spcPts val="800"/>
              </a:spcAft>
              <a:buNone/>
            </a:pPr>
            <a:r>
              <a:rPr lang="en-US" sz="1600" b="1" dirty="0">
                <a:solidFill>
                  <a:srgbClr val="0D2C54"/>
                </a:solidFill>
                <a:latin typeface="Caladea" pitchFamily="34" charset="0"/>
                <a:ea typeface="Caladea" pitchFamily="34" charset="-122"/>
                <a:cs typeface="Caladea" pitchFamily="34" charset="-120"/>
              </a:rPr>
              <a:t>PostgreSQL — the system of record</a:t>
            </a:r>
            <a:endParaRPr lang="en-US" sz="1600" dirty="0"/>
          </a:p>
          <a:p>
            <a:pPr marL="342900" indent="-342900">
              <a:spcAft>
                <a:spcPts val="500"/>
              </a:spcAft>
              <a:buSzPct val="100000"/>
              <a:buChar char="•"/>
            </a:pPr>
            <a:r>
              <a:rPr lang="en-US" sz="1300" dirty="0">
                <a:solidFill>
                  <a:srgbClr val="333333"/>
                </a:solidFill>
                <a:latin typeface="Caladea" pitchFamily="34" charset="0"/>
                <a:ea typeface="Caladea" pitchFamily="34" charset="-122"/>
                <a:cs typeface="Caladea" pitchFamily="34" charset="-120"/>
              </a:rPr>
              <a:t>Accounts, mandates, payments, ledger, audit — the facts</a:t>
            </a:r>
            <a:endParaRPr lang="en-US" sz="1600" dirty="0"/>
          </a:p>
          <a:p>
            <a:pPr marL="342900" indent="-342900">
              <a:spcAft>
                <a:spcPts val="500"/>
              </a:spcAft>
              <a:buSzPct val="100000"/>
              <a:buChar char="•"/>
            </a:pPr>
            <a:r>
              <a:rPr lang="en-US" sz="1300" dirty="0">
                <a:solidFill>
                  <a:srgbClr val="333333"/>
                </a:solidFill>
                <a:latin typeface="Caladea" pitchFamily="34" charset="0"/>
                <a:ea typeface="Caladea" pitchFamily="34" charset="-122"/>
                <a:cs typeface="Caladea" pitchFamily="34" charset="-120"/>
              </a:rPr>
              <a:t>Durable: survives restarts, crashes, deploys</a:t>
            </a:r>
            <a:endParaRPr lang="en-US" sz="1600" dirty="0"/>
          </a:p>
          <a:p>
            <a:pPr marL="342900" indent="-342900">
              <a:spcAft>
                <a:spcPts val="500"/>
              </a:spcAft>
              <a:buSzPct val="100000"/>
              <a:buChar char="•"/>
            </a:pPr>
            <a:r>
              <a:rPr lang="en-US" sz="1300" dirty="0">
                <a:solidFill>
                  <a:srgbClr val="333333"/>
                </a:solidFill>
                <a:latin typeface="Caladea" pitchFamily="34" charset="0"/>
                <a:ea typeface="Caladea" pitchFamily="34" charset="-122"/>
                <a:cs typeface="Caladea" pitchFamily="34" charset="-120"/>
              </a:rPr>
              <a:t>If it's wrong here, it's wrong everywhere</a:t>
            </a:r>
            <a:endParaRPr lang="en-US" sz="1600" dirty="0"/>
          </a:p>
          <a:p>
            <a:pPr marL="342900" indent="-342900">
              <a:buSzPct val="100000"/>
              <a:buChar char="•"/>
            </a:pPr>
            <a:r>
              <a:rPr lang="en-US" sz="1300" dirty="0">
                <a:solidFill>
                  <a:srgbClr val="333333"/>
                </a:solidFill>
                <a:latin typeface="Caladea" pitchFamily="34" charset="0"/>
                <a:ea typeface="Caladea" pitchFamily="34" charset="-122"/>
                <a:cs typeface="Caladea" pitchFamily="34" charset="-120"/>
              </a:rPr>
              <a:t>Losing it means losing money — literally</a:t>
            </a:r>
            <a:endParaRPr lang="en-US" sz="1600" dirty="0"/>
          </a:p>
        </p:txBody>
      </p:sp>
      <p:sp>
        <p:nvSpPr>
          <p:cNvPr id="6" name="Shape 4"/>
          <p:cNvSpPr/>
          <p:nvPr/>
        </p:nvSpPr>
        <p:spPr>
          <a:xfrm>
            <a:off x="6217920" y="1645920"/>
            <a:ext cx="5349240" cy="3291840"/>
          </a:xfrm>
          <a:prstGeom prst="roundRect">
            <a:avLst>
              <a:gd name="adj" fmla="val 2222"/>
            </a:avLst>
          </a:prstGeom>
          <a:solidFill>
            <a:srgbClr val="FFFFFF"/>
          </a:solidFill>
          <a:ln w="19050">
            <a:solidFill>
              <a:srgbClr val="0D2C54"/>
            </a:solidFill>
            <a:prstDash val="solid"/>
          </a:ln>
        </p:spPr>
      </p:sp>
      <p:sp>
        <p:nvSpPr>
          <p:cNvPr id="7" name="Text 5"/>
          <p:cNvSpPr/>
          <p:nvPr/>
        </p:nvSpPr>
        <p:spPr>
          <a:xfrm>
            <a:off x="6446520" y="1828800"/>
            <a:ext cx="4892040" cy="2926080"/>
          </a:xfrm>
          <a:prstGeom prst="rect">
            <a:avLst/>
          </a:prstGeom>
          <a:noFill/>
          <a:ln/>
        </p:spPr>
        <p:txBody>
          <a:bodyPr wrap="square" lIns="0" tIns="0" rIns="0" bIns="0" rtlCol="0" anchor="t"/>
          <a:lstStyle/>
          <a:p>
            <a:pPr indent="0" marL="0">
              <a:spcAft>
                <a:spcPts val="800"/>
              </a:spcAft>
              <a:buNone/>
            </a:pPr>
            <a:r>
              <a:rPr lang="en-US" sz="1600" b="1" dirty="0">
                <a:solidFill>
                  <a:srgbClr val="0D2C54"/>
                </a:solidFill>
                <a:latin typeface="Caladea" pitchFamily="34" charset="0"/>
                <a:ea typeface="Caladea" pitchFamily="34" charset="-122"/>
                <a:cs typeface="Caladea" pitchFamily="34" charset="-120"/>
              </a:rPr>
              <a:t>Redis — fast, and allowed to forget</a:t>
            </a:r>
            <a:endParaRPr lang="en-US" sz="1600" dirty="0"/>
          </a:p>
          <a:p>
            <a:pPr marL="342900" indent="-342900">
              <a:spcAft>
                <a:spcPts val="500"/>
              </a:spcAft>
              <a:buSzPct val="100000"/>
              <a:buChar char="•"/>
            </a:pPr>
            <a:r>
              <a:rPr lang="en-US" sz="1300" dirty="0">
                <a:solidFill>
                  <a:srgbClr val="333333"/>
                </a:solidFill>
                <a:latin typeface="Caladea" pitchFamily="34" charset="0"/>
                <a:ea typeface="Caladea" pitchFamily="34" charset="-122"/>
                <a:cs typeface="Caladea" pitchFamily="34" charset="-120"/>
              </a:rPr>
              <a:t>Cache: mandate lookups served from memory instead of hitting Postgres every time</a:t>
            </a:r>
            <a:endParaRPr lang="en-US" sz="1600" dirty="0"/>
          </a:p>
          <a:p>
            <a:pPr marL="342900" indent="-342900">
              <a:spcAft>
                <a:spcPts val="500"/>
              </a:spcAft>
              <a:buSzPct val="100000"/>
              <a:buChar char="•"/>
            </a:pPr>
            <a:r>
              <a:rPr lang="en-US" sz="1300" dirty="0">
                <a:solidFill>
                  <a:srgbClr val="333333"/>
                </a:solidFill>
                <a:latin typeface="Caladea" pitchFamily="34" charset="0"/>
                <a:ea typeface="Caladea" pitchFamily="34" charset="-122"/>
                <a:cs typeface="Caladea" pitchFamily="34" charset="-120"/>
              </a:rPr>
              <a:t>Queue: queue:settlement, the job list the worker drains</a:t>
            </a:r>
            <a:endParaRPr lang="en-US" sz="1600" dirty="0"/>
          </a:p>
          <a:p>
            <a:pPr marL="342900" indent="-342900">
              <a:spcAft>
                <a:spcPts val="500"/>
              </a:spcAft>
              <a:buSzPct val="100000"/>
              <a:buChar char="•"/>
            </a:pPr>
            <a:r>
              <a:rPr lang="en-US" sz="1300" dirty="0">
                <a:solidFill>
                  <a:srgbClr val="333333"/>
                </a:solidFill>
                <a:latin typeface="Caladea" pitchFamily="34" charset="0"/>
                <a:ea typeface="Caladea" pitchFamily="34" charset="-122"/>
                <a:cs typeface="Caladea" pitchFamily="34" charset="-120"/>
              </a:rPr>
              <a:t>Losing the cache costs speed, not truth — it refills itself</a:t>
            </a:r>
            <a:endParaRPr lang="en-US" sz="1600" dirty="0"/>
          </a:p>
          <a:p>
            <a:pPr marL="342900" indent="-342900">
              <a:buSzPct val="100000"/>
              <a:buChar char="•"/>
            </a:pPr>
            <a:r>
              <a:rPr lang="en-US" sz="1300" dirty="0">
                <a:solidFill>
                  <a:srgbClr val="A23B3B"/>
                </a:solidFill>
                <a:latin typeface="Caladea" pitchFamily="34" charset="0"/>
                <a:ea typeface="Caladea" pitchFamily="34" charset="-122"/>
                <a:cs typeface="Caladea" pitchFamily="34" charset="-120"/>
              </a:rPr>
              <a:t>Losing the queue is different: those payments were accepted but never settled</a:t>
            </a:r>
            <a:endParaRPr lang="en-US" sz="1600" dirty="0"/>
          </a:p>
        </p:txBody>
      </p:sp>
      <p:sp>
        <p:nvSpPr>
          <p:cNvPr id="8" name="Shape 6"/>
          <p:cNvSpPr/>
          <p:nvPr/>
        </p:nvSpPr>
        <p:spPr>
          <a:xfrm>
            <a:off x="640080" y="5257800"/>
            <a:ext cx="10881360" cy="1188720"/>
          </a:xfrm>
          <a:prstGeom prst="roundRect">
            <a:avLst>
              <a:gd name="adj" fmla="val 6154"/>
            </a:avLst>
          </a:prstGeom>
          <a:solidFill>
            <a:srgbClr val="F4ECD8"/>
          </a:solidFill>
          <a:ln w="12700">
            <a:solidFill>
              <a:srgbClr val="C7A052"/>
            </a:solidFill>
            <a:prstDash val="solid"/>
          </a:ln>
        </p:spPr>
      </p:sp>
      <p:sp>
        <p:nvSpPr>
          <p:cNvPr id="9" name="Text 7"/>
          <p:cNvSpPr/>
          <p:nvPr/>
        </p:nvSpPr>
        <p:spPr>
          <a:xfrm>
            <a:off x="804672" y="5367528"/>
            <a:ext cx="10552176" cy="969264"/>
          </a:xfrm>
          <a:prstGeom prst="rect">
            <a:avLst/>
          </a:prstGeom>
          <a:noFill/>
          <a:ln/>
        </p:spPr>
        <p:txBody>
          <a:bodyPr wrap="square" lIns="0" tIns="0" rIns="0" bIns="0" rtlCol="0" anchor="t"/>
          <a:lstStyle/>
          <a:p>
            <a:pPr indent="0" marL="0">
              <a:buNone/>
            </a:pPr>
            <a:r>
              <a:rPr lang="en-US" sz="1200" b="1" dirty="0">
                <a:solidFill>
                  <a:srgbClr val="0D2C54"/>
                </a:solidFill>
                <a:latin typeface="Caladea" pitchFamily="34" charset="0"/>
                <a:ea typeface="Caladea" pitchFamily="34" charset="-122"/>
                <a:cs typeface="Caladea" pitchFamily="34" charset="-120"/>
              </a:rPr>
              <a:t>See it yourself</a:t>
            </a:r>
            <a:endParaRPr lang="en-US" sz="1200" dirty="0"/>
          </a:p>
          <a:p>
            <a:pPr indent="0" marL="0">
              <a:buNone/>
            </a:pPr>
            <a:r>
              <a:rPr lang="en-US" sz="1250" dirty="0">
                <a:solidFill>
                  <a:srgbClr val="333333"/>
                </a:solidFill>
                <a:latin typeface="Caladea" pitchFamily="34" charset="0"/>
                <a:ea typeface="Caladea" pitchFamily="34" charset="-122"/>
                <a:cs typeface="Caladea" pitchFamily="34" charset="-120"/>
              </a:rPr>
              <a:t>Call GET /mandates/MND-5001 twice. The first response says _source: db. The second says _source: cache. That is a real cache hit, and it is the difference between a query and a memory read. Wait 60 seconds — the TTL expires and it says db again.</a:t>
            </a:r>
            <a:endParaRPr lang="en-US" sz="1200" dirty="0"/>
          </a:p>
        </p:txBody>
      </p:sp>
      <p:sp>
        <p:nvSpPr>
          <p:cNvPr id="10" name="Text 8"/>
          <p:cNvSpPr/>
          <p:nvPr/>
        </p:nvSpPr>
        <p:spPr>
          <a:xfrm>
            <a:off x="11155680" y="6446520"/>
            <a:ext cx="914400" cy="320040"/>
          </a:xfrm>
          <a:prstGeom prst="rect">
            <a:avLst/>
          </a:prstGeom>
          <a:noFill/>
          <a:ln/>
        </p:spPr>
        <p:txBody>
          <a:bodyPr wrap="square" lIns="0" tIns="0" rIns="0" bIns="0" rtlCol="0" anchor="ctr"/>
          <a:lstStyle/>
          <a:p>
            <a:pPr algn="r" indent="0" marL="0">
              <a:buNone/>
            </a:pPr>
            <a:r>
              <a:rPr lang="en-US" sz="1000" dirty="0">
                <a:solidFill>
                  <a:srgbClr val="666666"/>
                </a:solidFill>
                <a:latin typeface="Caladea" pitchFamily="34" charset="0"/>
                <a:ea typeface="Caladea" pitchFamily="34" charset="-122"/>
                <a:cs typeface="Caladea" pitchFamily="34" charset="-120"/>
              </a:rPr>
              <a:t>8 / 15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47472"/>
            <a:ext cx="10881360" cy="320040"/>
          </a:xfrm>
          <a:prstGeom prst="rect">
            <a:avLst/>
          </a:prstGeom>
          <a:noFill/>
          <a:ln/>
        </p:spPr>
        <p:txBody>
          <a:bodyPr wrap="square" lIns="0" tIns="0" rIns="0" bIns="0" rtlCol="0" anchor="ctr"/>
          <a:lstStyle/>
          <a:p>
            <a:pPr indent="0" marL="0">
              <a:buNone/>
            </a:pPr>
            <a:r>
              <a:rPr lang="en-US" sz="1300" b="1" spc="200" kern="0" dirty="0">
                <a:solidFill>
                  <a:srgbClr val="C7A052"/>
                </a:solidFill>
                <a:latin typeface="Caladea" pitchFamily="34" charset="0"/>
                <a:ea typeface="Caladea" pitchFamily="34" charset="-122"/>
                <a:cs typeface="Caladea" pitchFamily="34" charset="-120"/>
              </a:rPr>
              <a:t>WHERE PAYLANE IS TODAY</a:t>
            </a:r>
            <a:endParaRPr lang="en-US" sz="13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D2C54"/>
                </a:solidFill>
                <a:latin typeface="Caladea" pitchFamily="34" charset="0"/>
                <a:ea typeface="Caladea" pitchFamily="34" charset="-122"/>
                <a:cs typeface="Caladea" pitchFamily="34" charset="-120"/>
              </a:rPr>
              <a:t>Five processes and a shell script</a:t>
            </a:r>
            <a:endParaRPr lang="en-US" sz="3000" dirty="0"/>
          </a:p>
        </p:txBody>
      </p:sp>
      <p:sp>
        <p:nvSpPr>
          <p:cNvPr id="4" name="Shape 2"/>
          <p:cNvSpPr/>
          <p:nvPr/>
        </p:nvSpPr>
        <p:spPr>
          <a:xfrm>
            <a:off x="731520" y="1737360"/>
            <a:ext cx="5486400" cy="4114800"/>
          </a:xfrm>
          <a:prstGeom prst="roundRect">
            <a:avLst>
              <a:gd name="adj" fmla="val 1778"/>
            </a:avLst>
          </a:prstGeom>
          <a:solidFill>
            <a:srgbClr val="FFFFFF"/>
          </a:solidFill>
          <a:ln w="19050">
            <a:solidFill>
              <a:srgbClr val="0D2C54"/>
            </a:solidFill>
            <a:prstDash val="dash"/>
          </a:ln>
        </p:spPr>
      </p:sp>
      <p:sp>
        <p:nvSpPr>
          <p:cNvPr id="5" name="Text 3"/>
          <p:cNvSpPr/>
          <p:nvPr/>
        </p:nvSpPr>
        <p:spPr>
          <a:xfrm>
            <a:off x="960120" y="1874520"/>
            <a:ext cx="5029200" cy="320040"/>
          </a:xfrm>
          <a:prstGeom prst="rect">
            <a:avLst/>
          </a:prstGeom>
          <a:noFill/>
          <a:ln/>
        </p:spPr>
        <p:txBody>
          <a:bodyPr wrap="square" lIns="0" tIns="0" rIns="0" bIns="0" rtlCol="0" anchor="ctr"/>
          <a:lstStyle/>
          <a:p>
            <a:pPr indent="0" marL="0">
              <a:buNone/>
            </a:pPr>
            <a:r>
              <a:rPr lang="en-US" sz="1300" b="1" dirty="0">
                <a:solidFill>
                  <a:srgbClr val="0D2C54"/>
                </a:solidFill>
                <a:latin typeface="Caladea" pitchFamily="34" charset="0"/>
                <a:ea typeface="Caladea" pitchFamily="34" charset="-122"/>
                <a:cs typeface="Caladea" pitchFamily="34" charset="-120"/>
              </a:rPr>
              <a:t>Host processes  ·  started by start-s1.sh</a:t>
            </a:r>
            <a:endParaRPr lang="en-US" sz="1300" dirty="0"/>
          </a:p>
        </p:txBody>
      </p:sp>
      <p:sp>
        <p:nvSpPr>
          <p:cNvPr id="6" name="Shape 4"/>
          <p:cNvSpPr/>
          <p:nvPr/>
        </p:nvSpPr>
        <p:spPr>
          <a:xfrm>
            <a:off x="1005840" y="2377440"/>
            <a:ext cx="2377440" cy="594360"/>
          </a:xfrm>
          <a:prstGeom prst="roundRect">
            <a:avLst>
              <a:gd name="adj" fmla="val 9231"/>
            </a:avLst>
          </a:prstGeom>
          <a:solidFill>
            <a:srgbClr val="FFFFFF"/>
          </a:solidFill>
          <a:ln w="19050">
            <a:solidFill>
              <a:srgbClr val="0D2C54"/>
            </a:solidFill>
            <a:prstDash val="solid"/>
          </a:ln>
        </p:spPr>
      </p:sp>
      <p:sp>
        <p:nvSpPr>
          <p:cNvPr id="7" name="Text 5"/>
          <p:cNvSpPr/>
          <p:nvPr/>
        </p:nvSpPr>
        <p:spPr>
          <a:xfrm>
            <a:off x="1005840" y="2377440"/>
            <a:ext cx="2377440" cy="594360"/>
          </a:xfrm>
          <a:prstGeom prst="rect">
            <a:avLst/>
          </a:prstGeom>
          <a:noFill/>
          <a:ln/>
        </p:spPr>
        <p:txBody>
          <a:bodyPr wrap="square" lIns="508" tIns="508" rIns="508" bIns="508" rtlCol="0" anchor="ctr"/>
          <a:lstStyle/>
          <a:p>
            <a:pPr algn="ctr" indent="0" marL="0">
              <a:buNone/>
            </a:pPr>
            <a:r>
              <a:rPr lang="en-US" sz="1050" b="1" dirty="0">
                <a:solidFill>
                  <a:srgbClr val="0D2C54"/>
                </a:solidFill>
                <a:latin typeface="DejaVu Sans Mono" pitchFamily="34" charset="0"/>
                <a:ea typeface="DejaVu Sans Mono" pitchFamily="34" charset="-122"/>
                <a:cs typeface="DejaVu Sans Mono" pitchFamily="34" charset="-120"/>
              </a:rPr>
              <a:t>portal</a:t>
            </a:r>
            <a:endParaRPr lang="en-US" sz="1050" dirty="0"/>
          </a:p>
          <a:p>
            <a:pPr algn="ctr" indent="0" marL="0">
              <a:buNone/>
            </a:pPr>
            <a:r>
              <a:rPr lang="en-US" sz="900" dirty="0">
                <a:solidFill>
                  <a:srgbClr val="666666"/>
                </a:solidFill>
                <a:latin typeface="Caladea" pitchFamily="34" charset="0"/>
                <a:ea typeface="Caladea" pitchFamily="34" charset="-122"/>
                <a:cs typeface="Caladea" pitchFamily="34" charset="-120"/>
              </a:rPr>
              <a:t>:3000</a:t>
            </a:r>
            <a:endParaRPr lang="en-US" sz="1050" dirty="0"/>
          </a:p>
        </p:txBody>
      </p:sp>
      <p:sp>
        <p:nvSpPr>
          <p:cNvPr id="8" name="Shape 6"/>
          <p:cNvSpPr/>
          <p:nvPr/>
        </p:nvSpPr>
        <p:spPr>
          <a:xfrm>
            <a:off x="3611880" y="2377440"/>
            <a:ext cx="2377440" cy="594360"/>
          </a:xfrm>
          <a:prstGeom prst="roundRect">
            <a:avLst>
              <a:gd name="adj" fmla="val 9231"/>
            </a:avLst>
          </a:prstGeom>
          <a:solidFill>
            <a:srgbClr val="FFFFFF"/>
          </a:solidFill>
          <a:ln w="19050">
            <a:solidFill>
              <a:srgbClr val="0D2C54"/>
            </a:solidFill>
            <a:prstDash val="solid"/>
          </a:ln>
        </p:spPr>
      </p:sp>
      <p:sp>
        <p:nvSpPr>
          <p:cNvPr id="9" name="Text 7"/>
          <p:cNvSpPr/>
          <p:nvPr/>
        </p:nvSpPr>
        <p:spPr>
          <a:xfrm>
            <a:off x="3611880" y="2377440"/>
            <a:ext cx="2377440" cy="594360"/>
          </a:xfrm>
          <a:prstGeom prst="rect">
            <a:avLst/>
          </a:prstGeom>
          <a:noFill/>
          <a:ln/>
        </p:spPr>
        <p:txBody>
          <a:bodyPr wrap="square" lIns="508" tIns="508" rIns="508" bIns="508" rtlCol="0" anchor="ctr"/>
          <a:lstStyle/>
          <a:p>
            <a:pPr algn="ctr" indent="0" marL="0">
              <a:buNone/>
            </a:pPr>
            <a:r>
              <a:rPr lang="en-US" sz="1050" b="1" dirty="0">
                <a:solidFill>
                  <a:srgbClr val="0D2C54"/>
                </a:solidFill>
                <a:latin typeface="DejaVu Sans Mono" pitchFamily="34" charset="0"/>
                <a:ea typeface="DejaVu Sans Mono" pitchFamily="34" charset="-122"/>
                <a:cs typeface="DejaVu Sans Mono" pitchFamily="34" charset="-120"/>
              </a:rPr>
              <a:t>mandate-svc</a:t>
            </a:r>
            <a:endParaRPr lang="en-US" sz="1050" dirty="0"/>
          </a:p>
          <a:p>
            <a:pPr algn="ctr" indent="0" marL="0">
              <a:buNone/>
            </a:pPr>
            <a:r>
              <a:rPr lang="en-US" sz="900" dirty="0">
                <a:solidFill>
                  <a:srgbClr val="666666"/>
                </a:solidFill>
                <a:latin typeface="Caladea" pitchFamily="34" charset="0"/>
                <a:ea typeface="Caladea" pitchFamily="34" charset="-122"/>
                <a:cs typeface="Caladea" pitchFamily="34" charset="-120"/>
              </a:rPr>
              <a:t>:3001</a:t>
            </a:r>
            <a:endParaRPr lang="en-US" sz="1050" dirty="0"/>
          </a:p>
        </p:txBody>
      </p:sp>
      <p:sp>
        <p:nvSpPr>
          <p:cNvPr id="10" name="Shape 8"/>
          <p:cNvSpPr/>
          <p:nvPr/>
        </p:nvSpPr>
        <p:spPr>
          <a:xfrm>
            <a:off x="1005840" y="3200400"/>
            <a:ext cx="2377440" cy="594360"/>
          </a:xfrm>
          <a:prstGeom prst="roundRect">
            <a:avLst>
              <a:gd name="adj" fmla="val 9231"/>
            </a:avLst>
          </a:prstGeom>
          <a:solidFill>
            <a:srgbClr val="FFFFFF"/>
          </a:solidFill>
          <a:ln w="19050">
            <a:solidFill>
              <a:srgbClr val="0D2C54"/>
            </a:solidFill>
            <a:prstDash val="solid"/>
          </a:ln>
        </p:spPr>
      </p:sp>
      <p:sp>
        <p:nvSpPr>
          <p:cNvPr id="11" name="Text 9"/>
          <p:cNvSpPr/>
          <p:nvPr/>
        </p:nvSpPr>
        <p:spPr>
          <a:xfrm>
            <a:off x="1005840" y="3200400"/>
            <a:ext cx="2377440" cy="594360"/>
          </a:xfrm>
          <a:prstGeom prst="rect">
            <a:avLst/>
          </a:prstGeom>
          <a:noFill/>
          <a:ln/>
        </p:spPr>
        <p:txBody>
          <a:bodyPr wrap="square" lIns="508" tIns="508" rIns="508" bIns="508" rtlCol="0" anchor="ctr"/>
          <a:lstStyle/>
          <a:p>
            <a:pPr algn="ctr" indent="0" marL="0">
              <a:buNone/>
            </a:pPr>
            <a:r>
              <a:rPr lang="en-US" sz="1050" b="1" dirty="0">
                <a:solidFill>
                  <a:srgbClr val="0D2C54"/>
                </a:solidFill>
                <a:latin typeface="DejaVu Sans Mono" pitchFamily="34" charset="0"/>
                <a:ea typeface="DejaVu Sans Mono" pitchFamily="34" charset="-122"/>
                <a:cs typeface="DejaVu Sans Mono" pitchFamily="34" charset="-120"/>
              </a:rPr>
              <a:t>payment-svc</a:t>
            </a:r>
            <a:endParaRPr lang="en-US" sz="1050" dirty="0"/>
          </a:p>
          <a:p>
            <a:pPr algn="ctr" indent="0" marL="0">
              <a:buNone/>
            </a:pPr>
            <a:r>
              <a:rPr lang="en-US" sz="900" dirty="0">
                <a:solidFill>
                  <a:srgbClr val="666666"/>
                </a:solidFill>
                <a:latin typeface="Caladea" pitchFamily="34" charset="0"/>
                <a:ea typeface="Caladea" pitchFamily="34" charset="-122"/>
                <a:cs typeface="Caladea" pitchFamily="34" charset="-120"/>
              </a:rPr>
              <a:t>:3002</a:t>
            </a:r>
            <a:endParaRPr lang="en-US" sz="1050" dirty="0"/>
          </a:p>
        </p:txBody>
      </p:sp>
      <p:sp>
        <p:nvSpPr>
          <p:cNvPr id="12" name="Shape 10"/>
          <p:cNvSpPr/>
          <p:nvPr/>
        </p:nvSpPr>
        <p:spPr>
          <a:xfrm>
            <a:off x="3611880" y="3200400"/>
            <a:ext cx="2377440" cy="594360"/>
          </a:xfrm>
          <a:prstGeom prst="roundRect">
            <a:avLst>
              <a:gd name="adj" fmla="val 9231"/>
            </a:avLst>
          </a:prstGeom>
          <a:solidFill>
            <a:srgbClr val="FFFFFF"/>
          </a:solidFill>
          <a:ln w="19050">
            <a:solidFill>
              <a:srgbClr val="0D2C54"/>
            </a:solidFill>
            <a:prstDash val="solid"/>
          </a:ln>
        </p:spPr>
      </p:sp>
      <p:sp>
        <p:nvSpPr>
          <p:cNvPr id="13" name="Text 11"/>
          <p:cNvSpPr/>
          <p:nvPr/>
        </p:nvSpPr>
        <p:spPr>
          <a:xfrm>
            <a:off x="3611880" y="3200400"/>
            <a:ext cx="2377440" cy="594360"/>
          </a:xfrm>
          <a:prstGeom prst="rect">
            <a:avLst/>
          </a:prstGeom>
          <a:noFill/>
          <a:ln/>
        </p:spPr>
        <p:txBody>
          <a:bodyPr wrap="square" lIns="508" tIns="508" rIns="508" bIns="508" rtlCol="0" anchor="ctr"/>
          <a:lstStyle/>
          <a:p>
            <a:pPr algn="ctr" indent="0" marL="0">
              <a:buNone/>
            </a:pPr>
            <a:r>
              <a:rPr lang="en-US" sz="1050" b="1" dirty="0">
                <a:solidFill>
                  <a:srgbClr val="0D2C54"/>
                </a:solidFill>
                <a:latin typeface="DejaVu Sans Mono" pitchFamily="34" charset="0"/>
                <a:ea typeface="DejaVu Sans Mono" pitchFamily="34" charset="-122"/>
                <a:cs typeface="DejaVu Sans Mono" pitchFamily="34" charset="-120"/>
              </a:rPr>
              <a:t>ledger-svc</a:t>
            </a:r>
            <a:endParaRPr lang="en-US" sz="1050" dirty="0"/>
          </a:p>
          <a:p>
            <a:pPr algn="ctr" indent="0" marL="0">
              <a:buNone/>
            </a:pPr>
            <a:r>
              <a:rPr lang="en-US" sz="900" dirty="0">
                <a:solidFill>
                  <a:srgbClr val="666666"/>
                </a:solidFill>
                <a:latin typeface="Caladea" pitchFamily="34" charset="0"/>
                <a:ea typeface="Caladea" pitchFamily="34" charset="-122"/>
                <a:cs typeface="Caladea" pitchFamily="34" charset="-120"/>
              </a:rPr>
              <a:t>:3003</a:t>
            </a:r>
            <a:endParaRPr lang="en-US" sz="1050" dirty="0"/>
          </a:p>
        </p:txBody>
      </p:sp>
      <p:sp>
        <p:nvSpPr>
          <p:cNvPr id="14" name="Shape 12"/>
          <p:cNvSpPr/>
          <p:nvPr/>
        </p:nvSpPr>
        <p:spPr>
          <a:xfrm>
            <a:off x="1005840" y="4023360"/>
            <a:ext cx="2377440" cy="594360"/>
          </a:xfrm>
          <a:prstGeom prst="roundRect">
            <a:avLst>
              <a:gd name="adj" fmla="val 9231"/>
            </a:avLst>
          </a:prstGeom>
          <a:solidFill>
            <a:srgbClr val="FFFFFF"/>
          </a:solidFill>
          <a:ln w="19050">
            <a:solidFill>
              <a:srgbClr val="0D2C54"/>
            </a:solidFill>
            <a:prstDash val="solid"/>
          </a:ln>
        </p:spPr>
      </p:sp>
      <p:sp>
        <p:nvSpPr>
          <p:cNvPr id="15" name="Text 13"/>
          <p:cNvSpPr/>
          <p:nvPr/>
        </p:nvSpPr>
        <p:spPr>
          <a:xfrm>
            <a:off x="1005840" y="4023360"/>
            <a:ext cx="2377440" cy="594360"/>
          </a:xfrm>
          <a:prstGeom prst="rect">
            <a:avLst/>
          </a:prstGeom>
          <a:noFill/>
          <a:ln/>
        </p:spPr>
        <p:txBody>
          <a:bodyPr wrap="square" lIns="508" tIns="508" rIns="508" bIns="508" rtlCol="0" anchor="ctr"/>
          <a:lstStyle/>
          <a:p>
            <a:pPr algn="ctr" indent="0" marL="0">
              <a:buNone/>
            </a:pPr>
            <a:r>
              <a:rPr lang="en-US" sz="950" b="1" dirty="0">
                <a:solidFill>
                  <a:srgbClr val="0D2C54"/>
                </a:solidFill>
                <a:latin typeface="DejaVu Sans Mono" pitchFamily="34" charset="0"/>
                <a:ea typeface="DejaVu Sans Mono" pitchFamily="34" charset="-122"/>
                <a:cs typeface="DejaVu Sans Mono" pitchFamily="34" charset="-120"/>
              </a:rPr>
              <a:t>settlement-worker</a:t>
            </a:r>
            <a:endParaRPr lang="en-US" sz="950" dirty="0"/>
          </a:p>
        </p:txBody>
      </p:sp>
      <p:sp>
        <p:nvSpPr>
          <p:cNvPr id="16" name="Text 14"/>
          <p:cNvSpPr/>
          <p:nvPr/>
        </p:nvSpPr>
        <p:spPr>
          <a:xfrm>
            <a:off x="960120" y="4892040"/>
            <a:ext cx="5029200" cy="457200"/>
          </a:xfrm>
          <a:prstGeom prst="rect">
            <a:avLst/>
          </a:prstGeom>
          <a:noFill/>
          <a:ln/>
        </p:spPr>
        <p:txBody>
          <a:bodyPr wrap="square" lIns="0" tIns="0" rIns="0" bIns="0" rtlCol="0" anchor="ctr"/>
          <a:lstStyle/>
          <a:p>
            <a:pPr indent="0" marL="0">
              <a:buNone/>
            </a:pPr>
            <a:r>
              <a:rPr lang="en-US" sz="1000" dirty="0">
                <a:solidFill>
                  <a:srgbClr val="666666"/>
                </a:solidFill>
                <a:latin typeface="DejaVu Sans Mono" pitchFamily="34" charset="0"/>
                <a:ea typeface="DejaVu Sans Mono" pitchFamily="34" charset="-122"/>
                <a:cs typeface="DejaVu Sans Mono" pitchFamily="34" charset="-120"/>
              </a:rPr>
              <a:t>PIDs in .pids/ · logs in logs/ · venvs on disk</a:t>
            </a:r>
            <a:endParaRPr lang="en-US" sz="1000" dirty="0"/>
          </a:p>
        </p:txBody>
      </p:sp>
      <p:sp>
        <p:nvSpPr>
          <p:cNvPr id="17" name="Text 15"/>
          <p:cNvSpPr/>
          <p:nvPr/>
        </p:nvSpPr>
        <p:spPr>
          <a:xfrm>
            <a:off x="960120" y="5303520"/>
            <a:ext cx="5029200" cy="365760"/>
          </a:xfrm>
          <a:prstGeom prst="rect">
            <a:avLst/>
          </a:prstGeom>
          <a:noFill/>
          <a:ln/>
        </p:spPr>
        <p:txBody>
          <a:bodyPr wrap="square" lIns="0" tIns="0" rIns="0" bIns="0" rtlCol="0" anchor="ctr"/>
          <a:lstStyle/>
          <a:p>
            <a:pPr indent="0" marL="0">
              <a:buNone/>
            </a:pPr>
            <a:r>
              <a:rPr lang="en-US" sz="1100" b="1" i="1" dirty="0">
                <a:solidFill>
                  <a:srgbClr val="C7A052"/>
                </a:solidFill>
                <a:latin typeface="Caladea" pitchFamily="34" charset="0"/>
                <a:ea typeface="Caladea" pitchFamily="34" charset="-122"/>
                <a:cs typeface="Caladea" pitchFamily="34" charset="-120"/>
              </a:rPr>
              <a:t>~425 MB of RAM, measured</a:t>
            </a:r>
            <a:endParaRPr lang="en-US" sz="1100" dirty="0"/>
          </a:p>
        </p:txBody>
      </p:sp>
      <p:sp>
        <p:nvSpPr>
          <p:cNvPr id="18" name="Shape 16"/>
          <p:cNvSpPr/>
          <p:nvPr/>
        </p:nvSpPr>
        <p:spPr>
          <a:xfrm>
            <a:off x="6675120" y="1737360"/>
            <a:ext cx="4754880" cy="4114800"/>
          </a:xfrm>
          <a:prstGeom prst="roundRect">
            <a:avLst>
              <a:gd name="adj" fmla="val 1778"/>
            </a:avLst>
          </a:prstGeom>
          <a:solidFill>
            <a:srgbClr val="F4ECD8"/>
          </a:solidFill>
          <a:ln w="19050">
            <a:solidFill>
              <a:srgbClr val="C7A052"/>
            </a:solidFill>
            <a:prstDash val="solid"/>
          </a:ln>
        </p:spPr>
      </p:sp>
      <p:sp>
        <p:nvSpPr>
          <p:cNvPr id="19" name="Text 17"/>
          <p:cNvSpPr/>
          <p:nvPr/>
        </p:nvSpPr>
        <p:spPr>
          <a:xfrm>
            <a:off x="6903720" y="1874520"/>
            <a:ext cx="4297680" cy="320040"/>
          </a:xfrm>
          <a:prstGeom prst="rect">
            <a:avLst/>
          </a:prstGeom>
          <a:noFill/>
          <a:ln/>
        </p:spPr>
        <p:txBody>
          <a:bodyPr wrap="square" lIns="0" tIns="0" rIns="0" bIns="0" rtlCol="0" anchor="ctr"/>
          <a:lstStyle/>
          <a:p>
            <a:pPr indent="0" marL="0">
              <a:buNone/>
            </a:pPr>
            <a:r>
              <a:rPr lang="en-US" sz="1300" b="1" dirty="0">
                <a:solidFill>
                  <a:srgbClr val="0D2C54"/>
                </a:solidFill>
                <a:latin typeface="Caladea" pitchFamily="34" charset="0"/>
                <a:ea typeface="Caladea" pitchFamily="34" charset="-122"/>
                <a:cs typeface="Caladea" pitchFamily="34" charset="-120"/>
              </a:rPr>
              <a:t>Containers  ·  docker compose</a:t>
            </a:r>
            <a:endParaRPr lang="en-US" sz="1300" dirty="0"/>
          </a:p>
        </p:txBody>
      </p:sp>
      <p:sp>
        <p:nvSpPr>
          <p:cNvPr id="20" name="Shape 18"/>
          <p:cNvSpPr/>
          <p:nvPr/>
        </p:nvSpPr>
        <p:spPr>
          <a:xfrm>
            <a:off x="6949440" y="2377440"/>
            <a:ext cx="4114800" cy="594360"/>
          </a:xfrm>
          <a:prstGeom prst="roundRect">
            <a:avLst>
              <a:gd name="adj" fmla="val 9231"/>
            </a:avLst>
          </a:prstGeom>
          <a:solidFill>
            <a:srgbClr val="FFFFFF"/>
          </a:solidFill>
          <a:ln w="19050">
            <a:solidFill>
              <a:srgbClr val="0D2C54"/>
            </a:solidFill>
            <a:prstDash val="solid"/>
          </a:ln>
        </p:spPr>
      </p:sp>
      <p:sp>
        <p:nvSpPr>
          <p:cNvPr id="21" name="Text 19"/>
          <p:cNvSpPr/>
          <p:nvPr/>
        </p:nvSpPr>
        <p:spPr>
          <a:xfrm>
            <a:off x="6949440" y="2377440"/>
            <a:ext cx="4114800" cy="594360"/>
          </a:xfrm>
          <a:prstGeom prst="rect">
            <a:avLst/>
          </a:prstGeom>
          <a:noFill/>
          <a:ln/>
        </p:spPr>
        <p:txBody>
          <a:bodyPr wrap="square" lIns="508" tIns="508" rIns="508" bIns="508" rtlCol="0" anchor="ctr"/>
          <a:lstStyle/>
          <a:p>
            <a:pPr algn="ctr" indent="0" marL="0">
              <a:buNone/>
            </a:pPr>
            <a:r>
              <a:rPr lang="en-US" sz="1050" b="1" dirty="0">
                <a:solidFill>
                  <a:srgbClr val="0D2C54"/>
                </a:solidFill>
                <a:latin typeface="DejaVu Sans Mono" pitchFamily="34" charset="0"/>
                <a:ea typeface="DejaVu Sans Mono" pitchFamily="34" charset="-122"/>
                <a:cs typeface="DejaVu Sans Mono" pitchFamily="34" charset="-120"/>
              </a:rPr>
              <a:t>postgres · redis</a:t>
            </a:r>
            <a:endParaRPr lang="en-US" sz="1050" dirty="0"/>
          </a:p>
          <a:p>
            <a:pPr algn="ctr" indent="0" marL="0">
              <a:buNone/>
            </a:pPr>
            <a:r>
              <a:rPr lang="en-US" sz="900" dirty="0">
                <a:solidFill>
                  <a:srgbClr val="666666"/>
                </a:solidFill>
                <a:latin typeface="Caladea" pitchFamily="34" charset="0"/>
                <a:ea typeface="Caladea" pitchFamily="34" charset="-122"/>
                <a:cs typeface="Caladea" pitchFamily="34" charset="-120"/>
              </a:rPr>
              <a:t>the datastores</a:t>
            </a:r>
            <a:endParaRPr lang="en-US" sz="1050" dirty="0"/>
          </a:p>
        </p:txBody>
      </p:sp>
      <p:sp>
        <p:nvSpPr>
          <p:cNvPr id="22" name="Text 20"/>
          <p:cNvSpPr/>
          <p:nvPr/>
        </p:nvSpPr>
        <p:spPr>
          <a:xfrm>
            <a:off x="6949440" y="3200400"/>
            <a:ext cx="4206240" cy="1463040"/>
          </a:xfrm>
          <a:prstGeom prst="rect">
            <a:avLst/>
          </a:prstGeom>
          <a:noFill/>
          <a:ln/>
        </p:spPr>
        <p:txBody>
          <a:bodyPr wrap="square" lIns="0" tIns="0" rIns="0" bIns="0" rtlCol="0" anchor="ctr"/>
          <a:lstStyle/>
          <a:p>
            <a:pPr indent="0" marL="0">
              <a:buNone/>
            </a:pPr>
            <a:r>
              <a:rPr lang="en-US" sz="1250" dirty="0">
                <a:solidFill>
                  <a:srgbClr val="333333"/>
                </a:solidFill>
                <a:latin typeface="Caladea" pitchFamily="34" charset="0"/>
                <a:ea typeface="Caladea" pitchFamily="34" charset="-122"/>
                <a:cs typeface="Caladea" pitchFamily="34" charset="-120"/>
              </a:rPr>
              <a:t>Off-the-shelf software already ships as images.</a:t>
            </a:r>
            <a:endParaRPr lang="en-US" sz="1250" dirty="0"/>
          </a:p>
          <a:p>
            <a:pPr indent="0" marL="0">
              <a:buNone/>
            </a:pPr>
            <a:r>
              <a:rPr lang="en-US" sz="1250" dirty="0">
                <a:solidFill>
                  <a:srgbClr val="333333"/>
                </a:solidFill>
                <a:latin typeface="Caladea" pitchFamily="34" charset="0"/>
                <a:ea typeface="Caladea" pitchFamily="34" charset="-122"/>
                <a:cs typeface="Caladea" pitchFamily="34" charset="-120"/>
              </a:rPr>
              <a:t>Only paylane's own code doesn't — yet.</a:t>
            </a:r>
            <a:endParaRPr lang="en-US" sz="1250" dirty="0"/>
          </a:p>
          <a:p>
            <a:pPr indent="0" marL="0">
              <a:buNone/>
            </a:pPr>
            <a:endParaRPr lang="en-US" sz="1250" dirty="0"/>
          </a:p>
          <a:p>
            <a:pPr indent="0" marL="0">
              <a:buNone/>
            </a:pPr>
            <a:r>
              <a:rPr lang="en-US" sz="1250" dirty="0">
                <a:solidFill>
                  <a:srgbClr val="333333"/>
                </a:solidFill>
                <a:latin typeface="Caladea" pitchFamily="34" charset="0"/>
                <a:ea typeface="Caladea" pitchFamily="34" charset="-122"/>
                <a:cs typeface="Caladea" pitchFamily="34" charset="-120"/>
              </a:rPr>
              <a:t>That is Milestone 1.</a:t>
            </a:r>
            <a:endParaRPr lang="en-US" sz="1250" dirty="0"/>
          </a:p>
        </p:txBody>
      </p:sp>
      <p:sp>
        <p:nvSpPr>
          <p:cNvPr id="23" name="Text 21"/>
          <p:cNvSpPr/>
          <p:nvPr/>
        </p:nvSpPr>
        <p:spPr>
          <a:xfrm>
            <a:off x="731520" y="5989320"/>
            <a:ext cx="10698480" cy="502920"/>
          </a:xfrm>
          <a:prstGeom prst="rect">
            <a:avLst/>
          </a:prstGeom>
          <a:noFill/>
          <a:ln/>
        </p:spPr>
        <p:txBody>
          <a:bodyPr wrap="square" lIns="0" tIns="0" rIns="0" bIns="0" rtlCol="0" anchor="ctr"/>
          <a:lstStyle/>
          <a:p>
            <a:pPr indent="0" marL="0">
              <a:buNone/>
            </a:pPr>
            <a:r>
              <a:rPr lang="en-US" sz="1300" i="1" dirty="0">
                <a:solidFill>
                  <a:srgbClr val="666666"/>
                </a:solidFill>
                <a:latin typeface="Caladea" pitchFamily="34" charset="0"/>
                <a:ea typeface="Caladea" pitchFamily="34" charset="-122"/>
                <a:cs typeface="Caladea" pitchFamily="34" charset="-120"/>
              </a:rPr>
              <a:t>The weakness: “works on my machine” is the entire deployment story. Five virtualenvs, one shell script, no repeatable artifact, no way to hand it to anyone.</a:t>
            </a:r>
            <a:endParaRPr lang="en-US" sz="1300" dirty="0"/>
          </a:p>
        </p:txBody>
      </p:sp>
      <p:sp>
        <p:nvSpPr>
          <p:cNvPr id="24" name="Text 22"/>
          <p:cNvSpPr/>
          <p:nvPr/>
        </p:nvSpPr>
        <p:spPr>
          <a:xfrm>
            <a:off x="11155680" y="6446520"/>
            <a:ext cx="914400" cy="320040"/>
          </a:xfrm>
          <a:prstGeom prst="rect">
            <a:avLst/>
          </a:prstGeom>
          <a:noFill/>
          <a:ln/>
        </p:spPr>
        <p:txBody>
          <a:bodyPr wrap="square" lIns="0" tIns="0" rIns="0" bIns="0" rtlCol="0" anchor="ctr"/>
          <a:lstStyle/>
          <a:p>
            <a:pPr algn="r" indent="0" marL="0">
              <a:buNone/>
            </a:pPr>
            <a:r>
              <a:rPr lang="en-US" sz="1000" dirty="0">
                <a:solidFill>
                  <a:srgbClr val="666666"/>
                </a:solidFill>
                <a:latin typeface="Caladea" pitchFamily="34" charset="0"/>
                <a:ea typeface="Caladea" pitchFamily="34" charset="-122"/>
                <a:cs typeface="Caladea" pitchFamily="34" charset="-120"/>
              </a:rPr>
              <a:t>9 / 15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47472"/>
            <a:ext cx="10881360" cy="320040"/>
          </a:xfrm>
          <a:prstGeom prst="rect">
            <a:avLst/>
          </a:prstGeom>
          <a:noFill/>
          <a:ln/>
        </p:spPr>
        <p:txBody>
          <a:bodyPr wrap="square" lIns="0" tIns="0" rIns="0" bIns="0" rtlCol="0" anchor="ctr"/>
          <a:lstStyle/>
          <a:p>
            <a:pPr indent="0" marL="0">
              <a:buNone/>
            </a:pPr>
            <a:r>
              <a:rPr lang="en-US" sz="1300" b="1" spc="200" kern="0" dirty="0">
                <a:solidFill>
                  <a:srgbClr val="C7A052"/>
                </a:solidFill>
                <a:latin typeface="Caladea" pitchFamily="34" charset="0"/>
                <a:ea typeface="Caladea" pitchFamily="34" charset="-122"/>
                <a:cs typeface="Caladea" pitchFamily="34" charset="-120"/>
              </a:rPr>
              <a:t>WHAT YOU ARE BUILDING</a:t>
            </a:r>
            <a:endParaRPr lang="en-US" sz="13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D2C54"/>
                </a:solidFill>
                <a:latin typeface="Caladea" pitchFamily="34" charset="0"/>
                <a:ea typeface="Caladea" pitchFamily="34" charset="-122"/>
                <a:cs typeface="Caladea" pitchFamily="34" charset="-120"/>
              </a:rPr>
              <a:t>Two planes, deliberately separated</a:t>
            </a:r>
            <a:endParaRPr lang="en-US" sz="3000" dirty="0"/>
          </a:p>
        </p:txBody>
      </p:sp>
      <p:sp>
        <p:nvSpPr>
          <p:cNvPr id="4" name="Shape 2"/>
          <p:cNvSpPr/>
          <p:nvPr/>
        </p:nvSpPr>
        <p:spPr>
          <a:xfrm>
            <a:off x="640080" y="1600200"/>
            <a:ext cx="5349240" cy="3931920"/>
          </a:xfrm>
          <a:prstGeom prst="roundRect">
            <a:avLst>
              <a:gd name="adj" fmla="val 1860"/>
            </a:avLst>
          </a:prstGeom>
          <a:solidFill>
            <a:srgbClr val="FFFFFF"/>
          </a:solidFill>
          <a:ln w="22225">
            <a:solidFill>
              <a:srgbClr val="0D2C54"/>
            </a:solidFill>
            <a:prstDash val="solid"/>
          </a:ln>
        </p:spPr>
      </p:sp>
      <p:sp>
        <p:nvSpPr>
          <p:cNvPr id="5" name="Text 3"/>
          <p:cNvSpPr/>
          <p:nvPr/>
        </p:nvSpPr>
        <p:spPr>
          <a:xfrm>
            <a:off x="868680" y="1737360"/>
            <a:ext cx="4892040" cy="320040"/>
          </a:xfrm>
          <a:prstGeom prst="rect">
            <a:avLst/>
          </a:prstGeom>
          <a:noFill/>
          <a:ln/>
        </p:spPr>
        <p:txBody>
          <a:bodyPr wrap="square" lIns="0" tIns="0" rIns="0" bIns="0" rtlCol="0" anchor="ctr"/>
          <a:lstStyle/>
          <a:p>
            <a:pPr indent="0" marL="0">
              <a:buNone/>
            </a:pPr>
            <a:r>
              <a:rPr lang="en-US" sz="1400" b="1" dirty="0">
                <a:solidFill>
                  <a:srgbClr val="0D2C54"/>
                </a:solidFill>
                <a:latin typeface="Caladea" pitchFamily="34" charset="0"/>
                <a:ea typeface="Caladea" pitchFamily="34" charset="-122"/>
                <a:cs typeface="Caladea" pitchFamily="34" charset="-120"/>
              </a:rPr>
              <a:t>BUILD PLANE — your laptop</a:t>
            </a:r>
            <a:endParaRPr lang="en-US" sz="1400" dirty="0"/>
          </a:p>
        </p:txBody>
      </p:sp>
      <p:sp>
        <p:nvSpPr>
          <p:cNvPr id="6" name="Shape 4"/>
          <p:cNvSpPr/>
          <p:nvPr/>
        </p:nvSpPr>
        <p:spPr>
          <a:xfrm>
            <a:off x="868680" y="2194560"/>
            <a:ext cx="4892040" cy="548640"/>
          </a:xfrm>
          <a:prstGeom prst="roundRect">
            <a:avLst>
              <a:gd name="adj" fmla="val 10000"/>
            </a:avLst>
          </a:prstGeom>
          <a:solidFill>
            <a:srgbClr val="FFFFFF"/>
          </a:solidFill>
          <a:ln w="19050">
            <a:solidFill>
              <a:srgbClr val="0D2C54"/>
            </a:solidFill>
            <a:prstDash val="solid"/>
          </a:ln>
        </p:spPr>
      </p:sp>
      <p:sp>
        <p:nvSpPr>
          <p:cNvPr id="7" name="Text 5"/>
          <p:cNvSpPr/>
          <p:nvPr/>
        </p:nvSpPr>
        <p:spPr>
          <a:xfrm>
            <a:off x="868680" y="2194560"/>
            <a:ext cx="4892040" cy="548640"/>
          </a:xfrm>
          <a:prstGeom prst="rect">
            <a:avLst/>
          </a:prstGeom>
          <a:noFill/>
          <a:ln/>
        </p:spPr>
        <p:txBody>
          <a:bodyPr wrap="square" lIns="508" tIns="508" rIns="508" bIns="508" rtlCol="0" anchor="ctr"/>
          <a:lstStyle/>
          <a:p>
            <a:pPr algn="ctr" indent="0" marL="0">
              <a:buNone/>
            </a:pPr>
            <a:r>
              <a:rPr lang="en-US" sz="1200" b="1" dirty="0">
                <a:solidFill>
                  <a:srgbClr val="0D2C54"/>
                </a:solidFill>
                <a:latin typeface="Caladea" pitchFamily="34" charset="0"/>
                <a:ea typeface="Caladea" pitchFamily="34" charset="-122"/>
                <a:cs typeface="Caladea" pitchFamily="34" charset="-120"/>
              </a:rPr>
              <a:t>Jenkins</a:t>
            </a:r>
            <a:endParaRPr lang="en-US" sz="1200" dirty="0"/>
          </a:p>
          <a:p>
            <a:pPr algn="ctr" indent="0" marL="0">
              <a:buNone/>
            </a:pPr>
            <a:r>
              <a:rPr lang="en-US" sz="950" dirty="0">
                <a:solidFill>
                  <a:srgbClr val="666666"/>
                </a:solidFill>
                <a:latin typeface="Caladea" pitchFamily="34" charset="0"/>
                <a:ea typeface="Caladea" pitchFamily="34" charset="-122"/>
                <a:cs typeface="Caladea" pitchFamily="34" charset="-120"/>
              </a:rPr>
              <a:t>in Docker · builds and pushes</a:t>
            </a:r>
            <a:endParaRPr lang="en-US" sz="1200" dirty="0"/>
          </a:p>
        </p:txBody>
      </p:sp>
      <p:sp>
        <p:nvSpPr>
          <p:cNvPr id="8" name="Shape 6"/>
          <p:cNvSpPr/>
          <p:nvPr/>
        </p:nvSpPr>
        <p:spPr>
          <a:xfrm>
            <a:off x="868680" y="2834640"/>
            <a:ext cx="4892040" cy="548640"/>
          </a:xfrm>
          <a:prstGeom prst="roundRect">
            <a:avLst>
              <a:gd name="adj" fmla="val 10000"/>
            </a:avLst>
          </a:prstGeom>
          <a:solidFill>
            <a:srgbClr val="FFFFFF"/>
          </a:solidFill>
          <a:ln w="19050">
            <a:solidFill>
              <a:srgbClr val="0D2C54"/>
            </a:solidFill>
            <a:prstDash val="solid"/>
          </a:ln>
        </p:spPr>
      </p:sp>
      <p:sp>
        <p:nvSpPr>
          <p:cNvPr id="9" name="Text 7"/>
          <p:cNvSpPr/>
          <p:nvPr/>
        </p:nvSpPr>
        <p:spPr>
          <a:xfrm>
            <a:off x="868680" y="2834640"/>
            <a:ext cx="4892040" cy="548640"/>
          </a:xfrm>
          <a:prstGeom prst="rect">
            <a:avLst/>
          </a:prstGeom>
          <a:noFill/>
          <a:ln/>
        </p:spPr>
        <p:txBody>
          <a:bodyPr wrap="square" lIns="508" tIns="508" rIns="508" bIns="508" rtlCol="0" anchor="ctr"/>
          <a:lstStyle/>
          <a:p>
            <a:pPr algn="ctr" indent="0" marL="0">
              <a:buNone/>
            </a:pPr>
            <a:r>
              <a:rPr lang="en-US" sz="1200" b="1" dirty="0">
                <a:solidFill>
                  <a:srgbClr val="0D2C54"/>
                </a:solidFill>
                <a:latin typeface="Caladea" pitchFamily="34" charset="0"/>
                <a:ea typeface="Caladea" pitchFamily="34" charset="-122"/>
                <a:cs typeface="Caladea" pitchFamily="34" charset="-120"/>
              </a:rPr>
              <a:t>Prometheus · Grafana</a:t>
            </a:r>
            <a:endParaRPr lang="en-US" sz="1200" dirty="0"/>
          </a:p>
          <a:p>
            <a:pPr algn="ctr" indent="0" marL="0">
              <a:buNone/>
            </a:pPr>
            <a:r>
              <a:rPr lang="en-US" sz="950" dirty="0">
                <a:solidFill>
                  <a:srgbClr val="666666"/>
                </a:solidFill>
                <a:latin typeface="Caladea" pitchFamily="34" charset="0"/>
                <a:ea typeface="Caladea" pitchFamily="34" charset="-122"/>
                <a:cs typeface="Caladea" pitchFamily="34" charset="-120"/>
              </a:rPr>
              <a:t>scrapes the runtime over the network</a:t>
            </a:r>
            <a:endParaRPr lang="en-US" sz="1200" dirty="0"/>
          </a:p>
        </p:txBody>
      </p:sp>
      <p:sp>
        <p:nvSpPr>
          <p:cNvPr id="10" name="Shape 8"/>
          <p:cNvSpPr/>
          <p:nvPr/>
        </p:nvSpPr>
        <p:spPr>
          <a:xfrm>
            <a:off x="868680" y="3474720"/>
            <a:ext cx="4892040" cy="548640"/>
          </a:xfrm>
          <a:prstGeom prst="roundRect">
            <a:avLst>
              <a:gd name="adj" fmla="val 10000"/>
            </a:avLst>
          </a:prstGeom>
          <a:solidFill>
            <a:srgbClr val="FFFFFF"/>
          </a:solidFill>
          <a:ln w="19050">
            <a:solidFill>
              <a:srgbClr val="0D2C54"/>
            </a:solidFill>
            <a:prstDash val="solid"/>
          </a:ln>
        </p:spPr>
      </p:sp>
      <p:sp>
        <p:nvSpPr>
          <p:cNvPr id="11" name="Text 9"/>
          <p:cNvSpPr/>
          <p:nvPr/>
        </p:nvSpPr>
        <p:spPr>
          <a:xfrm>
            <a:off x="868680" y="3474720"/>
            <a:ext cx="4892040" cy="548640"/>
          </a:xfrm>
          <a:prstGeom prst="rect">
            <a:avLst/>
          </a:prstGeom>
          <a:noFill/>
          <a:ln/>
        </p:spPr>
        <p:txBody>
          <a:bodyPr wrap="square" lIns="508" tIns="508" rIns="508" bIns="508" rtlCol="0" anchor="ctr"/>
          <a:lstStyle/>
          <a:p>
            <a:pPr algn="ctr" indent="0" marL="0">
              <a:buNone/>
            </a:pPr>
            <a:r>
              <a:rPr lang="en-US" sz="1200" b="1" dirty="0">
                <a:solidFill>
                  <a:srgbClr val="0D2C54"/>
                </a:solidFill>
                <a:latin typeface="Caladea" pitchFamily="34" charset="0"/>
                <a:ea typeface="Caladea" pitchFamily="34" charset="-122"/>
                <a:cs typeface="Caladea" pitchFamily="34" charset="-120"/>
              </a:rPr>
              <a:t>Loki</a:t>
            </a:r>
            <a:endParaRPr lang="en-US" sz="1200" dirty="0"/>
          </a:p>
          <a:p>
            <a:pPr algn="ctr" indent="0" marL="0">
              <a:buNone/>
            </a:pPr>
            <a:r>
              <a:rPr lang="en-US" sz="950" dirty="0">
                <a:solidFill>
                  <a:srgbClr val="666666"/>
                </a:solidFill>
                <a:latin typeface="Caladea" pitchFamily="34" charset="0"/>
                <a:ea typeface="Caladea" pitchFamily="34" charset="-122"/>
                <a:cs typeface="Caladea" pitchFamily="34" charset="-120"/>
              </a:rPr>
              <a:t>receives logs shipped from the box</a:t>
            </a:r>
            <a:endParaRPr lang="en-US" sz="1200" dirty="0"/>
          </a:p>
        </p:txBody>
      </p:sp>
      <p:sp>
        <p:nvSpPr>
          <p:cNvPr id="12" name="Text 10"/>
          <p:cNvSpPr/>
          <p:nvPr/>
        </p:nvSpPr>
        <p:spPr>
          <a:xfrm>
            <a:off x="868680" y="4160520"/>
            <a:ext cx="4892040" cy="320040"/>
          </a:xfrm>
          <a:prstGeom prst="rect">
            <a:avLst/>
          </a:prstGeom>
          <a:noFill/>
          <a:ln/>
        </p:spPr>
        <p:txBody>
          <a:bodyPr wrap="square" lIns="0" tIns="0" rIns="0" bIns="0" rtlCol="0" anchor="ctr"/>
          <a:lstStyle/>
          <a:p>
            <a:pPr indent="0" marL="0">
              <a:buNone/>
            </a:pPr>
            <a:r>
              <a:rPr lang="en-US" sz="1100" i="1" dirty="0">
                <a:solidFill>
                  <a:srgbClr val="666666"/>
                </a:solidFill>
                <a:latin typeface="Caladea" pitchFamily="34" charset="0"/>
                <a:ea typeface="Caladea" pitchFamily="34" charset="-122"/>
                <a:cs typeface="Caladea" pitchFamily="34" charset="-120"/>
              </a:rPr>
              <a:t>Provisioned by: you, by hand — it's your laptop</a:t>
            </a:r>
            <a:endParaRPr lang="en-US" sz="1100" dirty="0"/>
          </a:p>
        </p:txBody>
      </p:sp>
      <p:sp>
        <p:nvSpPr>
          <p:cNvPr id="13" name="Text 11"/>
          <p:cNvSpPr/>
          <p:nvPr/>
        </p:nvSpPr>
        <p:spPr>
          <a:xfrm>
            <a:off x="868680" y="4480560"/>
            <a:ext cx="4892040" cy="320040"/>
          </a:xfrm>
          <a:prstGeom prst="rect">
            <a:avLst/>
          </a:prstGeom>
          <a:noFill/>
          <a:ln/>
        </p:spPr>
        <p:txBody>
          <a:bodyPr wrap="square" lIns="0" tIns="0" rIns="0" bIns="0" rtlCol="0" anchor="ctr"/>
          <a:lstStyle/>
          <a:p>
            <a:pPr indent="0" marL="0">
              <a:buNone/>
            </a:pPr>
            <a:r>
              <a:rPr lang="en-US" sz="1150" b="1" dirty="0">
                <a:solidFill>
                  <a:srgbClr val="0D2C54"/>
                </a:solidFill>
                <a:latin typeface="Caladea" pitchFamily="34" charset="0"/>
                <a:ea typeface="Caladea" pitchFamily="34" charset="-122"/>
                <a:cs typeface="Caladea" pitchFamily="34" charset="-120"/>
              </a:rPr>
              <a:t>Its job: turn commits into versioned images</a:t>
            </a:r>
            <a:endParaRPr lang="en-US" sz="1150" dirty="0"/>
          </a:p>
        </p:txBody>
      </p:sp>
      <p:sp>
        <p:nvSpPr>
          <p:cNvPr id="14" name="Shape 12"/>
          <p:cNvSpPr/>
          <p:nvPr/>
        </p:nvSpPr>
        <p:spPr>
          <a:xfrm>
            <a:off x="6217920" y="1600200"/>
            <a:ext cx="5349240" cy="3931920"/>
          </a:xfrm>
          <a:prstGeom prst="roundRect">
            <a:avLst>
              <a:gd name="adj" fmla="val 1860"/>
            </a:avLst>
          </a:prstGeom>
          <a:solidFill>
            <a:srgbClr val="F4ECD8"/>
          </a:solidFill>
          <a:ln w="22225">
            <a:solidFill>
              <a:srgbClr val="C7A052"/>
            </a:solidFill>
            <a:prstDash val="solid"/>
          </a:ln>
        </p:spPr>
      </p:sp>
      <p:sp>
        <p:nvSpPr>
          <p:cNvPr id="15" name="Text 13"/>
          <p:cNvSpPr/>
          <p:nvPr/>
        </p:nvSpPr>
        <p:spPr>
          <a:xfrm>
            <a:off x="6446520" y="1737360"/>
            <a:ext cx="4892040" cy="320040"/>
          </a:xfrm>
          <a:prstGeom prst="rect">
            <a:avLst/>
          </a:prstGeom>
          <a:noFill/>
          <a:ln/>
        </p:spPr>
        <p:txBody>
          <a:bodyPr wrap="square" lIns="0" tIns="0" rIns="0" bIns="0" rtlCol="0" anchor="ctr"/>
          <a:lstStyle/>
          <a:p>
            <a:pPr indent="0" marL="0">
              <a:buNone/>
            </a:pPr>
            <a:r>
              <a:rPr lang="en-US" sz="1400" b="1" dirty="0">
                <a:solidFill>
                  <a:srgbClr val="0D2C54"/>
                </a:solidFill>
                <a:latin typeface="Caladea" pitchFamily="34" charset="0"/>
                <a:ea typeface="Caladea" pitchFamily="34" charset="-122"/>
                <a:cs typeface="Caladea" pitchFamily="34" charset="-120"/>
              </a:rPr>
              <a:t>RUNTIME PLANE — AWS EC2 (t2.micro)</a:t>
            </a:r>
            <a:endParaRPr lang="en-US" sz="1400" dirty="0"/>
          </a:p>
        </p:txBody>
      </p:sp>
      <p:sp>
        <p:nvSpPr>
          <p:cNvPr id="16" name="Shape 14"/>
          <p:cNvSpPr/>
          <p:nvPr/>
        </p:nvSpPr>
        <p:spPr>
          <a:xfrm>
            <a:off x="6446520" y="2194560"/>
            <a:ext cx="4892040" cy="548640"/>
          </a:xfrm>
          <a:prstGeom prst="roundRect">
            <a:avLst>
              <a:gd name="adj" fmla="val 10000"/>
            </a:avLst>
          </a:prstGeom>
          <a:solidFill>
            <a:srgbClr val="FFFFFF"/>
          </a:solidFill>
          <a:ln w="19050">
            <a:solidFill>
              <a:srgbClr val="0D2C54"/>
            </a:solidFill>
            <a:prstDash val="solid"/>
          </a:ln>
        </p:spPr>
      </p:sp>
      <p:sp>
        <p:nvSpPr>
          <p:cNvPr id="17" name="Text 15"/>
          <p:cNvSpPr/>
          <p:nvPr/>
        </p:nvSpPr>
        <p:spPr>
          <a:xfrm>
            <a:off x="6446520" y="2194560"/>
            <a:ext cx="4892040" cy="548640"/>
          </a:xfrm>
          <a:prstGeom prst="rect">
            <a:avLst/>
          </a:prstGeom>
          <a:noFill/>
          <a:ln/>
        </p:spPr>
        <p:txBody>
          <a:bodyPr wrap="square" lIns="508" tIns="508" rIns="508" bIns="508" rtlCol="0" anchor="ctr"/>
          <a:lstStyle/>
          <a:p>
            <a:pPr algn="ctr" indent="0" marL="0">
              <a:buNone/>
            </a:pPr>
            <a:r>
              <a:rPr lang="en-US" sz="1200" b="1" dirty="0">
                <a:solidFill>
                  <a:srgbClr val="0D2C54"/>
                </a:solidFill>
                <a:latin typeface="Caladea" pitchFamily="34" charset="0"/>
                <a:ea typeface="Caladea" pitchFamily="34" charset="-122"/>
                <a:cs typeface="Caladea" pitchFamily="34" charset="-120"/>
              </a:rPr>
              <a:t>paylane · 5 services</a:t>
            </a:r>
            <a:endParaRPr lang="en-US" sz="1200" dirty="0"/>
          </a:p>
          <a:p>
            <a:pPr algn="ctr" indent="0" marL="0">
              <a:buNone/>
            </a:pPr>
            <a:r>
              <a:rPr lang="en-US" sz="950" dirty="0">
                <a:solidFill>
                  <a:srgbClr val="666666"/>
                </a:solidFill>
                <a:latin typeface="Caladea" pitchFamily="34" charset="0"/>
                <a:ea typeface="Caladea" pitchFamily="34" charset="-122"/>
                <a:cs typeface="Caladea" pitchFamily="34" charset="-120"/>
              </a:rPr>
              <a:t>as containers, pulled from GHCR</a:t>
            </a:r>
            <a:endParaRPr lang="en-US" sz="1200" dirty="0"/>
          </a:p>
        </p:txBody>
      </p:sp>
      <p:sp>
        <p:nvSpPr>
          <p:cNvPr id="18" name="Shape 16"/>
          <p:cNvSpPr/>
          <p:nvPr/>
        </p:nvSpPr>
        <p:spPr>
          <a:xfrm>
            <a:off x="6446520" y="2834640"/>
            <a:ext cx="4892040" cy="548640"/>
          </a:xfrm>
          <a:prstGeom prst="roundRect">
            <a:avLst>
              <a:gd name="adj" fmla="val 10000"/>
            </a:avLst>
          </a:prstGeom>
          <a:solidFill>
            <a:srgbClr val="FFFFFF"/>
          </a:solidFill>
          <a:ln w="19050">
            <a:solidFill>
              <a:srgbClr val="0D2C54"/>
            </a:solidFill>
            <a:prstDash val="solid"/>
          </a:ln>
        </p:spPr>
      </p:sp>
      <p:sp>
        <p:nvSpPr>
          <p:cNvPr id="19" name="Text 17"/>
          <p:cNvSpPr/>
          <p:nvPr/>
        </p:nvSpPr>
        <p:spPr>
          <a:xfrm>
            <a:off x="6446520" y="2834640"/>
            <a:ext cx="4892040" cy="548640"/>
          </a:xfrm>
          <a:prstGeom prst="rect">
            <a:avLst/>
          </a:prstGeom>
          <a:noFill/>
          <a:ln/>
        </p:spPr>
        <p:txBody>
          <a:bodyPr wrap="square" lIns="508" tIns="508" rIns="508" bIns="508" rtlCol="0" anchor="ctr"/>
          <a:lstStyle/>
          <a:p>
            <a:pPr algn="ctr" indent="0" marL="0">
              <a:buNone/>
            </a:pPr>
            <a:r>
              <a:rPr lang="en-US" sz="1200" b="1" dirty="0">
                <a:solidFill>
                  <a:srgbClr val="0D2C54"/>
                </a:solidFill>
                <a:latin typeface="Caladea" pitchFamily="34" charset="0"/>
                <a:ea typeface="Caladea" pitchFamily="34" charset="-122"/>
                <a:cs typeface="Caladea" pitchFamily="34" charset="-120"/>
              </a:rPr>
              <a:t>postgres · redis</a:t>
            </a:r>
            <a:endParaRPr lang="en-US" sz="1200" dirty="0"/>
          </a:p>
          <a:p>
            <a:pPr algn="ctr" indent="0" marL="0">
              <a:buNone/>
            </a:pPr>
            <a:r>
              <a:rPr lang="en-US" sz="950" dirty="0">
                <a:solidFill>
                  <a:srgbClr val="666666"/>
                </a:solidFill>
                <a:latin typeface="Caladea" pitchFamily="34" charset="0"/>
                <a:ea typeface="Caladea" pitchFamily="34" charset="-122"/>
                <a:cs typeface="Caladea" pitchFamily="34" charset="-120"/>
              </a:rPr>
              <a:t>the datastores</a:t>
            </a:r>
            <a:endParaRPr lang="en-US" sz="1200" dirty="0"/>
          </a:p>
        </p:txBody>
      </p:sp>
      <p:sp>
        <p:nvSpPr>
          <p:cNvPr id="20" name="Shape 18"/>
          <p:cNvSpPr/>
          <p:nvPr/>
        </p:nvSpPr>
        <p:spPr>
          <a:xfrm>
            <a:off x="6446520" y="3474720"/>
            <a:ext cx="4892040" cy="548640"/>
          </a:xfrm>
          <a:prstGeom prst="roundRect">
            <a:avLst>
              <a:gd name="adj" fmla="val 10000"/>
            </a:avLst>
          </a:prstGeom>
          <a:solidFill>
            <a:srgbClr val="FFFFFF"/>
          </a:solidFill>
          <a:ln w="19050">
            <a:solidFill>
              <a:srgbClr val="0D2C54"/>
            </a:solidFill>
            <a:prstDash val="solid"/>
          </a:ln>
        </p:spPr>
      </p:sp>
      <p:sp>
        <p:nvSpPr>
          <p:cNvPr id="21" name="Text 19"/>
          <p:cNvSpPr/>
          <p:nvPr/>
        </p:nvSpPr>
        <p:spPr>
          <a:xfrm>
            <a:off x="6446520" y="3474720"/>
            <a:ext cx="4892040" cy="548640"/>
          </a:xfrm>
          <a:prstGeom prst="rect">
            <a:avLst/>
          </a:prstGeom>
          <a:noFill/>
          <a:ln/>
        </p:spPr>
        <p:txBody>
          <a:bodyPr wrap="square" lIns="508" tIns="508" rIns="508" bIns="508" rtlCol="0" anchor="ctr"/>
          <a:lstStyle/>
          <a:p>
            <a:pPr algn="ctr" indent="0" marL="0">
              <a:buNone/>
            </a:pPr>
            <a:r>
              <a:rPr lang="en-US" sz="1200" b="1" dirty="0">
                <a:solidFill>
                  <a:srgbClr val="0D2C54"/>
                </a:solidFill>
                <a:latin typeface="Caladea" pitchFamily="34" charset="0"/>
                <a:ea typeface="Caladea" pitchFamily="34" charset="-122"/>
                <a:cs typeface="Caladea" pitchFamily="34" charset="-120"/>
              </a:rPr>
              <a:t>promtail</a:t>
            </a:r>
            <a:endParaRPr lang="en-US" sz="1200" dirty="0"/>
          </a:p>
          <a:p>
            <a:pPr algn="ctr" indent="0" marL="0">
              <a:buNone/>
            </a:pPr>
            <a:r>
              <a:rPr lang="en-US" sz="950" dirty="0">
                <a:solidFill>
                  <a:srgbClr val="666666"/>
                </a:solidFill>
                <a:latin typeface="Caladea" pitchFamily="34" charset="0"/>
                <a:ea typeface="Caladea" pitchFamily="34" charset="-122"/>
                <a:cs typeface="Caladea" pitchFamily="34" charset="-120"/>
              </a:rPr>
              <a:t>ships logs to your Loki</a:t>
            </a:r>
            <a:endParaRPr lang="en-US" sz="1200" dirty="0"/>
          </a:p>
        </p:txBody>
      </p:sp>
      <p:sp>
        <p:nvSpPr>
          <p:cNvPr id="22" name="Text 20"/>
          <p:cNvSpPr/>
          <p:nvPr/>
        </p:nvSpPr>
        <p:spPr>
          <a:xfrm>
            <a:off x="6446520" y="4160520"/>
            <a:ext cx="4892040" cy="320040"/>
          </a:xfrm>
          <a:prstGeom prst="rect">
            <a:avLst/>
          </a:prstGeom>
          <a:noFill/>
          <a:ln/>
        </p:spPr>
        <p:txBody>
          <a:bodyPr wrap="square" lIns="0" tIns="0" rIns="0" bIns="0" rtlCol="0" anchor="ctr"/>
          <a:lstStyle/>
          <a:p>
            <a:pPr indent="0" marL="0">
              <a:buNone/>
            </a:pPr>
            <a:r>
              <a:rPr lang="en-US" sz="1100" i="1" dirty="0">
                <a:solidFill>
                  <a:srgbClr val="666666"/>
                </a:solidFill>
                <a:latin typeface="Caladea" pitchFamily="34" charset="0"/>
                <a:ea typeface="Caladea" pitchFamily="34" charset="-122"/>
                <a:cs typeface="Caladea" pitchFamily="34" charset="-120"/>
              </a:rPr>
              <a:t>Provisioned by: Terraform  ·  Configured by: Ansible</a:t>
            </a:r>
            <a:endParaRPr lang="en-US" sz="1100" dirty="0"/>
          </a:p>
        </p:txBody>
      </p:sp>
      <p:sp>
        <p:nvSpPr>
          <p:cNvPr id="23" name="Text 21"/>
          <p:cNvSpPr/>
          <p:nvPr/>
        </p:nvSpPr>
        <p:spPr>
          <a:xfrm>
            <a:off x="6446520" y="4480560"/>
            <a:ext cx="4892040" cy="320040"/>
          </a:xfrm>
          <a:prstGeom prst="rect">
            <a:avLst/>
          </a:prstGeom>
          <a:noFill/>
          <a:ln/>
        </p:spPr>
        <p:txBody>
          <a:bodyPr wrap="square" lIns="0" tIns="0" rIns="0" bIns="0" rtlCol="0" anchor="ctr"/>
          <a:lstStyle/>
          <a:p>
            <a:pPr indent="0" marL="0">
              <a:buNone/>
            </a:pPr>
            <a:r>
              <a:rPr lang="en-US" sz="1150" b="1" dirty="0">
                <a:solidFill>
                  <a:srgbClr val="0D2C54"/>
                </a:solidFill>
                <a:latin typeface="Caladea" pitchFamily="34" charset="0"/>
                <a:ea typeface="Caladea" pitchFamily="34" charset="-122"/>
                <a:cs typeface="Caladea" pitchFamily="34" charset="-120"/>
              </a:rPr>
              <a:t>Its job: run the application, and be watched</a:t>
            </a:r>
            <a:endParaRPr lang="en-US" sz="1150" dirty="0"/>
          </a:p>
        </p:txBody>
      </p:sp>
      <p:sp>
        <p:nvSpPr>
          <p:cNvPr id="24" name="Shape 22"/>
          <p:cNvSpPr/>
          <p:nvPr/>
        </p:nvSpPr>
        <p:spPr>
          <a:xfrm>
            <a:off x="5989320" y="3017520"/>
            <a:ext cx="228600" cy="0"/>
          </a:xfrm>
          <a:prstGeom prst="line">
            <a:avLst/>
          </a:prstGeom>
          <a:noFill/>
          <a:ln w="31750">
            <a:solidFill>
              <a:srgbClr val="C7A052"/>
            </a:solidFill>
            <a:prstDash val="solid"/>
            <a:tailEnd type="triangle"/>
          </a:ln>
        </p:spPr>
      </p:sp>
      <p:sp>
        <p:nvSpPr>
          <p:cNvPr id="25" name="Shape 23"/>
          <p:cNvSpPr/>
          <p:nvPr/>
        </p:nvSpPr>
        <p:spPr>
          <a:xfrm>
            <a:off x="6217920" y="3749040"/>
            <a:ext cx="-228600" cy="0"/>
          </a:xfrm>
          <a:prstGeom prst="line">
            <a:avLst/>
          </a:prstGeom>
          <a:noFill/>
          <a:ln w="31750">
            <a:solidFill>
              <a:srgbClr val="C7A052"/>
            </a:solidFill>
            <a:prstDash val="solid"/>
            <a:tailEnd type="triangle"/>
          </a:ln>
        </p:spPr>
      </p:sp>
      <p:sp>
        <p:nvSpPr>
          <p:cNvPr id="26" name="Shape 24"/>
          <p:cNvSpPr/>
          <p:nvPr/>
        </p:nvSpPr>
        <p:spPr>
          <a:xfrm>
            <a:off x="640080" y="5669280"/>
            <a:ext cx="10881360" cy="822960"/>
          </a:xfrm>
          <a:prstGeom prst="roundRect">
            <a:avLst>
              <a:gd name="adj" fmla="val 8889"/>
            </a:avLst>
          </a:prstGeom>
          <a:solidFill>
            <a:srgbClr val="EEF1F5"/>
          </a:solidFill>
          <a:ln w="12700">
            <a:solidFill>
              <a:srgbClr val="0D2C54"/>
            </a:solidFill>
            <a:prstDash val="solid"/>
          </a:ln>
        </p:spPr>
      </p:sp>
      <p:sp>
        <p:nvSpPr>
          <p:cNvPr id="27" name="Text 25"/>
          <p:cNvSpPr/>
          <p:nvPr/>
        </p:nvSpPr>
        <p:spPr>
          <a:xfrm>
            <a:off x="804672" y="5779008"/>
            <a:ext cx="10552176" cy="603504"/>
          </a:xfrm>
          <a:prstGeom prst="rect">
            <a:avLst/>
          </a:prstGeom>
          <a:noFill/>
          <a:ln/>
        </p:spPr>
        <p:txBody>
          <a:bodyPr wrap="square" lIns="0" tIns="0" rIns="0" bIns="0" rtlCol="0" anchor="t"/>
          <a:lstStyle/>
          <a:p>
            <a:pPr indent="0" marL="0">
              <a:buNone/>
            </a:pPr>
            <a:r>
              <a:rPr lang="en-US" sz="1200" b="1" dirty="0">
                <a:solidFill>
                  <a:srgbClr val="0D2C54"/>
                </a:solidFill>
                <a:latin typeface="Caladea" pitchFamily="34" charset="0"/>
                <a:ea typeface="Caladea" pitchFamily="34" charset="-122"/>
                <a:cs typeface="Caladea" pitchFamily="34" charset="-120"/>
              </a:rPr>
              <a:t>Why Jenkins is not in the cloud</a:t>
            </a:r>
            <a:endParaRPr lang="en-US" sz="1200" dirty="0"/>
          </a:p>
          <a:p>
            <a:pPr indent="0" marL="0">
              <a:buNone/>
            </a:pPr>
            <a:r>
              <a:rPr lang="en-US" sz="1200" dirty="0">
                <a:solidFill>
                  <a:srgbClr val="333333"/>
                </a:solidFill>
                <a:latin typeface="Caladea" pitchFamily="34" charset="0"/>
                <a:ea typeface="Caladea" pitchFamily="34" charset="-122"/>
                <a:cs typeface="Caladea" pitchFamily="34" charset="-120"/>
              </a:rPr>
              <a:t>t2.micro is the only genuinely free instance size, and it has 1 GB of RAM. Jenkins alone wants about that. paylane needs ~425 MB, measured — it fits, with room to spare. Adding Prometheus, Grafana, and Loki to that box would not. A build server on-premise deploying to cloud is a real, common architecture — not a compromise.</a:t>
            </a:r>
            <a:endParaRPr lang="en-US" sz="1200" dirty="0"/>
          </a:p>
        </p:txBody>
      </p:sp>
      <p:sp>
        <p:nvSpPr>
          <p:cNvPr id="28" name="Text 26"/>
          <p:cNvSpPr/>
          <p:nvPr/>
        </p:nvSpPr>
        <p:spPr>
          <a:xfrm>
            <a:off x="11155680" y="6446520"/>
            <a:ext cx="914400" cy="320040"/>
          </a:xfrm>
          <a:prstGeom prst="rect">
            <a:avLst/>
          </a:prstGeom>
          <a:noFill/>
          <a:ln/>
        </p:spPr>
        <p:txBody>
          <a:bodyPr wrap="square" lIns="0" tIns="0" rIns="0" bIns="0" rtlCol="0" anchor="ctr"/>
          <a:lstStyle/>
          <a:p>
            <a:pPr algn="r" indent="0" marL="0">
              <a:buNone/>
            </a:pPr>
            <a:r>
              <a:rPr lang="en-US" sz="1000" dirty="0">
                <a:solidFill>
                  <a:srgbClr val="666666"/>
                </a:solidFill>
                <a:latin typeface="Caladea" pitchFamily="34" charset="0"/>
                <a:ea typeface="Caladea" pitchFamily="34" charset="-122"/>
                <a:cs typeface="Caladea" pitchFamily="34" charset="-120"/>
              </a:rPr>
              <a:t>10 / 15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47472"/>
            <a:ext cx="10881360" cy="320040"/>
          </a:xfrm>
          <a:prstGeom prst="rect">
            <a:avLst/>
          </a:prstGeom>
          <a:noFill/>
          <a:ln/>
        </p:spPr>
        <p:txBody>
          <a:bodyPr wrap="square" lIns="0" tIns="0" rIns="0" bIns="0" rtlCol="0" anchor="ctr"/>
          <a:lstStyle/>
          <a:p>
            <a:pPr indent="0" marL="0">
              <a:buNone/>
            </a:pPr>
            <a:r>
              <a:rPr lang="en-US" sz="1300" b="1" spc="200" kern="0" dirty="0">
                <a:solidFill>
                  <a:srgbClr val="C7A052"/>
                </a:solidFill>
                <a:latin typeface="Caladea" pitchFamily="34" charset="0"/>
                <a:ea typeface="Caladea" pitchFamily="34" charset="-122"/>
                <a:cs typeface="Caladea" pitchFamily="34" charset="-120"/>
              </a:rPr>
              <a:t>FLOW 4 · THE PIPELINE</a:t>
            </a:r>
            <a:endParaRPr lang="en-US" sz="13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D2C54"/>
                </a:solidFill>
                <a:latin typeface="Caladea" pitchFamily="34" charset="0"/>
                <a:ea typeface="Caladea" pitchFamily="34" charset="-122"/>
                <a:cs typeface="Caladea" pitchFamily="34" charset="-120"/>
              </a:rPr>
              <a:t>What happens when you push</a:t>
            </a:r>
            <a:endParaRPr lang="en-US" sz="3000" dirty="0"/>
          </a:p>
        </p:txBody>
      </p:sp>
      <p:sp>
        <p:nvSpPr>
          <p:cNvPr id="4" name="Shape 2"/>
          <p:cNvSpPr/>
          <p:nvPr/>
        </p:nvSpPr>
        <p:spPr>
          <a:xfrm>
            <a:off x="640080" y="2194560"/>
            <a:ext cx="1737360" cy="822960"/>
          </a:xfrm>
          <a:prstGeom prst="roundRect">
            <a:avLst>
              <a:gd name="adj" fmla="val 6667"/>
            </a:avLst>
          </a:prstGeom>
          <a:solidFill>
            <a:srgbClr val="FFFFFF"/>
          </a:solidFill>
          <a:ln w="19050">
            <a:solidFill>
              <a:srgbClr val="0D2C54"/>
            </a:solidFill>
            <a:prstDash val="solid"/>
          </a:ln>
        </p:spPr>
      </p:sp>
      <p:sp>
        <p:nvSpPr>
          <p:cNvPr id="5" name="Text 3"/>
          <p:cNvSpPr/>
          <p:nvPr/>
        </p:nvSpPr>
        <p:spPr>
          <a:xfrm>
            <a:off x="640080" y="2194560"/>
            <a:ext cx="1737360" cy="822960"/>
          </a:xfrm>
          <a:prstGeom prst="rect">
            <a:avLst/>
          </a:prstGeom>
          <a:noFill/>
          <a:ln/>
        </p:spPr>
        <p:txBody>
          <a:bodyPr wrap="square" lIns="508" tIns="508" rIns="508" bIns="508" rtlCol="0" anchor="ctr"/>
          <a:lstStyle/>
          <a:p>
            <a:pPr algn="ctr" indent="0" marL="0">
              <a:buNone/>
            </a:pPr>
            <a:r>
              <a:rPr lang="en-US" sz="1150" b="1" dirty="0">
                <a:solidFill>
                  <a:srgbClr val="0D2C54"/>
                </a:solidFill>
                <a:latin typeface="DejaVu Sans Mono" pitchFamily="34" charset="0"/>
                <a:ea typeface="DejaVu Sans Mono" pitchFamily="34" charset="-122"/>
                <a:cs typeface="DejaVu Sans Mono" pitchFamily="34" charset="-120"/>
              </a:rPr>
              <a:t>git push</a:t>
            </a:r>
            <a:endParaRPr lang="en-US" sz="1150" dirty="0"/>
          </a:p>
          <a:p>
            <a:pPr algn="ctr" indent="0" marL="0">
              <a:buNone/>
            </a:pPr>
            <a:r>
              <a:rPr lang="en-US" sz="1000" dirty="0">
                <a:solidFill>
                  <a:srgbClr val="666666"/>
                </a:solidFill>
                <a:latin typeface="Caladea" pitchFamily="34" charset="0"/>
                <a:ea typeface="Caladea" pitchFamily="34" charset="-122"/>
                <a:cs typeface="Caladea" pitchFamily="34" charset="-120"/>
              </a:rPr>
              <a:t>your commit</a:t>
            </a:r>
            <a:endParaRPr lang="en-US" sz="1150" dirty="0"/>
          </a:p>
        </p:txBody>
      </p:sp>
      <p:sp>
        <p:nvSpPr>
          <p:cNvPr id="6" name="Shape 4"/>
          <p:cNvSpPr/>
          <p:nvPr/>
        </p:nvSpPr>
        <p:spPr>
          <a:xfrm>
            <a:off x="2377440" y="2606040"/>
            <a:ext cx="640080" cy="0"/>
          </a:xfrm>
          <a:prstGeom prst="line">
            <a:avLst/>
          </a:prstGeom>
          <a:noFill/>
          <a:ln w="25400">
            <a:solidFill>
              <a:srgbClr val="C7A052"/>
            </a:solidFill>
            <a:prstDash val="solid"/>
            <a:tailEnd type="triangle"/>
          </a:ln>
        </p:spPr>
      </p:sp>
      <p:sp>
        <p:nvSpPr>
          <p:cNvPr id="7" name="Shape 5"/>
          <p:cNvSpPr/>
          <p:nvPr/>
        </p:nvSpPr>
        <p:spPr>
          <a:xfrm>
            <a:off x="3017520" y="2194560"/>
            <a:ext cx="1828800" cy="822960"/>
          </a:xfrm>
          <a:prstGeom prst="roundRect">
            <a:avLst>
              <a:gd name="adj" fmla="val 6667"/>
            </a:avLst>
          </a:prstGeom>
          <a:solidFill>
            <a:srgbClr val="FFFFFF"/>
          </a:solidFill>
          <a:ln w="19050">
            <a:solidFill>
              <a:srgbClr val="0D2C54"/>
            </a:solidFill>
            <a:prstDash val="solid"/>
          </a:ln>
        </p:spPr>
      </p:sp>
      <p:sp>
        <p:nvSpPr>
          <p:cNvPr id="8" name="Text 6"/>
          <p:cNvSpPr/>
          <p:nvPr/>
        </p:nvSpPr>
        <p:spPr>
          <a:xfrm>
            <a:off x="3017520" y="2194560"/>
            <a:ext cx="1828800" cy="822960"/>
          </a:xfrm>
          <a:prstGeom prst="rect">
            <a:avLst/>
          </a:prstGeom>
          <a:noFill/>
          <a:ln/>
        </p:spPr>
        <p:txBody>
          <a:bodyPr wrap="square" lIns="508" tIns="508" rIns="508" bIns="508" rtlCol="0" anchor="ctr"/>
          <a:lstStyle/>
          <a:p>
            <a:pPr algn="ctr" indent="0" marL="0">
              <a:buNone/>
            </a:pPr>
            <a:r>
              <a:rPr lang="en-US" sz="1200" b="1" dirty="0">
                <a:solidFill>
                  <a:srgbClr val="0D2C54"/>
                </a:solidFill>
                <a:latin typeface="Caladea" pitchFamily="34" charset="0"/>
                <a:ea typeface="Caladea" pitchFamily="34" charset="-122"/>
                <a:cs typeface="Caladea" pitchFamily="34" charset="-120"/>
              </a:rPr>
              <a:t>Lint (ruff)</a:t>
            </a:r>
            <a:endParaRPr lang="en-US" sz="1200" dirty="0"/>
          </a:p>
          <a:p>
            <a:pPr algn="ctr" indent="0" marL="0">
              <a:buNone/>
            </a:pPr>
            <a:r>
              <a:rPr lang="en-US" sz="900" dirty="0">
                <a:solidFill>
                  <a:srgbClr val="666666"/>
                </a:solidFill>
                <a:latin typeface="Caladea" pitchFamily="34" charset="0"/>
                <a:ea typeface="Caladea" pitchFamily="34" charset="-122"/>
                <a:cs typeface="Caladea" pitchFamily="34" charset="-120"/>
              </a:rPr>
              <a:t>seconds — fails fast</a:t>
            </a:r>
            <a:endParaRPr lang="en-US" sz="1200" dirty="0"/>
          </a:p>
        </p:txBody>
      </p:sp>
      <p:sp>
        <p:nvSpPr>
          <p:cNvPr id="9" name="Shape 7"/>
          <p:cNvSpPr/>
          <p:nvPr/>
        </p:nvSpPr>
        <p:spPr>
          <a:xfrm>
            <a:off x="4846320" y="2606040"/>
            <a:ext cx="640080" cy="0"/>
          </a:xfrm>
          <a:prstGeom prst="line">
            <a:avLst/>
          </a:prstGeom>
          <a:noFill/>
          <a:ln w="25400">
            <a:solidFill>
              <a:srgbClr val="C7A052"/>
            </a:solidFill>
            <a:prstDash val="solid"/>
            <a:tailEnd type="triangle"/>
          </a:ln>
        </p:spPr>
      </p:sp>
      <p:sp>
        <p:nvSpPr>
          <p:cNvPr id="10" name="Shape 8"/>
          <p:cNvSpPr/>
          <p:nvPr/>
        </p:nvSpPr>
        <p:spPr>
          <a:xfrm>
            <a:off x="5486400" y="1508760"/>
            <a:ext cx="2468880" cy="502920"/>
          </a:xfrm>
          <a:prstGeom prst="roundRect">
            <a:avLst>
              <a:gd name="adj" fmla="val 10909"/>
            </a:avLst>
          </a:prstGeom>
          <a:solidFill>
            <a:srgbClr val="FFFFFF"/>
          </a:solidFill>
          <a:ln w="19050">
            <a:solidFill>
              <a:srgbClr val="0D2C54"/>
            </a:solidFill>
            <a:prstDash val="solid"/>
          </a:ln>
        </p:spPr>
      </p:sp>
      <p:sp>
        <p:nvSpPr>
          <p:cNvPr id="11" name="Text 9"/>
          <p:cNvSpPr/>
          <p:nvPr/>
        </p:nvSpPr>
        <p:spPr>
          <a:xfrm>
            <a:off x="5486400" y="1508760"/>
            <a:ext cx="2468880" cy="502920"/>
          </a:xfrm>
          <a:prstGeom prst="rect">
            <a:avLst/>
          </a:prstGeom>
          <a:noFill/>
          <a:ln/>
        </p:spPr>
        <p:txBody>
          <a:bodyPr wrap="square" lIns="508" tIns="508" rIns="508" bIns="508" rtlCol="0" anchor="ctr"/>
          <a:lstStyle/>
          <a:p>
            <a:pPr algn="ctr" indent="0" marL="0">
              <a:buNone/>
            </a:pPr>
            <a:r>
              <a:rPr lang="en-US" sz="900" b="1" dirty="0">
                <a:solidFill>
                  <a:srgbClr val="0D2C54"/>
                </a:solidFill>
                <a:latin typeface="DejaVu Sans Mono" pitchFamily="34" charset="0"/>
                <a:ea typeface="DejaVu Sans Mono" pitchFamily="34" charset="-122"/>
                <a:cs typeface="DejaVu Sans Mono" pitchFamily="34" charset="-120"/>
              </a:rPr>
              <a:t>build payment-svc</a:t>
            </a:r>
            <a:endParaRPr lang="en-US" sz="900" dirty="0"/>
          </a:p>
        </p:txBody>
      </p:sp>
      <p:sp>
        <p:nvSpPr>
          <p:cNvPr id="12" name="Shape 10"/>
          <p:cNvSpPr/>
          <p:nvPr/>
        </p:nvSpPr>
        <p:spPr>
          <a:xfrm>
            <a:off x="7955280" y="1764792"/>
            <a:ext cx="640080" cy="841248"/>
          </a:xfrm>
          <a:prstGeom prst="line">
            <a:avLst/>
          </a:prstGeom>
          <a:noFill/>
          <a:ln w="13970">
            <a:solidFill>
              <a:srgbClr val="666666"/>
            </a:solidFill>
            <a:prstDash val="solid"/>
            <a:tailEnd type="triangle"/>
          </a:ln>
        </p:spPr>
      </p:sp>
      <p:sp>
        <p:nvSpPr>
          <p:cNvPr id="13" name="Shape 11"/>
          <p:cNvSpPr/>
          <p:nvPr/>
        </p:nvSpPr>
        <p:spPr>
          <a:xfrm>
            <a:off x="5486400" y="2084832"/>
            <a:ext cx="2468880" cy="502920"/>
          </a:xfrm>
          <a:prstGeom prst="roundRect">
            <a:avLst>
              <a:gd name="adj" fmla="val 10909"/>
            </a:avLst>
          </a:prstGeom>
          <a:solidFill>
            <a:srgbClr val="FFFFFF"/>
          </a:solidFill>
          <a:ln w="19050">
            <a:solidFill>
              <a:srgbClr val="0D2C54"/>
            </a:solidFill>
            <a:prstDash val="solid"/>
          </a:ln>
        </p:spPr>
      </p:sp>
      <p:sp>
        <p:nvSpPr>
          <p:cNvPr id="14" name="Text 12"/>
          <p:cNvSpPr/>
          <p:nvPr/>
        </p:nvSpPr>
        <p:spPr>
          <a:xfrm>
            <a:off x="5486400" y="2084832"/>
            <a:ext cx="2468880" cy="502920"/>
          </a:xfrm>
          <a:prstGeom prst="rect">
            <a:avLst/>
          </a:prstGeom>
          <a:noFill/>
          <a:ln/>
        </p:spPr>
        <p:txBody>
          <a:bodyPr wrap="square" lIns="508" tIns="508" rIns="508" bIns="508" rtlCol="0" anchor="ctr"/>
          <a:lstStyle/>
          <a:p>
            <a:pPr algn="ctr" indent="0" marL="0">
              <a:buNone/>
            </a:pPr>
            <a:r>
              <a:rPr lang="en-US" sz="900" b="1" dirty="0">
                <a:solidFill>
                  <a:srgbClr val="0D2C54"/>
                </a:solidFill>
                <a:latin typeface="DejaVu Sans Mono" pitchFamily="34" charset="0"/>
                <a:ea typeface="DejaVu Sans Mono" pitchFamily="34" charset="-122"/>
                <a:cs typeface="DejaVu Sans Mono" pitchFamily="34" charset="-120"/>
              </a:rPr>
              <a:t>build mandate-svc</a:t>
            </a:r>
            <a:endParaRPr lang="en-US" sz="900" dirty="0"/>
          </a:p>
        </p:txBody>
      </p:sp>
      <p:sp>
        <p:nvSpPr>
          <p:cNvPr id="15" name="Shape 13"/>
          <p:cNvSpPr/>
          <p:nvPr/>
        </p:nvSpPr>
        <p:spPr>
          <a:xfrm>
            <a:off x="7955280" y="2340864"/>
            <a:ext cx="640080" cy="265176"/>
          </a:xfrm>
          <a:prstGeom prst="line">
            <a:avLst/>
          </a:prstGeom>
          <a:noFill/>
          <a:ln w="13970">
            <a:solidFill>
              <a:srgbClr val="666666"/>
            </a:solidFill>
            <a:prstDash val="solid"/>
            <a:tailEnd type="triangle"/>
          </a:ln>
        </p:spPr>
      </p:sp>
      <p:sp>
        <p:nvSpPr>
          <p:cNvPr id="16" name="Shape 14"/>
          <p:cNvSpPr/>
          <p:nvPr/>
        </p:nvSpPr>
        <p:spPr>
          <a:xfrm>
            <a:off x="5486400" y="2660904"/>
            <a:ext cx="2468880" cy="502920"/>
          </a:xfrm>
          <a:prstGeom prst="roundRect">
            <a:avLst>
              <a:gd name="adj" fmla="val 10909"/>
            </a:avLst>
          </a:prstGeom>
          <a:solidFill>
            <a:srgbClr val="FFFFFF"/>
          </a:solidFill>
          <a:ln w="19050">
            <a:solidFill>
              <a:srgbClr val="0D2C54"/>
            </a:solidFill>
            <a:prstDash val="solid"/>
          </a:ln>
        </p:spPr>
      </p:sp>
      <p:sp>
        <p:nvSpPr>
          <p:cNvPr id="17" name="Text 15"/>
          <p:cNvSpPr/>
          <p:nvPr/>
        </p:nvSpPr>
        <p:spPr>
          <a:xfrm>
            <a:off x="5486400" y="2660904"/>
            <a:ext cx="2468880" cy="502920"/>
          </a:xfrm>
          <a:prstGeom prst="rect">
            <a:avLst/>
          </a:prstGeom>
          <a:noFill/>
          <a:ln/>
        </p:spPr>
        <p:txBody>
          <a:bodyPr wrap="square" lIns="508" tIns="508" rIns="508" bIns="508" rtlCol="0" anchor="ctr"/>
          <a:lstStyle/>
          <a:p>
            <a:pPr algn="ctr" indent="0" marL="0">
              <a:buNone/>
            </a:pPr>
            <a:r>
              <a:rPr lang="en-US" sz="900" b="1" dirty="0">
                <a:solidFill>
                  <a:srgbClr val="0D2C54"/>
                </a:solidFill>
                <a:latin typeface="DejaVu Sans Mono" pitchFamily="34" charset="0"/>
                <a:ea typeface="DejaVu Sans Mono" pitchFamily="34" charset="-122"/>
                <a:cs typeface="DejaVu Sans Mono" pitchFamily="34" charset="-120"/>
              </a:rPr>
              <a:t>build ledger-svc</a:t>
            </a:r>
            <a:endParaRPr lang="en-US" sz="900" dirty="0"/>
          </a:p>
        </p:txBody>
      </p:sp>
      <p:sp>
        <p:nvSpPr>
          <p:cNvPr id="18" name="Shape 16"/>
          <p:cNvSpPr/>
          <p:nvPr/>
        </p:nvSpPr>
        <p:spPr>
          <a:xfrm>
            <a:off x="7955280" y="2916936"/>
            <a:ext cx="640080" cy="-310896"/>
          </a:xfrm>
          <a:prstGeom prst="line">
            <a:avLst/>
          </a:prstGeom>
          <a:noFill/>
          <a:ln w="13970">
            <a:solidFill>
              <a:srgbClr val="666666"/>
            </a:solidFill>
            <a:prstDash val="solid"/>
            <a:tailEnd type="triangle"/>
          </a:ln>
        </p:spPr>
      </p:sp>
      <p:sp>
        <p:nvSpPr>
          <p:cNvPr id="19" name="Shape 17"/>
          <p:cNvSpPr/>
          <p:nvPr/>
        </p:nvSpPr>
        <p:spPr>
          <a:xfrm>
            <a:off x="5486400" y="3236976"/>
            <a:ext cx="2468880" cy="502920"/>
          </a:xfrm>
          <a:prstGeom prst="roundRect">
            <a:avLst>
              <a:gd name="adj" fmla="val 10909"/>
            </a:avLst>
          </a:prstGeom>
          <a:solidFill>
            <a:srgbClr val="FFFFFF"/>
          </a:solidFill>
          <a:ln w="19050">
            <a:solidFill>
              <a:srgbClr val="0D2C54"/>
            </a:solidFill>
            <a:prstDash val="solid"/>
          </a:ln>
        </p:spPr>
      </p:sp>
      <p:sp>
        <p:nvSpPr>
          <p:cNvPr id="20" name="Text 18"/>
          <p:cNvSpPr/>
          <p:nvPr/>
        </p:nvSpPr>
        <p:spPr>
          <a:xfrm>
            <a:off x="5486400" y="3236976"/>
            <a:ext cx="2468880" cy="502920"/>
          </a:xfrm>
          <a:prstGeom prst="rect">
            <a:avLst/>
          </a:prstGeom>
          <a:noFill/>
          <a:ln/>
        </p:spPr>
        <p:txBody>
          <a:bodyPr wrap="square" lIns="508" tIns="508" rIns="508" bIns="508" rtlCol="0" anchor="ctr"/>
          <a:lstStyle/>
          <a:p>
            <a:pPr algn="ctr" indent="0" marL="0">
              <a:buNone/>
            </a:pPr>
            <a:r>
              <a:rPr lang="en-US" sz="900" b="1" dirty="0">
                <a:solidFill>
                  <a:srgbClr val="0D2C54"/>
                </a:solidFill>
                <a:latin typeface="DejaVu Sans Mono" pitchFamily="34" charset="0"/>
                <a:ea typeface="DejaVu Sans Mono" pitchFamily="34" charset="-122"/>
                <a:cs typeface="DejaVu Sans Mono" pitchFamily="34" charset="-120"/>
              </a:rPr>
              <a:t>build settlement-worker</a:t>
            </a:r>
            <a:endParaRPr lang="en-US" sz="900" dirty="0"/>
          </a:p>
        </p:txBody>
      </p:sp>
      <p:sp>
        <p:nvSpPr>
          <p:cNvPr id="21" name="Shape 19"/>
          <p:cNvSpPr/>
          <p:nvPr/>
        </p:nvSpPr>
        <p:spPr>
          <a:xfrm>
            <a:off x="7955280" y="3493008"/>
            <a:ext cx="640080" cy="-886968"/>
          </a:xfrm>
          <a:prstGeom prst="line">
            <a:avLst/>
          </a:prstGeom>
          <a:noFill/>
          <a:ln w="13970">
            <a:solidFill>
              <a:srgbClr val="666666"/>
            </a:solidFill>
            <a:prstDash val="solid"/>
            <a:tailEnd type="triangle"/>
          </a:ln>
        </p:spPr>
      </p:sp>
      <p:sp>
        <p:nvSpPr>
          <p:cNvPr id="22" name="Shape 20"/>
          <p:cNvSpPr/>
          <p:nvPr/>
        </p:nvSpPr>
        <p:spPr>
          <a:xfrm>
            <a:off x="5486400" y="3813048"/>
            <a:ext cx="2468880" cy="502920"/>
          </a:xfrm>
          <a:prstGeom prst="roundRect">
            <a:avLst>
              <a:gd name="adj" fmla="val 10909"/>
            </a:avLst>
          </a:prstGeom>
          <a:solidFill>
            <a:srgbClr val="FFFFFF"/>
          </a:solidFill>
          <a:ln w="19050">
            <a:solidFill>
              <a:srgbClr val="0D2C54"/>
            </a:solidFill>
            <a:prstDash val="solid"/>
          </a:ln>
        </p:spPr>
      </p:sp>
      <p:sp>
        <p:nvSpPr>
          <p:cNvPr id="23" name="Text 21"/>
          <p:cNvSpPr/>
          <p:nvPr/>
        </p:nvSpPr>
        <p:spPr>
          <a:xfrm>
            <a:off x="5486400" y="3813048"/>
            <a:ext cx="2468880" cy="502920"/>
          </a:xfrm>
          <a:prstGeom prst="rect">
            <a:avLst/>
          </a:prstGeom>
          <a:noFill/>
          <a:ln/>
        </p:spPr>
        <p:txBody>
          <a:bodyPr wrap="square" lIns="508" tIns="508" rIns="508" bIns="508" rtlCol="0" anchor="ctr"/>
          <a:lstStyle/>
          <a:p>
            <a:pPr algn="ctr" indent="0" marL="0">
              <a:buNone/>
            </a:pPr>
            <a:r>
              <a:rPr lang="en-US" sz="900" b="1" dirty="0">
                <a:solidFill>
                  <a:srgbClr val="0D2C54"/>
                </a:solidFill>
                <a:latin typeface="DejaVu Sans Mono" pitchFamily="34" charset="0"/>
                <a:ea typeface="DejaVu Sans Mono" pitchFamily="34" charset="-122"/>
                <a:cs typeface="DejaVu Sans Mono" pitchFamily="34" charset="-120"/>
              </a:rPr>
              <a:t>build portal</a:t>
            </a:r>
            <a:endParaRPr lang="en-US" sz="900" dirty="0"/>
          </a:p>
        </p:txBody>
      </p:sp>
      <p:sp>
        <p:nvSpPr>
          <p:cNvPr id="24" name="Shape 22"/>
          <p:cNvSpPr/>
          <p:nvPr/>
        </p:nvSpPr>
        <p:spPr>
          <a:xfrm>
            <a:off x="7955280" y="4069080"/>
            <a:ext cx="640080" cy="-1463040"/>
          </a:xfrm>
          <a:prstGeom prst="line">
            <a:avLst/>
          </a:prstGeom>
          <a:noFill/>
          <a:ln w="13970">
            <a:solidFill>
              <a:srgbClr val="666666"/>
            </a:solidFill>
            <a:prstDash val="solid"/>
            <a:tailEnd type="triangle"/>
          </a:ln>
        </p:spPr>
      </p:sp>
      <p:sp>
        <p:nvSpPr>
          <p:cNvPr id="25" name="Text 23"/>
          <p:cNvSpPr/>
          <p:nvPr/>
        </p:nvSpPr>
        <p:spPr>
          <a:xfrm>
            <a:off x="5486400" y="4389120"/>
            <a:ext cx="2468880" cy="274320"/>
          </a:xfrm>
          <a:prstGeom prst="rect">
            <a:avLst/>
          </a:prstGeom>
          <a:noFill/>
          <a:ln/>
        </p:spPr>
        <p:txBody>
          <a:bodyPr wrap="square" lIns="0" tIns="0" rIns="0" bIns="0" rtlCol="0" anchor="ctr"/>
          <a:lstStyle/>
          <a:p>
            <a:pPr algn="ctr" indent="0" marL="0">
              <a:buNone/>
            </a:pPr>
            <a:r>
              <a:rPr lang="en-US" sz="1000" i="1" dirty="0">
                <a:solidFill>
                  <a:srgbClr val="666666"/>
                </a:solidFill>
                <a:latin typeface="Caladea" pitchFamily="34" charset="0"/>
                <a:ea typeface="Caladea" pitchFamily="34" charset="-122"/>
                <a:cs typeface="Caladea" pitchFamily="34" charset="-120"/>
              </a:rPr>
              <a:t>five images</a:t>
            </a:r>
            <a:endParaRPr lang="en-US" sz="1000" dirty="0"/>
          </a:p>
        </p:txBody>
      </p:sp>
      <p:sp>
        <p:nvSpPr>
          <p:cNvPr id="26" name="Shape 24"/>
          <p:cNvSpPr/>
          <p:nvPr/>
        </p:nvSpPr>
        <p:spPr>
          <a:xfrm>
            <a:off x="8595360" y="2194560"/>
            <a:ext cx="1463040" cy="822960"/>
          </a:xfrm>
          <a:prstGeom prst="roundRect">
            <a:avLst>
              <a:gd name="adj" fmla="val 6667"/>
            </a:avLst>
          </a:prstGeom>
          <a:solidFill>
            <a:srgbClr val="0D2C54"/>
          </a:solidFill>
          <a:ln w="19050">
            <a:solidFill>
              <a:srgbClr val="0D2C54"/>
            </a:solidFill>
            <a:prstDash val="solid"/>
          </a:ln>
        </p:spPr>
      </p:sp>
      <p:sp>
        <p:nvSpPr>
          <p:cNvPr id="27" name="Text 25"/>
          <p:cNvSpPr/>
          <p:nvPr/>
        </p:nvSpPr>
        <p:spPr>
          <a:xfrm>
            <a:off x="8595360" y="2194560"/>
            <a:ext cx="1463040" cy="822960"/>
          </a:xfrm>
          <a:prstGeom prst="rect">
            <a:avLst/>
          </a:prstGeom>
          <a:noFill/>
          <a:ln/>
        </p:spPr>
        <p:txBody>
          <a:bodyPr wrap="square" lIns="508" tIns="508" rIns="508" bIns="508" rtlCol="0" anchor="ctr"/>
          <a:lstStyle/>
          <a:p>
            <a:pPr algn="ctr" indent="0" marL="0">
              <a:buNone/>
            </a:pPr>
            <a:r>
              <a:rPr lang="en-US" sz="1200" b="1" dirty="0">
                <a:solidFill>
                  <a:srgbClr val="FFFFFF"/>
                </a:solidFill>
                <a:latin typeface="Caladea" pitchFamily="34" charset="0"/>
                <a:ea typeface="Caladea" pitchFamily="34" charset="-122"/>
                <a:cs typeface="Caladea" pitchFamily="34" charset="-120"/>
              </a:rPr>
              <a:t>GHCR</a:t>
            </a:r>
            <a:endParaRPr lang="en-US" sz="1200" dirty="0"/>
          </a:p>
          <a:p>
            <a:pPr algn="ctr" indent="0" marL="0">
              <a:buNone/>
            </a:pPr>
            <a:r>
              <a:rPr lang="en-US" sz="1000" dirty="0">
                <a:solidFill>
                  <a:srgbClr val="C9D2E0"/>
                </a:solidFill>
                <a:latin typeface="Caladea" pitchFamily="34" charset="0"/>
                <a:ea typeface="Caladea" pitchFamily="34" charset="-122"/>
                <a:cs typeface="Caladea" pitchFamily="34" charset="-120"/>
              </a:rPr>
              <a:t>tagged</a:t>
            </a:r>
            <a:endParaRPr lang="en-US" sz="1200" dirty="0"/>
          </a:p>
        </p:txBody>
      </p:sp>
      <p:sp>
        <p:nvSpPr>
          <p:cNvPr id="28" name="Shape 26"/>
          <p:cNvSpPr/>
          <p:nvPr/>
        </p:nvSpPr>
        <p:spPr>
          <a:xfrm>
            <a:off x="10058400" y="2606040"/>
            <a:ext cx="548640" cy="0"/>
          </a:xfrm>
          <a:prstGeom prst="line">
            <a:avLst/>
          </a:prstGeom>
          <a:noFill/>
          <a:ln w="25400">
            <a:solidFill>
              <a:srgbClr val="C7A052"/>
            </a:solidFill>
            <a:prstDash val="solid"/>
            <a:tailEnd type="triangle"/>
          </a:ln>
        </p:spPr>
      </p:sp>
      <p:sp>
        <p:nvSpPr>
          <p:cNvPr id="29" name="Shape 27"/>
          <p:cNvSpPr/>
          <p:nvPr/>
        </p:nvSpPr>
        <p:spPr>
          <a:xfrm>
            <a:off x="10607040" y="2194560"/>
            <a:ext cx="914400" cy="822960"/>
          </a:xfrm>
          <a:prstGeom prst="roundRect">
            <a:avLst>
              <a:gd name="adj" fmla="val 6667"/>
            </a:avLst>
          </a:prstGeom>
          <a:solidFill>
            <a:srgbClr val="0D2C54"/>
          </a:solidFill>
          <a:ln w="19050">
            <a:solidFill>
              <a:srgbClr val="0D2C54"/>
            </a:solidFill>
            <a:prstDash val="solid"/>
          </a:ln>
        </p:spPr>
      </p:sp>
      <p:sp>
        <p:nvSpPr>
          <p:cNvPr id="30" name="Text 28"/>
          <p:cNvSpPr/>
          <p:nvPr/>
        </p:nvSpPr>
        <p:spPr>
          <a:xfrm>
            <a:off x="10607040" y="2194560"/>
            <a:ext cx="914400" cy="822960"/>
          </a:xfrm>
          <a:prstGeom prst="rect">
            <a:avLst/>
          </a:prstGeom>
          <a:noFill/>
          <a:ln/>
        </p:spPr>
        <p:txBody>
          <a:bodyPr wrap="square" lIns="508" tIns="508" rIns="508" bIns="508" rtlCol="0" anchor="ctr"/>
          <a:lstStyle/>
          <a:p>
            <a:pPr algn="ctr" indent="0" marL="0">
              <a:buNone/>
            </a:pPr>
            <a:r>
              <a:rPr lang="en-US" sz="1100" b="1" dirty="0">
                <a:solidFill>
                  <a:srgbClr val="FFFFFF"/>
                </a:solidFill>
                <a:latin typeface="Caladea" pitchFamily="34" charset="0"/>
                <a:ea typeface="Caladea" pitchFamily="34" charset="-122"/>
                <a:cs typeface="Caladea" pitchFamily="34" charset="-120"/>
              </a:rPr>
              <a:t>EC2</a:t>
            </a:r>
            <a:endParaRPr lang="en-US" sz="1100" dirty="0"/>
          </a:p>
          <a:p>
            <a:pPr algn="ctr" indent="0" marL="0">
              <a:buNone/>
            </a:pPr>
            <a:r>
              <a:rPr lang="en-US" sz="1000" dirty="0">
                <a:solidFill>
                  <a:srgbClr val="C9D2E0"/>
                </a:solidFill>
                <a:latin typeface="Caladea" pitchFamily="34" charset="0"/>
                <a:ea typeface="Caladea" pitchFamily="34" charset="-122"/>
                <a:cs typeface="Caladea" pitchFamily="34" charset="-120"/>
              </a:rPr>
              <a:t>deploy</a:t>
            </a:r>
            <a:endParaRPr lang="en-US" sz="1100" dirty="0"/>
          </a:p>
        </p:txBody>
      </p:sp>
      <p:sp>
        <p:nvSpPr>
          <p:cNvPr id="31" name="Shape 29"/>
          <p:cNvSpPr/>
          <p:nvPr/>
        </p:nvSpPr>
        <p:spPr>
          <a:xfrm>
            <a:off x="640080" y="4754880"/>
            <a:ext cx="5349240" cy="914400"/>
          </a:xfrm>
          <a:prstGeom prst="roundRect">
            <a:avLst>
              <a:gd name="adj" fmla="val 8000"/>
            </a:avLst>
          </a:prstGeom>
          <a:solidFill>
            <a:srgbClr val="EEF1F5"/>
          </a:solidFill>
          <a:ln w="12700">
            <a:solidFill>
              <a:srgbClr val="0D2C54"/>
            </a:solidFill>
            <a:prstDash val="solid"/>
          </a:ln>
        </p:spPr>
      </p:sp>
      <p:sp>
        <p:nvSpPr>
          <p:cNvPr id="32" name="Text 30"/>
          <p:cNvSpPr/>
          <p:nvPr/>
        </p:nvSpPr>
        <p:spPr>
          <a:xfrm>
            <a:off x="804672" y="4864608"/>
            <a:ext cx="5020056" cy="694944"/>
          </a:xfrm>
          <a:prstGeom prst="rect">
            <a:avLst/>
          </a:prstGeom>
          <a:noFill/>
          <a:ln/>
        </p:spPr>
        <p:txBody>
          <a:bodyPr wrap="square" lIns="0" tIns="0" rIns="0" bIns="0" rtlCol="0" anchor="t"/>
          <a:lstStyle/>
          <a:p>
            <a:pPr indent="0" marL="0">
              <a:buNone/>
            </a:pPr>
            <a:r>
              <a:rPr lang="en-US" sz="1200" b="1" dirty="0">
                <a:solidFill>
                  <a:srgbClr val="0D2C54"/>
                </a:solidFill>
                <a:latin typeface="Caladea" pitchFamily="34" charset="0"/>
                <a:ea typeface="Caladea" pitchFamily="34" charset="-122"/>
                <a:cs typeface="Caladea" pitchFamily="34" charset="-120"/>
              </a:rPr>
              <a:t>Two tags, always</a:t>
            </a:r>
            <a:endParaRPr lang="en-US" sz="1200" dirty="0"/>
          </a:p>
          <a:p>
            <a:pPr indent="0" marL="0">
              <a:buNone/>
            </a:pPr>
            <a:r>
              <a:rPr lang="en-US" sz="1200" dirty="0">
                <a:solidFill>
                  <a:srgbClr val="333333"/>
                </a:solidFill>
                <a:latin typeface="Caladea" pitchFamily="34" charset="0"/>
                <a:ea typeface="Caladea" pitchFamily="34" charset="-122"/>
                <a:cs typeface="Caladea" pitchFamily="34" charset="-120"/>
              </a:rPr>
              <a:t>latest is convenient. The build number is what makes an image traceable. When production breaks, “which build is that?” must have an answer.</a:t>
            </a:r>
            <a:endParaRPr lang="en-US" sz="1200" dirty="0"/>
          </a:p>
        </p:txBody>
      </p:sp>
      <p:sp>
        <p:nvSpPr>
          <p:cNvPr id="33" name="Shape 31"/>
          <p:cNvSpPr/>
          <p:nvPr/>
        </p:nvSpPr>
        <p:spPr>
          <a:xfrm>
            <a:off x="6217920" y="4754880"/>
            <a:ext cx="5349240" cy="914400"/>
          </a:xfrm>
          <a:prstGeom prst="roundRect">
            <a:avLst>
              <a:gd name="adj" fmla="val 8000"/>
            </a:avLst>
          </a:prstGeom>
          <a:solidFill>
            <a:srgbClr val="EEF1F5"/>
          </a:solidFill>
          <a:ln w="12700">
            <a:solidFill>
              <a:srgbClr val="0D2C54"/>
            </a:solidFill>
            <a:prstDash val="solid"/>
          </a:ln>
        </p:spPr>
      </p:sp>
      <p:sp>
        <p:nvSpPr>
          <p:cNvPr id="34" name="Text 32"/>
          <p:cNvSpPr/>
          <p:nvPr/>
        </p:nvSpPr>
        <p:spPr>
          <a:xfrm>
            <a:off x="6382512" y="4864608"/>
            <a:ext cx="5020056" cy="694944"/>
          </a:xfrm>
          <a:prstGeom prst="rect">
            <a:avLst/>
          </a:prstGeom>
          <a:noFill/>
          <a:ln/>
        </p:spPr>
        <p:txBody>
          <a:bodyPr wrap="square" lIns="0" tIns="0" rIns="0" bIns="0" rtlCol="0" anchor="t"/>
          <a:lstStyle/>
          <a:p>
            <a:pPr indent="0" marL="0">
              <a:buNone/>
            </a:pPr>
            <a:r>
              <a:rPr lang="en-US" sz="1200" b="1" dirty="0">
                <a:solidFill>
                  <a:srgbClr val="0D2C54"/>
                </a:solidFill>
                <a:latin typeface="Caladea" pitchFamily="34" charset="0"/>
                <a:ea typeface="Caladea" pitchFamily="34" charset="-122"/>
                <a:cs typeface="Caladea" pitchFamily="34" charset="-120"/>
              </a:rPr>
              <a:t>Lint first, on purpose</a:t>
            </a:r>
            <a:endParaRPr lang="en-US" sz="1200" dirty="0"/>
          </a:p>
          <a:p>
            <a:pPr indent="0" marL="0">
              <a:buNone/>
            </a:pPr>
            <a:r>
              <a:rPr lang="en-US" sz="1200" dirty="0">
                <a:solidFill>
                  <a:srgbClr val="333333"/>
                </a:solidFill>
                <a:latin typeface="Caladea" pitchFamily="34" charset="0"/>
                <a:ea typeface="Caladea" pitchFamily="34" charset="-122"/>
                <a:cs typeface="Caladea" pitchFamily="34" charset="-120"/>
              </a:rPr>
              <a:t>A linter costs seconds; five Docker builds cost minutes. If lint fails, nothing is built. Fail fast, fail cheap — and be ready to explain why you ordered it that way.</a:t>
            </a:r>
            <a:endParaRPr lang="en-US" sz="1200" dirty="0"/>
          </a:p>
        </p:txBody>
      </p:sp>
      <p:sp>
        <p:nvSpPr>
          <p:cNvPr id="35" name="Text 33"/>
          <p:cNvSpPr/>
          <p:nvPr/>
        </p:nvSpPr>
        <p:spPr>
          <a:xfrm>
            <a:off x="640080" y="5852160"/>
            <a:ext cx="10881360" cy="457200"/>
          </a:xfrm>
          <a:prstGeom prst="rect">
            <a:avLst/>
          </a:prstGeom>
          <a:noFill/>
          <a:ln/>
        </p:spPr>
        <p:txBody>
          <a:bodyPr wrap="square" lIns="0" tIns="0" rIns="0" bIns="0" rtlCol="0" anchor="ctr"/>
          <a:lstStyle/>
          <a:p>
            <a:pPr algn="ctr" indent="0" marL="0">
              <a:buNone/>
            </a:pPr>
            <a:r>
              <a:rPr lang="en-US" sz="1250" i="1" dirty="0">
                <a:solidFill>
                  <a:srgbClr val="666666"/>
                </a:solidFill>
                <a:latin typeface="Caladea" pitchFamily="34" charset="0"/>
                <a:ea typeface="Caladea" pitchFamily="34" charset="-122"/>
                <a:cs typeface="Caladea" pitchFamily="34" charset="-120"/>
              </a:rPr>
              <a:t>Expect red before green. paylane's code has real lint findings in it — your pipeline catching them is the pipeline working, not the lab breaking.</a:t>
            </a:r>
            <a:endParaRPr lang="en-US" sz="1250" dirty="0"/>
          </a:p>
        </p:txBody>
      </p:sp>
      <p:sp>
        <p:nvSpPr>
          <p:cNvPr id="36" name="Text 34"/>
          <p:cNvSpPr/>
          <p:nvPr/>
        </p:nvSpPr>
        <p:spPr>
          <a:xfrm>
            <a:off x="11155680" y="6446520"/>
            <a:ext cx="914400" cy="320040"/>
          </a:xfrm>
          <a:prstGeom prst="rect">
            <a:avLst/>
          </a:prstGeom>
          <a:noFill/>
          <a:ln/>
        </p:spPr>
        <p:txBody>
          <a:bodyPr wrap="square" lIns="0" tIns="0" rIns="0" bIns="0" rtlCol="0" anchor="ctr"/>
          <a:lstStyle/>
          <a:p>
            <a:pPr algn="r" indent="0" marL="0">
              <a:buNone/>
            </a:pPr>
            <a:r>
              <a:rPr lang="en-US" sz="1000" dirty="0">
                <a:solidFill>
                  <a:srgbClr val="666666"/>
                </a:solidFill>
                <a:latin typeface="Caladea" pitchFamily="34" charset="0"/>
                <a:ea typeface="Caladea" pitchFamily="34" charset="-122"/>
                <a:cs typeface="Caladea" pitchFamily="34" charset="-120"/>
              </a:rPr>
              <a:t>11 / 15</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47472"/>
            <a:ext cx="10881360" cy="320040"/>
          </a:xfrm>
          <a:prstGeom prst="rect">
            <a:avLst/>
          </a:prstGeom>
          <a:noFill/>
          <a:ln/>
        </p:spPr>
        <p:txBody>
          <a:bodyPr wrap="square" lIns="0" tIns="0" rIns="0" bIns="0" rtlCol="0" anchor="ctr"/>
          <a:lstStyle/>
          <a:p>
            <a:pPr indent="0" marL="0">
              <a:buNone/>
            </a:pPr>
            <a:r>
              <a:rPr lang="en-US" sz="1300" b="1" spc="200" kern="0" dirty="0">
                <a:solidFill>
                  <a:srgbClr val="C7A052"/>
                </a:solidFill>
                <a:latin typeface="Caladea" pitchFamily="34" charset="0"/>
                <a:ea typeface="Caladea" pitchFamily="34" charset="-122"/>
                <a:cs typeface="Caladea" pitchFamily="34" charset="-120"/>
              </a:rPr>
              <a:t>EVERYTHING AT ONCE</a:t>
            </a:r>
            <a:endParaRPr lang="en-US" sz="13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D2C54"/>
                </a:solidFill>
                <a:latin typeface="Caladea" pitchFamily="34" charset="0"/>
                <a:ea typeface="Caladea" pitchFamily="34" charset="-122"/>
                <a:cs typeface="Caladea" pitchFamily="34" charset="-120"/>
              </a:rPr>
              <a:t>One picture to remember</a:t>
            </a:r>
            <a:endParaRPr lang="en-US" sz="3000" dirty="0"/>
          </a:p>
        </p:txBody>
      </p:sp>
      <p:sp>
        <p:nvSpPr>
          <p:cNvPr id="4" name="Shape 2"/>
          <p:cNvSpPr/>
          <p:nvPr/>
        </p:nvSpPr>
        <p:spPr>
          <a:xfrm>
            <a:off x="640080" y="1783080"/>
            <a:ext cx="1554480" cy="685800"/>
          </a:xfrm>
          <a:prstGeom prst="roundRect">
            <a:avLst>
              <a:gd name="adj" fmla="val 8000"/>
            </a:avLst>
          </a:prstGeom>
          <a:solidFill>
            <a:srgbClr val="FFFFFF"/>
          </a:solidFill>
          <a:ln w="19050">
            <a:solidFill>
              <a:srgbClr val="0D2C54"/>
            </a:solidFill>
            <a:prstDash val="solid"/>
          </a:ln>
        </p:spPr>
      </p:sp>
      <p:sp>
        <p:nvSpPr>
          <p:cNvPr id="5" name="Text 3"/>
          <p:cNvSpPr/>
          <p:nvPr/>
        </p:nvSpPr>
        <p:spPr>
          <a:xfrm>
            <a:off x="640080" y="1783080"/>
            <a:ext cx="1554480" cy="685800"/>
          </a:xfrm>
          <a:prstGeom prst="rect">
            <a:avLst/>
          </a:prstGeom>
          <a:noFill/>
          <a:ln/>
        </p:spPr>
        <p:txBody>
          <a:bodyPr wrap="square" lIns="508" tIns="508" rIns="508" bIns="508" rtlCol="0" anchor="ctr"/>
          <a:lstStyle/>
          <a:p>
            <a:pPr algn="ctr" indent="0" marL="0">
              <a:buNone/>
            </a:pPr>
            <a:r>
              <a:rPr lang="en-US" sz="1100" b="1" dirty="0">
                <a:solidFill>
                  <a:srgbClr val="0D2C54"/>
                </a:solidFill>
                <a:latin typeface="DejaVu Sans Mono" pitchFamily="34" charset="0"/>
                <a:ea typeface="DejaVu Sans Mono" pitchFamily="34" charset="-122"/>
                <a:cs typeface="DejaVu Sans Mono" pitchFamily="34" charset="-120"/>
              </a:rPr>
              <a:t>code</a:t>
            </a:r>
            <a:endParaRPr lang="en-US" sz="1100" dirty="0"/>
          </a:p>
          <a:p>
            <a:pPr algn="ctr" indent="0" marL="0">
              <a:buNone/>
            </a:pPr>
            <a:r>
              <a:rPr lang="en-US" sz="850" dirty="0">
                <a:solidFill>
                  <a:srgbClr val="666666"/>
                </a:solidFill>
                <a:latin typeface="Caladea" pitchFamily="34" charset="0"/>
                <a:ea typeface="Caladea" pitchFamily="34" charset="-122"/>
                <a:cs typeface="Caladea" pitchFamily="34" charset="-120"/>
              </a:rPr>
              <a:t>git push</a:t>
            </a:r>
            <a:endParaRPr lang="en-US" sz="1100" dirty="0"/>
          </a:p>
        </p:txBody>
      </p:sp>
      <p:sp>
        <p:nvSpPr>
          <p:cNvPr id="6" name="Shape 4"/>
          <p:cNvSpPr/>
          <p:nvPr/>
        </p:nvSpPr>
        <p:spPr>
          <a:xfrm>
            <a:off x="2194560" y="2121408"/>
            <a:ext cx="457200" cy="0"/>
          </a:xfrm>
          <a:prstGeom prst="line">
            <a:avLst/>
          </a:prstGeom>
          <a:noFill/>
          <a:ln w="22225">
            <a:solidFill>
              <a:srgbClr val="C7A052"/>
            </a:solidFill>
            <a:prstDash val="solid"/>
            <a:tailEnd type="triangle"/>
          </a:ln>
        </p:spPr>
      </p:sp>
      <p:sp>
        <p:nvSpPr>
          <p:cNvPr id="7" name="Shape 5"/>
          <p:cNvSpPr/>
          <p:nvPr/>
        </p:nvSpPr>
        <p:spPr>
          <a:xfrm>
            <a:off x="2651760" y="1783080"/>
            <a:ext cx="1554480" cy="685800"/>
          </a:xfrm>
          <a:prstGeom prst="roundRect">
            <a:avLst>
              <a:gd name="adj" fmla="val 8000"/>
            </a:avLst>
          </a:prstGeom>
          <a:solidFill>
            <a:srgbClr val="FFFFFF"/>
          </a:solidFill>
          <a:ln w="19050">
            <a:solidFill>
              <a:srgbClr val="0D2C54"/>
            </a:solidFill>
            <a:prstDash val="solid"/>
          </a:ln>
        </p:spPr>
      </p:sp>
      <p:sp>
        <p:nvSpPr>
          <p:cNvPr id="8" name="Text 6"/>
          <p:cNvSpPr/>
          <p:nvPr/>
        </p:nvSpPr>
        <p:spPr>
          <a:xfrm>
            <a:off x="2651760" y="1783080"/>
            <a:ext cx="1554480" cy="685800"/>
          </a:xfrm>
          <a:prstGeom prst="rect">
            <a:avLst/>
          </a:prstGeom>
          <a:noFill/>
          <a:ln/>
        </p:spPr>
        <p:txBody>
          <a:bodyPr wrap="square" lIns="508" tIns="508" rIns="508" bIns="508" rtlCol="0" anchor="ctr"/>
          <a:lstStyle/>
          <a:p>
            <a:pPr algn="ctr" indent="0" marL="0">
              <a:buNone/>
            </a:pPr>
            <a:r>
              <a:rPr lang="en-US" sz="1100" b="1" dirty="0">
                <a:solidFill>
                  <a:srgbClr val="0D2C54"/>
                </a:solidFill>
                <a:latin typeface="DejaVu Sans Mono" pitchFamily="34" charset="0"/>
                <a:ea typeface="DejaVu Sans Mono" pitchFamily="34" charset="-122"/>
                <a:cs typeface="DejaVu Sans Mono" pitchFamily="34" charset="-120"/>
              </a:rPr>
              <a:t>Jenkins</a:t>
            </a:r>
            <a:endParaRPr lang="en-US" sz="1100" dirty="0"/>
          </a:p>
          <a:p>
            <a:pPr algn="ctr" indent="0" marL="0">
              <a:buNone/>
            </a:pPr>
            <a:r>
              <a:rPr lang="en-US" sz="850" dirty="0">
                <a:solidFill>
                  <a:srgbClr val="666666"/>
                </a:solidFill>
                <a:latin typeface="Caladea" pitchFamily="34" charset="0"/>
                <a:ea typeface="Caladea" pitchFamily="34" charset="-122"/>
                <a:cs typeface="Caladea" pitchFamily="34" charset="-120"/>
              </a:rPr>
              <a:t>lint → build</a:t>
            </a:r>
            <a:endParaRPr lang="en-US" sz="1100" dirty="0"/>
          </a:p>
        </p:txBody>
      </p:sp>
      <p:sp>
        <p:nvSpPr>
          <p:cNvPr id="9" name="Shape 7"/>
          <p:cNvSpPr/>
          <p:nvPr/>
        </p:nvSpPr>
        <p:spPr>
          <a:xfrm>
            <a:off x="4206240" y="2121408"/>
            <a:ext cx="457200" cy="0"/>
          </a:xfrm>
          <a:prstGeom prst="line">
            <a:avLst/>
          </a:prstGeom>
          <a:noFill/>
          <a:ln w="22225">
            <a:solidFill>
              <a:srgbClr val="C7A052"/>
            </a:solidFill>
            <a:prstDash val="solid"/>
            <a:tailEnd type="triangle"/>
          </a:ln>
        </p:spPr>
      </p:sp>
      <p:sp>
        <p:nvSpPr>
          <p:cNvPr id="10" name="Shape 8"/>
          <p:cNvSpPr/>
          <p:nvPr/>
        </p:nvSpPr>
        <p:spPr>
          <a:xfrm>
            <a:off x="4663440" y="1783080"/>
            <a:ext cx="1554480" cy="685800"/>
          </a:xfrm>
          <a:prstGeom prst="roundRect">
            <a:avLst>
              <a:gd name="adj" fmla="val 8000"/>
            </a:avLst>
          </a:prstGeom>
          <a:solidFill>
            <a:srgbClr val="FFFFFF"/>
          </a:solidFill>
          <a:ln w="19050">
            <a:solidFill>
              <a:srgbClr val="0D2C54"/>
            </a:solidFill>
            <a:prstDash val="solid"/>
          </a:ln>
        </p:spPr>
      </p:sp>
      <p:sp>
        <p:nvSpPr>
          <p:cNvPr id="11" name="Text 9"/>
          <p:cNvSpPr/>
          <p:nvPr/>
        </p:nvSpPr>
        <p:spPr>
          <a:xfrm>
            <a:off x="4663440" y="1783080"/>
            <a:ext cx="1554480" cy="685800"/>
          </a:xfrm>
          <a:prstGeom prst="rect">
            <a:avLst/>
          </a:prstGeom>
          <a:noFill/>
          <a:ln/>
        </p:spPr>
        <p:txBody>
          <a:bodyPr wrap="square" lIns="508" tIns="508" rIns="508" bIns="508" rtlCol="0" anchor="ctr"/>
          <a:lstStyle/>
          <a:p>
            <a:pPr algn="ctr" indent="0" marL="0">
              <a:buNone/>
            </a:pPr>
            <a:r>
              <a:rPr lang="en-US" sz="1100" b="1" dirty="0">
                <a:solidFill>
                  <a:srgbClr val="0D2C54"/>
                </a:solidFill>
                <a:latin typeface="DejaVu Sans Mono" pitchFamily="34" charset="0"/>
                <a:ea typeface="DejaVu Sans Mono" pitchFamily="34" charset="-122"/>
                <a:cs typeface="DejaVu Sans Mono" pitchFamily="34" charset="-120"/>
              </a:rPr>
              <a:t>GHCR</a:t>
            </a:r>
            <a:endParaRPr lang="en-US" sz="1100" dirty="0"/>
          </a:p>
          <a:p>
            <a:pPr algn="ctr" indent="0" marL="0">
              <a:buNone/>
            </a:pPr>
            <a:r>
              <a:rPr lang="en-US" sz="850" dirty="0">
                <a:solidFill>
                  <a:srgbClr val="666666"/>
                </a:solidFill>
                <a:latin typeface="Caladea" pitchFamily="34" charset="0"/>
                <a:ea typeface="Caladea" pitchFamily="34" charset="-122"/>
                <a:cs typeface="Caladea" pitchFamily="34" charset="-120"/>
              </a:rPr>
              <a:t>images</a:t>
            </a:r>
            <a:endParaRPr lang="en-US" sz="1100" dirty="0"/>
          </a:p>
        </p:txBody>
      </p:sp>
      <p:sp>
        <p:nvSpPr>
          <p:cNvPr id="12" name="Shape 10"/>
          <p:cNvSpPr/>
          <p:nvPr/>
        </p:nvSpPr>
        <p:spPr>
          <a:xfrm>
            <a:off x="6217920" y="2121408"/>
            <a:ext cx="548640" cy="0"/>
          </a:xfrm>
          <a:prstGeom prst="line">
            <a:avLst/>
          </a:prstGeom>
          <a:noFill/>
          <a:ln w="22225">
            <a:solidFill>
              <a:srgbClr val="C7A052"/>
            </a:solidFill>
            <a:prstDash val="solid"/>
            <a:tailEnd type="triangle"/>
          </a:ln>
        </p:spPr>
      </p:sp>
      <p:sp>
        <p:nvSpPr>
          <p:cNvPr id="13" name="Shape 11"/>
          <p:cNvSpPr/>
          <p:nvPr/>
        </p:nvSpPr>
        <p:spPr>
          <a:xfrm>
            <a:off x="6766560" y="1463040"/>
            <a:ext cx="4754880" cy="2743200"/>
          </a:xfrm>
          <a:prstGeom prst="roundRect">
            <a:avLst>
              <a:gd name="adj" fmla="val 2667"/>
            </a:avLst>
          </a:prstGeom>
          <a:solidFill>
            <a:srgbClr val="F4ECD8"/>
          </a:solidFill>
          <a:ln w="19050">
            <a:solidFill>
              <a:srgbClr val="C7A052"/>
            </a:solidFill>
            <a:prstDash val="dash"/>
          </a:ln>
        </p:spPr>
      </p:sp>
      <p:sp>
        <p:nvSpPr>
          <p:cNvPr id="14" name="Text 12"/>
          <p:cNvSpPr/>
          <p:nvPr/>
        </p:nvSpPr>
        <p:spPr>
          <a:xfrm>
            <a:off x="6949440" y="1554480"/>
            <a:ext cx="4389120" cy="274320"/>
          </a:xfrm>
          <a:prstGeom prst="rect">
            <a:avLst/>
          </a:prstGeom>
          <a:noFill/>
          <a:ln/>
        </p:spPr>
        <p:txBody>
          <a:bodyPr wrap="square" lIns="0" tIns="0" rIns="0" bIns="0" rtlCol="0" anchor="ctr"/>
          <a:lstStyle/>
          <a:p>
            <a:pPr indent="0" marL="0">
              <a:buNone/>
            </a:pPr>
            <a:r>
              <a:rPr lang="en-US" sz="1200" b="1" dirty="0">
                <a:solidFill>
                  <a:srgbClr val="0D2C54"/>
                </a:solidFill>
                <a:latin typeface="Caladea" pitchFamily="34" charset="0"/>
                <a:ea typeface="Caladea" pitchFamily="34" charset="-122"/>
                <a:cs typeface="Caladea" pitchFamily="34" charset="-120"/>
              </a:rPr>
              <a:t>EC2 — the running system</a:t>
            </a:r>
            <a:endParaRPr lang="en-US" sz="1200" dirty="0"/>
          </a:p>
        </p:txBody>
      </p:sp>
      <p:sp>
        <p:nvSpPr>
          <p:cNvPr id="15" name="Shape 13"/>
          <p:cNvSpPr/>
          <p:nvPr/>
        </p:nvSpPr>
        <p:spPr>
          <a:xfrm>
            <a:off x="6949440" y="1965960"/>
            <a:ext cx="2103120" cy="502920"/>
          </a:xfrm>
          <a:prstGeom prst="roundRect">
            <a:avLst>
              <a:gd name="adj" fmla="val 10909"/>
            </a:avLst>
          </a:prstGeom>
          <a:solidFill>
            <a:srgbClr val="FFFFFF"/>
          </a:solidFill>
          <a:ln w="19050">
            <a:solidFill>
              <a:srgbClr val="0D2C54"/>
            </a:solidFill>
            <a:prstDash val="solid"/>
          </a:ln>
        </p:spPr>
      </p:sp>
      <p:sp>
        <p:nvSpPr>
          <p:cNvPr id="16" name="Text 14"/>
          <p:cNvSpPr/>
          <p:nvPr/>
        </p:nvSpPr>
        <p:spPr>
          <a:xfrm>
            <a:off x="6949440" y="1965960"/>
            <a:ext cx="2103120" cy="502920"/>
          </a:xfrm>
          <a:prstGeom prst="rect">
            <a:avLst/>
          </a:prstGeom>
          <a:noFill/>
          <a:ln/>
        </p:spPr>
        <p:txBody>
          <a:bodyPr wrap="square" lIns="508" tIns="508" rIns="508" bIns="508" rtlCol="0" anchor="ctr"/>
          <a:lstStyle/>
          <a:p>
            <a:pPr algn="ctr" indent="0" marL="0">
              <a:buNone/>
            </a:pPr>
            <a:r>
              <a:rPr lang="en-US" sz="900" b="1" dirty="0">
                <a:solidFill>
                  <a:srgbClr val="0D2C54"/>
                </a:solidFill>
                <a:latin typeface="DejaVu Sans Mono" pitchFamily="34" charset="0"/>
                <a:ea typeface="DejaVu Sans Mono" pitchFamily="34" charset="-122"/>
                <a:cs typeface="DejaVu Sans Mono" pitchFamily="34" charset="-120"/>
              </a:rPr>
              <a:t>portal</a:t>
            </a:r>
            <a:endParaRPr lang="en-US" sz="900" dirty="0"/>
          </a:p>
        </p:txBody>
      </p:sp>
      <p:sp>
        <p:nvSpPr>
          <p:cNvPr id="17" name="Shape 15"/>
          <p:cNvSpPr/>
          <p:nvPr/>
        </p:nvSpPr>
        <p:spPr>
          <a:xfrm>
            <a:off x="9235440" y="1965960"/>
            <a:ext cx="2103120" cy="502920"/>
          </a:xfrm>
          <a:prstGeom prst="roundRect">
            <a:avLst>
              <a:gd name="adj" fmla="val 10909"/>
            </a:avLst>
          </a:prstGeom>
          <a:solidFill>
            <a:srgbClr val="FFFFFF"/>
          </a:solidFill>
          <a:ln w="19050">
            <a:solidFill>
              <a:srgbClr val="0D2C54"/>
            </a:solidFill>
            <a:prstDash val="solid"/>
          </a:ln>
        </p:spPr>
      </p:sp>
      <p:sp>
        <p:nvSpPr>
          <p:cNvPr id="18" name="Text 16"/>
          <p:cNvSpPr/>
          <p:nvPr/>
        </p:nvSpPr>
        <p:spPr>
          <a:xfrm>
            <a:off x="9235440" y="1965960"/>
            <a:ext cx="2103120" cy="502920"/>
          </a:xfrm>
          <a:prstGeom prst="rect">
            <a:avLst/>
          </a:prstGeom>
          <a:noFill/>
          <a:ln/>
        </p:spPr>
        <p:txBody>
          <a:bodyPr wrap="square" lIns="508" tIns="508" rIns="508" bIns="508" rtlCol="0" anchor="ctr"/>
          <a:lstStyle/>
          <a:p>
            <a:pPr algn="ctr" indent="0" marL="0">
              <a:buNone/>
            </a:pPr>
            <a:r>
              <a:rPr lang="en-US" sz="900" b="1" dirty="0">
                <a:solidFill>
                  <a:srgbClr val="0D2C54"/>
                </a:solidFill>
                <a:latin typeface="DejaVu Sans Mono" pitchFamily="34" charset="0"/>
                <a:ea typeface="DejaVu Sans Mono" pitchFamily="34" charset="-122"/>
                <a:cs typeface="DejaVu Sans Mono" pitchFamily="34" charset="-120"/>
              </a:rPr>
              <a:t>3 services</a:t>
            </a:r>
            <a:endParaRPr lang="en-US" sz="900" dirty="0"/>
          </a:p>
        </p:txBody>
      </p:sp>
      <p:sp>
        <p:nvSpPr>
          <p:cNvPr id="19" name="Shape 17"/>
          <p:cNvSpPr/>
          <p:nvPr/>
        </p:nvSpPr>
        <p:spPr>
          <a:xfrm>
            <a:off x="6949440" y="2606040"/>
            <a:ext cx="2103120" cy="502920"/>
          </a:xfrm>
          <a:prstGeom prst="roundRect">
            <a:avLst>
              <a:gd name="adj" fmla="val 10909"/>
            </a:avLst>
          </a:prstGeom>
          <a:solidFill>
            <a:srgbClr val="FFFFFF"/>
          </a:solidFill>
          <a:ln w="19050">
            <a:solidFill>
              <a:srgbClr val="0D2C54"/>
            </a:solidFill>
            <a:prstDash val="solid"/>
          </a:ln>
        </p:spPr>
      </p:sp>
      <p:sp>
        <p:nvSpPr>
          <p:cNvPr id="20" name="Text 18"/>
          <p:cNvSpPr/>
          <p:nvPr/>
        </p:nvSpPr>
        <p:spPr>
          <a:xfrm>
            <a:off x="6949440" y="2606040"/>
            <a:ext cx="2103120" cy="502920"/>
          </a:xfrm>
          <a:prstGeom prst="rect">
            <a:avLst/>
          </a:prstGeom>
          <a:noFill/>
          <a:ln/>
        </p:spPr>
        <p:txBody>
          <a:bodyPr wrap="square" lIns="508" tIns="508" rIns="508" bIns="508" rtlCol="0" anchor="ctr"/>
          <a:lstStyle/>
          <a:p>
            <a:pPr algn="ctr" indent="0" marL="0">
              <a:buNone/>
            </a:pPr>
            <a:r>
              <a:rPr lang="en-US" sz="900" b="1" dirty="0">
                <a:solidFill>
                  <a:srgbClr val="0D2C54"/>
                </a:solidFill>
                <a:latin typeface="DejaVu Sans Mono" pitchFamily="34" charset="0"/>
                <a:ea typeface="DejaVu Sans Mono" pitchFamily="34" charset="-122"/>
                <a:cs typeface="DejaVu Sans Mono" pitchFamily="34" charset="-120"/>
              </a:rPr>
              <a:t>worker</a:t>
            </a:r>
            <a:endParaRPr lang="en-US" sz="900" dirty="0"/>
          </a:p>
        </p:txBody>
      </p:sp>
      <p:sp>
        <p:nvSpPr>
          <p:cNvPr id="21" name="Shape 19"/>
          <p:cNvSpPr/>
          <p:nvPr/>
        </p:nvSpPr>
        <p:spPr>
          <a:xfrm>
            <a:off x="9235440" y="2606040"/>
            <a:ext cx="2103120" cy="502920"/>
          </a:xfrm>
          <a:prstGeom prst="roundRect">
            <a:avLst>
              <a:gd name="adj" fmla="val 10909"/>
            </a:avLst>
          </a:prstGeom>
          <a:solidFill>
            <a:srgbClr val="FFFFFF"/>
          </a:solidFill>
          <a:ln w="19050">
            <a:solidFill>
              <a:srgbClr val="0D2C54"/>
            </a:solidFill>
            <a:prstDash val="solid"/>
          </a:ln>
        </p:spPr>
      </p:sp>
      <p:sp>
        <p:nvSpPr>
          <p:cNvPr id="22" name="Text 20"/>
          <p:cNvSpPr/>
          <p:nvPr/>
        </p:nvSpPr>
        <p:spPr>
          <a:xfrm>
            <a:off x="9235440" y="2606040"/>
            <a:ext cx="2103120" cy="502920"/>
          </a:xfrm>
          <a:prstGeom prst="rect">
            <a:avLst/>
          </a:prstGeom>
          <a:noFill/>
          <a:ln/>
        </p:spPr>
        <p:txBody>
          <a:bodyPr wrap="square" lIns="508" tIns="508" rIns="508" bIns="508" rtlCol="0" anchor="ctr"/>
          <a:lstStyle/>
          <a:p>
            <a:pPr algn="ctr" indent="0" marL="0">
              <a:buNone/>
            </a:pPr>
            <a:r>
              <a:rPr lang="en-US" sz="800" b="1" dirty="0">
                <a:solidFill>
                  <a:srgbClr val="0D2C54"/>
                </a:solidFill>
                <a:latin typeface="DejaVu Sans Mono" pitchFamily="34" charset="0"/>
                <a:ea typeface="DejaVu Sans Mono" pitchFamily="34" charset="-122"/>
                <a:cs typeface="DejaVu Sans Mono" pitchFamily="34" charset="-120"/>
              </a:rPr>
              <a:t>postgres · redis</a:t>
            </a:r>
            <a:endParaRPr lang="en-US" sz="800" dirty="0"/>
          </a:p>
        </p:txBody>
      </p:sp>
      <p:sp>
        <p:nvSpPr>
          <p:cNvPr id="23" name="Text 21"/>
          <p:cNvSpPr/>
          <p:nvPr/>
        </p:nvSpPr>
        <p:spPr>
          <a:xfrm>
            <a:off x="6949440" y="3291840"/>
            <a:ext cx="4389120" cy="320040"/>
          </a:xfrm>
          <a:prstGeom prst="rect">
            <a:avLst/>
          </a:prstGeom>
          <a:noFill/>
          <a:ln/>
        </p:spPr>
        <p:txBody>
          <a:bodyPr wrap="square" lIns="0" tIns="0" rIns="0" bIns="0" rtlCol="0" anchor="ctr"/>
          <a:lstStyle/>
          <a:p>
            <a:pPr indent="0" marL="0">
              <a:buNone/>
            </a:pPr>
            <a:r>
              <a:rPr lang="en-US" sz="1000" i="1" dirty="0">
                <a:solidFill>
                  <a:srgbClr val="666666"/>
                </a:solidFill>
                <a:latin typeface="Caladea" pitchFamily="34" charset="0"/>
                <a:ea typeface="Caladea" pitchFamily="34" charset="-122"/>
                <a:cs typeface="Caladea" pitchFamily="34" charset="-120"/>
              </a:rPr>
              <a:t>provisioned by Terraform · configured by Ansible</a:t>
            </a:r>
            <a:endParaRPr lang="en-US" sz="1000" dirty="0"/>
          </a:p>
        </p:txBody>
      </p:sp>
      <p:sp>
        <p:nvSpPr>
          <p:cNvPr id="24" name="Text 22"/>
          <p:cNvSpPr/>
          <p:nvPr/>
        </p:nvSpPr>
        <p:spPr>
          <a:xfrm>
            <a:off x="6949440" y="3611880"/>
            <a:ext cx="4389120" cy="320040"/>
          </a:xfrm>
          <a:prstGeom prst="rect">
            <a:avLst/>
          </a:prstGeom>
          <a:noFill/>
          <a:ln/>
        </p:spPr>
        <p:txBody>
          <a:bodyPr wrap="square" lIns="0" tIns="0" rIns="0" bIns="0" rtlCol="0" anchor="ctr"/>
          <a:lstStyle/>
          <a:p>
            <a:pPr indent="0" marL="0">
              <a:buNone/>
            </a:pPr>
            <a:r>
              <a:rPr lang="en-US" sz="1000" b="1" i="1" dirty="0">
                <a:solidFill>
                  <a:srgbClr val="0D2C54"/>
                </a:solidFill>
                <a:latin typeface="Caladea" pitchFamily="34" charset="0"/>
                <a:ea typeface="Caladea" pitchFamily="34" charset="-122"/>
                <a:cs typeface="Caladea" pitchFamily="34" charset="-120"/>
              </a:rPr>
              <a:t>~425 MB in 1 GB — it fits, just</a:t>
            </a:r>
            <a:endParaRPr lang="en-US" sz="1000" dirty="0"/>
          </a:p>
        </p:txBody>
      </p:sp>
      <p:sp>
        <p:nvSpPr>
          <p:cNvPr id="25" name="Shape 23"/>
          <p:cNvSpPr/>
          <p:nvPr/>
        </p:nvSpPr>
        <p:spPr>
          <a:xfrm>
            <a:off x="640080" y="4572000"/>
            <a:ext cx="10881360" cy="731520"/>
          </a:xfrm>
          <a:prstGeom prst="roundRect">
            <a:avLst>
              <a:gd name="adj" fmla="val 7500"/>
            </a:avLst>
          </a:prstGeom>
          <a:solidFill>
            <a:srgbClr val="0D2C54"/>
          </a:solidFill>
          <a:ln w="19050">
            <a:solidFill>
              <a:srgbClr val="0D2C54"/>
            </a:solidFill>
            <a:prstDash val="solid"/>
          </a:ln>
        </p:spPr>
      </p:sp>
      <p:sp>
        <p:nvSpPr>
          <p:cNvPr id="26" name="Text 24"/>
          <p:cNvSpPr/>
          <p:nvPr/>
        </p:nvSpPr>
        <p:spPr>
          <a:xfrm>
            <a:off x="640080" y="4572000"/>
            <a:ext cx="10881360" cy="731520"/>
          </a:xfrm>
          <a:prstGeom prst="rect">
            <a:avLst/>
          </a:prstGeom>
          <a:noFill/>
          <a:ln/>
        </p:spPr>
        <p:txBody>
          <a:bodyPr wrap="square" lIns="508" tIns="508" rIns="508" bIns="508" rtlCol="0" anchor="ctr"/>
          <a:lstStyle/>
          <a:p>
            <a:pPr algn="ctr" indent="0" marL="0">
              <a:buNone/>
            </a:pPr>
            <a:r>
              <a:rPr lang="en-US" sz="1300" b="1" dirty="0">
                <a:solidFill>
                  <a:srgbClr val="FFFFFF"/>
                </a:solidFill>
                <a:latin typeface="Caladea" pitchFamily="34" charset="0"/>
                <a:ea typeface="Caladea" pitchFamily="34" charset="-122"/>
                <a:cs typeface="Caladea" pitchFamily="34" charset="-120"/>
              </a:rPr>
              <a:t>observability plane — Prometheus · Grafana · Loki, on your laptop</a:t>
            </a:r>
            <a:endParaRPr lang="en-US" sz="1300" dirty="0"/>
          </a:p>
          <a:p>
            <a:pPr algn="ctr" indent="0" marL="0">
              <a:buNone/>
            </a:pPr>
            <a:r>
              <a:rPr lang="en-US" sz="1000" dirty="0">
                <a:solidFill>
                  <a:srgbClr val="C9D2E0"/>
                </a:solidFill>
                <a:latin typeface="Caladea" pitchFamily="34" charset="0"/>
                <a:ea typeface="Caladea" pitchFamily="34" charset="-122"/>
                <a:cs typeface="Caladea" pitchFamily="34" charset="-120"/>
              </a:rPr>
              <a:t>watches the runtime from outside the request path</a:t>
            </a:r>
            <a:endParaRPr lang="en-US" sz="1300" dirty="0"/>
          </a:p>
        </p:txBody>
      </p:sp>
      <p:sp>
        <p:nvSpPr>
          <p:cNvPr id="27" name="Shape 25"/>
          <p:cNvSpPr/>
          <p:nvPr/>
        </p:nvSpPr>
        <p:spPr>
          <a:xfrm>
            <a:off x="9144000" y="4206240"/>
            <a:ext cx="0" cy="365760"/>
          </a:xfrm>
          <a:prstGeom prst="line">
            <a:avLst/>
          </a:prstGeom>
          <a:noFill/>
          <a:ln w="22225">
            <a:solidFill>
              <a:srgbClr val="666666"/>
            </a:solidFill>
            <a:prstDash val="solid"/>
            <a:tailEnd type="triangle"/>
          </a:ln>
        </p:spPr>
      </p:sp>
      <p:sp>
        <p:nvSpPr>
          <p:cNvPr id="28" name="Text 26"/>
          <p:cNvSpPr/>
          <p:nvPr/>
        </p:nvSpPr>
        <p:spPr>
          <a:xfrm>
            <a:off x="9235440" y="4206240"/>
            <a:ext cx="1463040" cy="274320"/>
          </a:xfrm>
          <a:prstGeom prst="rect">
            <a:avLst/>
          </a:prstGeom>
          <a:noFill/>
          <a:ln/>
        </p:spPr>
        <p:txBody>
          <a:bodyPr wrap="square" lIns="0" tIns="0" rIns="0" bIns="0" rtlCol="0" anchor="ctr"/>
          <a:lstStyle/>
          <a:p>
            <a:pPr indent="0" marL="0">
              <a:buNone/>
            </a:pPr>
            <a:r>
              <a:rPr lang="en-US" sz="800" dirty="0">
                <a:solidFill>
                  <a:srgbClr val="666666"/>
                </a:solidFill>
                <a:latin typeface="DejaVu Sans Mono" pitchFamily="34" charset="0"/>
                <a:ea typeface="DejaVu Sans Mono" pitchFamily="34" charset="-122"/>
                <a:cs typeface="DejaVu Sans Mono" pitchFamily="34" charset="-120"/>
              </a:rPr>
              <a:t>scrape /metrics</a:t>
            </a:r>
            <a:endParaRPr lang="en-US" sz="800" dirty="0"/>
          </a:p>
        </p:txBody>
      </p:sp>
      <p:sp>
        <p:nvSpPr>
          <p:cNvPr id="29" name="Text 27"/>
          <p:cNvSpPr/>
          <p:nvPr/>
        </p:nvSpPr>
        <p:spPr>
          <a:xfrm>
            <a:off x="640080" y="5577840"/>
            <a:ext cx="10881360" cy="457200"/>
          </a:xfrm>
          <a:prstGeom prst="rect">
            <a:avLst/>
          </a:prstGeom>
          <a:noFill/>
          <a:ln/>
        </p:spPr>
        <p:txBody>
          <a:bodyPr wrap="square" lIns="0" tIns="0" rIns="0" bIns="0" rtlCol="0" anchor="ctr"/>
          <a:lstStyle/>
          <a:p>
            <a:pPr algn="ctr" indent="0" marL="0">
              <a:buNone/>
            </a:pPr>
            <a:r>
              <a:rPr lang="en-US" sz="1300" dirty="0">
                <a:solidFill>
                  <a:srgbClr val="333333"/>
                </a:solidFill>
                <a:latin typeface="Caladea" pitchFamily="34" charset="0"/>
                <a:ea typeface="Caladea" pitchFamily="34" charset="-122"/>
                <a:cs typeface="Caladea" pitchFamily="34" charset="-120"/>
              </a:rPr>
              <a:t>Left: how software gets to production. Right: how it runs. Bottom: how you know it's healthy. Every milestone in this sprint lives somewhere on this slide.</a:t>
            </a:r>
            <a:endParaRPr lang="en-US" sz="1300" dirty="0"/>
          </a:p>
        </p:txBody>
      </p:sp>
      <p:sp>
        <p:nvSpPr>
          <p:cNvPr id="30" name="Shape 28"/>
          <p:cNvSpPr/>
          <p:nvPr/>
        </p:nvSpPr>
        <p:spPr>
          <a:xfrm>
            <a:off x="640080" y="6035040"/>
            <a:ext cx="10881360" cy="502920"/>
          </a:xfrm>
          <a:prstGeom prst="roundRect">
            <a:avLst>
              <a:gd name="adj" fmla="val 14545"/>
            </a:avLst>
          </a:prstGeom>
          <a:solidFill>
            <a:srgbClr val="EEF1F5"/>
          </a:solidFill>
          <a:ln w="12700">
            <a:solidFill>
              <a:srgbClr val="0D2C54"/>
            </a:solidFill>
            <a:prstDash val="solid"/>
          </a:ln>
        </p:spPr>
      </p:sp>
      <p:sp>
        <p:nvSpPr>
          <p:cNvPr id="31" name="Text 29"/>
          <p:cNvSpPr/>
          <p:nvPr/>
        </p:nvSpPr>
        <p:spPr>
          <a:xfrm>
            <a:off x="804672" y="6144768"/>
            <a:ext cx="10552176" cy="283464"/>
          </a:xfrm>
          <a:prstGeom prst="rect">
            <a:avLst/>
          </a:prstGeom>
          <a:noFill/>
          <a:ln/>
        </p:spPr>
        <p:txBody>
          <a:bodyPr wrap="square" lIns="0" tIns="0" rIns="0" bIns="0" rtlCol="0" anchor="t"/>
          <a:lstStyle/>
          <a:p>
            <a:pPr indent="0" marL="0">
              <a:buNone/>
            </a:pPr>
            <a:endParaRPr lang="en-US" sz="1200" dirty="0"/>
          </a:p>
          <a:p>
            <a:pPr indent="0" marL="0">
              <a:buNone/>
            </a:pPr>
            <a:r>
              <a:rPr lang="en-US" sz="1200" dirty="0">
                <a:solidFill>
                  <a:srgbClr val="333333"/>
                </a:solidFill>
                <a:latin typeface="Caladea" pitchFamily="34" charset="0"/>
                <a:ea typeface="Caladea" pitchFamily="34" charset="-122"/>
                <a:cs typeface="Caladea" pitchFamily="34" charset="-120"/>
              </a:rPr>
              <a:t>The registry is the handoff: the pipeline ends there, and deployment begins there. The two halves never talk directly.</a:t>
            </a:r>
            <a:endParaRPr lang="en-US" sz="1200" dirty="0"/>
          </a:p>
        </p:txBody>
      </p:sp>
      <p:sp>
        <p:nvSpPr>
          <p:cNvPr id="32" name="Text 30"/>
          <p:cNvSpPr/>
          <p:nvPr/>
        </p:nvSpPr>
        <p:spPr>
          <a:xfrm>
            <a:off x="11155680" y="6446520"/>
            <a:ext cx="914400" cy="320040"/>
          </a:xfrm>
          <a:prstGeom prst="rect">
            <a:avLst/>
          </a:prstGeom>
          <a:noFill/>
          <a:ln/>
        </p:spPr>
        <p:txBody>
          <a:bodyPr wrap="square" lIns="0" tIns="0" rIns="0" bIns="0" rtlCol="0" anchor="ctr"/>
          <a:lstStyle/>
          <a:p>
            <a:pPr algn="r" indent="0" marL="0">
              <a:buNone/>
            </a:pPr>
            <a:r>
              <a:rPr lang="en-US" sz="1000" dirty="0">
                <a:solidFill>
                  <a:srgbClr val="666666"/>
                </a:solidFill>
                <a:latin typeface="Caladea" pitchFamily="34" charset="0"/>
                <a:ea typeface="Caladea" pitchFamily="34" charset="-122"/>
                <a:cs typeface="Caladea" pitchFamily="34" charset="-120"/>
              </a:rPr>
              <a:t>12 / 15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347472"/>
            <a:ext cx="10881360" cy="320040"/>
          </a:xfrm>
          <a:prstGeom prst="rect">
            <a:avLst/>
          </a:prstGeom>
          <a:noFill/>
          <a:ln/>
        </p:spPr>
        <p:txBody>
          <a:bodyPr wrap="square" lIns="0" tIns="0" rIns="0" bIns="0" rtlCol="0" anchor="ctr"/>
          <a:lstStyle/>
          <a:p>
            <a:pPr indent="0" marL="0">
              <a:buNone/>
            </a:pPr>
            <a:r>
              <a:rPr lang="en-US" sz="1300" b="1" spc="200" kern="0" dirty="0">
                <a:solidFill>
                  <a:srgbClr val="C7A052"/>
                </a:solidFill>
                <a:latin typeface="Caladea" pitchFamily="34" charset="0"/>
                <a:ea typeface="Caladea" pitchFamily="34" charset="-122"/>
                <a:cs typeface="Caladea" pitchFamily="34" charset="-120"/>
              </a:rPr>
              <a:t>WHAT PAYLANE DOESN'T HAVE</a:t>
            </a:r>
            <a:endParaRPr lang="en-US" sz="13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D2C54"/>
                </a:solidFill>
                <a:latin typeface="Caladea" pitchFamily="34" charset="0"/>
                <a:ea typeface="Caladea" pitchFamily="34" charset="-122"/>
                <a:cs typeface="Caladea" pitchFamily="34" charset="-120"/>
              </a:rPr>
              <a:t>The list is the work</a:t>
            </a:r>
            <a:endParaRPr lang="en-US" sz="3000" dirty="0"/>
          </a:p>
        </p:txBody>
      </p:sp>
      <p:sp>
        <p:nvSpPr>
          <p:cNvPr id="4" name="Shape 2"/>
          <p:cNvSpPr/>
          <p:nvPr/>
        </p:nvSpPr>
        <p:spPr>
          <a:xfrm>
            <a:off x="640080" y="1645920"/>
            <a:ext cx="10881360" cy="713232"/>
          </a:xfrm>
          <a:prstGeom prst="roundRect">
            <a:avLst>
              <a:gd name="adj" fmla="val 6410"/>
            </a:avLst>
          </a:prstGeom>
          <a:solidFill>
            <a:srgbClr val="FFFFFF"/>
          </a:solidFill>
          <a:ln w="12700">
            <a:solidFill>
              <a:srgbClr val="D5DBE3"/>
            </a:solidFill>
            <a:prstDash val="solid"/>
          </a:ln>
        </p:spPr>
      </p:sp>
      <p:sp>
        <p:nvSpPr>
          <p:cNvPr id="5" name="Text 3"/>
          <p:cNvSpPr/>
          <p:nvPr/>
        </p:nvSpPr>
        <p:spPr>
          <a:xfrm>
            <a:off x="868680" y="1645920"/>
            <a:ext cx="3108960" cy="713232"/>
          </a:xfrm>
          <a:prstGeom prst="rect">
            <a:avLst/>
          </a:prstGeom>
          <a:noFill/>
          <a:ln/>
        </p:spPr>
        <p:txBody>
          <a:bodyPr wrap="square" lIns="0" tIns="0" rIns="0" bIns="0" rtlCol="0" anchor="ctr"/>
          <a:lstStyle/>
          <a:p>
            <a:pPr indent="0" marL="0">
              <a:buNone/>
            </a:pPr>
            <a:r>
              <a:rPr lang="en-US" sz="1300" b="1" dirty="0">
                <a:solidFill>
                  <a:srgbClr val="0D2C54"/>
                </a:solidFill>
                <a:latin typeface="Caladea" pitchFamily="34" charset="0"/>
                <a:ea typeface="Caladea" pitchFamily="34" charset="-122"/>
                <a:cs typeface="Caladea" pitchFamily="34" charset="-120"/>
              </a:rPr>
              <a:t>No container images</a:t>
            </a:r>
            <a:endParaRPr lang="en-US" sz="1300" dirty="0"/>
          </a:p>
        </p:txBody>
      </p:sp>
      <p:sp>
        <p:nvSpPr>
          <p:cNvPr id="6" name="Text 4"/>
          <p:cNvSpPr/>
          <p:nvPr/>
        </p:nvSpPr>
        <p:spPr>
          <a:xfrm>
            <a:off x="4023360" y="1645920"/>
            <a:ext cx="6309360" cy="713232"/>
          </a:xfrm>
          <a:prstGeom prst="rect">
            <a:avLst/>
          </a:prstGeom>
          <a:noFill/>
          <a:ln/>
        </p:spPr>
        <p:txBody>
          <a:bodyPr wrap="square" lIns="0" tIns="0" rIns="0" bIns="0" rtlCol="0" anchor="ctr"/>
          <a:lstStyle/>
          <a:p>
            <a:pPr indent="0" marL="0">
              <a:buNone/>
            </a:pPr>
            <a:r>
              <a:rPr lang="en-US" sz="1200" dirty="0">
                <a:solidFill>
                  <a:srgbClr val="333333"/>
                </a:solidFill>
                <a:latin typeface="Caladea" pitchFamily="34" charset="0"/>
                <a:ea typeface="Caladea" pitchFamily="34" charset="-122"/>
                <a:cs typeface="Caladea" pitchFamily="34" charset="-120"/>
              </a:rPr>
              <a:t>Only the datastores are containerised. paylane's own code isn't.</a:t>
            </a:r>
            <a:endParaRPr lang="en-US" sz="1200" dirty="0"/>
          </a:p>
        </p:txBody>
      </p:sp>
      <p:sp>
        <p:nvSpPr>
          <p:cNvPr id="7" name="Shape 5"/>
          <p:cNvSpPr/>
          <p:nvPr/>
        </p:nvSpPr>
        <p:spPr>
          <a:xfrm>
            <a:off x="10515600" y="1801368"/>
            <a:ext cx="777240" cy="402336"/>
          </a:xfrm>
          <a:prstGeom prst="roundRect">
            <a:avLst>
              <a:gd name="adj" fmla="val 11364"/>
            </a:avLst>
          </a:prstGeom>
          <a:solidFill>
            <a:srgbClr val="C7A052"/>
          </a:solidFill>
          <a:ln/>
        </p:spPr>
      </p:sp>
      <p:sp>
        <p:nvSpPr>
          <p:cNvPr id="8" name="Text 6"/>
          <p:cNvSpPr/>
          <p:nvPr/>
        </p:nvSpPr>
        <p:spPr>
          <a:xfrm>
            <a:off x="10515600" y="1801368"/>
            <a:ext cx="777240" cy="402336"/>
          </a:xfrm>
          <a:prstGeom prst="rect">
            <a:avLst/>
          </a:prstGeom>
          <a:noFill/>
          <a:ln/>
        </p:spPr>
        <p:txBody>
          <a:bodyPr wrap="square" lIns="0" tIns="0" rIns="0" bIns="0" rtlCol="0" anchor="ctr"/>
          <a:lstStyle/>
          <a:p>
            <a:pPr algn="ctr" indent="0" marL="0">
              <a:buNone/>
            </a:pPr>
            <a:r>
              <a:rPr lang="en-US" sz="1150" b="1" dirty="0">
                <a:solidFill>
                  <a:srgbClr val="0D2C54"/>
                </a:solidFill>
                <a:latin typeface="Caladea" pitchFamily="34" charset="0"/>
                <a:ea typeface="Caladea" pitchFamily="34" charset="-122"/>
                <a:cs typeface="Caladea" pitchFamily="34" charset="-120"/>
              </a:rPr>
              <a:t>M1</a:t>
            </a:r>
            <a:endParaRPr lang="en-US" sz="1150" dirty="0"/>
          </a:p>
        </p:txBody>
      </p:sp>
      <p:sp>
        <p:nvSpPr>
          <p:cNvPr id="9" name="Shape 7"/>
          <p:cNvSpPr/>
          <p:nvPr/>
        </p:nvSpPr>
        <p:spPr>
          <a:xfrm>
            <a:off x="640080" y="2450592"/>
            <a:ext cx="10881360" cy="713232"/>
          </a:xfrm>
          <a:prstGeom prst="roundRect">
            <a:avLst>
              <a:gd name="adj" fmla="val 6410"/>
            </a:avLst>
          </a:prstGeom>
          <a:solidFill>
            <a:srgbClr val="FFFFFF"/>
          </a:solidFill>
          <a:ln w="12700">
            <a:solidFill>
              <a:srgbClr val="D5DBE3"/>
            </a:solidFill>
            <a:prstDash val="solid"/>
          </a:ln>
        </p:spPr>
      </p:sp>
      <p:sp>
        <p:nvSpPr>
          <p:cNvPr id="10" name="Text 8"/>
          <p:cNvSpPr/>
          <p:nvPr/>
        </p:nvSpPr>
        <p:spPr>
          <a:xfrm>
            <a:off x="868680" y="2450592"/>
            <a:ext cx="3108960" cy="713232"/>
          </a:xfrm>
          <a:prstGeom prst="rect">
            <a:avLst/>
          </a:prstGeom>
          <a:noFill/>
          <a:ln/>
        </p:spPr>
        <p:txBody>
          <a:bodyPr wrap="square" lIns="0" tIns="0" rIns="0" bIns="0" rtlCol="0" anchor="ctr"/>
          <a:lstStyle/>
          <a:p>
            <a:pPr indent="0" marL="0">
              <a:buNone/>
            </a:pPr>
            <a:r>
              <a:rPr lang="en-US" sz="1300" b="1" dirty="0">
                <a:solidFill>
                  <a:srgbClr val="0D2C54"/>
                </a:solidFill>
                <a:latin typeface="Caladea" pitchFamily="34" charset="0"/>
                <a:ea typeface="Caladea" pitchFamily="34" charset="-122"/>
                <a:cs typeface="Caladea" pitchFamily="34" charset="-120"/>
              </a:rPr>
              <a:t>No infrastructure code</a:t>
            </a:r>
            <a:endParaRPr lang="en-US" sz="1300" dirty="0"/>
          </a:p>
        </p:txBody>
      </p:sp>
      <p:sp>
        <p:nvSpPr>
          <p:cNvPr id="11" name="Text 9"/>
          <p:cNvSpPr/>
          <p:nvPr/>
        </p:nvSpPr>
        <p:spPr>
          <a:xfrm>
            <a:off x="4023360" y="2450592"/>
            <a:ext cx="6309360" cy="713232"/>
          </a:xfrm>
          <a:prstGeom prst="rect">
            <a:avLst/>
          </a:prstGeom>
          <a:noFill/>
          <a:ln/>
        </p:spPr>
        <p:txBody>
          <a:bodyPr wrap="square" lIns="0" tIns="0" rIns="0" bIns="0" rtlCol="0" anchor="ctr"/>
          <a:lstStyle/>
          <a:p>
            <a:pPr indent="0" marL="0">
              <a:buNone/>
            </a:pPr>
            <a:r>
              <a:rPr lang="en-US" sz="1200" dirty="0">
                <a:solidFill>
                  <a:srgbClr val="333333"/>
                </a:solidFill>
                <a:latin typeface="Caladea" pitchFamily="34" charset="0"/>
                <a:ea typeface="Caladea" pitchFamily="34" charset="-122"/>
                <a:cs typeface="Caladea" pitchFamily="34" charset="-120"/>
              </a:rPr>
              <a:t>The environment is whatever your laptop happens to be.</a:t>
            </a:r>
            <a:endParaRPr lang="en-US" sz="1200" dirty="0"/>
          </a:p>
        </p:txBody>
      </p:sp>
      <p:sp>
        <p:nvSpPr>
          <p:cNvPr id="12" name="Shape 10"/>
          <p:cNvSpPr/>
          <p:nvPr/>
        </p:nvSpPr>
        <p:spPr>
          <a:xfrm>
            <a:off x="10515600" y="2606040"/>
            <a:ext cx="777240" cy="402336"/>
          </a:xfrm>
          <a:prstGeom prst="roundRect">
            <a:avLst>
              <a:gd name="adj" fmla="val 11364"/>
            </a:avLst>
          </a:prstGeom>
          <a:solidFill>
            <a:srgbClr val="C7A052"/>
          </a:solidFill>
          <a:ln/>
        </p:spPr>
      </p:sp>
      <p:sp>
        <p:nvSpPr>
          <p:cNvPr id="13" name="Text 11"/>
          <p:cNvSpPr/>
          <p:nvPr/>
        </p:nvSpPr>
        <p:spPr>
          <a:xfrm>
            <a:off x="10515600" y="2606040"/>
            <a:ext cx="777240" cy="402336"/>
          </a:xfrm>
          <a:prstGeom prst="rect">
            <a:avLst/>
          </a:prstGeom>
          <a:noFill/>
          <a:ln/>
        </p:spPr>
        <p:txBody>
          <a:bodyPr wrap="square" lIns="0" tIns="0" rIns="0" bIns="0" rtlCol="0" anchor="ctr"/>
          <a:lstStyle/>
          <a:p>
            <a:pPr algn="ctr" indent="0" marL="0">
              <a:buNone/>
            </a:pPr>
            <a:r>
              <a:rPr lang="en-US" sz="1150" b="1" dirty="0">
                <a:solidFill>
                  <a:srgbClr val="0D2C54"/>
                </a:solidFill>
                <a:latin typeface="Caladea" pitchFamily="34" charset="0"/>
                <a:ea typeface="Caladea" pitchFamily="34" charset="-122"/>
                <a:cs typeface="Caladea" pitchFamily="34" charset="-120"/>
              </a:rPr>
              <a:t>M2</a:t>
            </a:r>
            <a:endParaRPr lang="en-US" sz="1150" dirty="0"/>
          </a:p>
        </p:txBody>
      </p:sp>
      <p:sp>
        <p:nvSpPr>
          <p:cNvPr id="14" name="Shape 12"/>
          <p:cNvSpPr/>
          <p:nvPr/>
        </p:nvSpPr>
        <p:spPr>
          <a:xfrm>
            <a:off x="640080" y="3255264"/>
            <a:ext cx="10881360" cy="713232"/>
          </a:xfrm>
          <a:prstGeom prst="roundRect">
            <a:avLst>
              <a:gd name="adj" fmla="val 6410"/>
            </a:avLst>
          </a:prstGeom>
          <a:solidFill>
            <a:srgbClr val="FFFFFF"/>
          </a:solidFill>
          <a:ln w="12700">
            <a:solidFill>
              <a:srgbClr val="D5DBE3"/>
            </a:solidFill>
            <a:prstDash val="solid"/>
          </a:ln>
        </p:spPr>
      </p:sp>
      <p:sp>
        <p:nvSpPr>
          <p:cNvPr id="15" name="Text 13"/>
          <p:cNvSpPr/>
          <p:nvPr/>
        </p:nvSpPr>
        <p:spPr>
          <a:xfrm>
            <a:off x="868680" y="3255264"/>
            <a:ext cx="3108960" cy="713232"/>
          </a:xfrm>
          <a:prstGeom prst="rect">
            <a:avLst/>
          </a:prstGeom>
          <a:noFill/>
          <a:ln/>
        </p:spPr>
        <p:txBody>
          <a:bodyPr wrap="square" lIns="0" tIns="0" rIns="0" bIns="0" rtlCol="0" anchor="ctr"/>
          <a:lstStyle/>
          <a:p>
            <a:pPr indent="0" marL="0">
              <a:buNone/>
            </a:pPr>
            <a:r>
              <a:rPr lang="en-US" sz="1300" b="1" dirty="0">
                <a:solidFill>
                  <a:srgbClr val="0D2C54"/>
                </a:solidFill>
                <a:latin typeface="Caladea" pitchFamily="34" charset="0"/>
                <a:ea typeface="Caladea" pitchFamily="34" charset="-122"/>
                <a:cs typeface="Caladea" pitchFamily="34" charset="-120"/>
              </a:rPr>
              <a:t>No pipeline</a:t>
            </a:r>
            <a:endParaRPr lang="en-US" sz="1300" dirty="0"/>
          </a:p>
        </p:txBody>
      </p:sp>
      <p:sp>
        <p:nvSpPr>
          <p:cNvPr id="16" name="Text 14"/>
          <p:cNvSpPr/>
          <p:nvPr/>
        </p:nvSpPr>
        <p:spPr>
          <a:xfrm>
            <a:off x="4023360" y="3255264"/>
            <a:ext cx="6309360" cy="713232"/>
          </a:xfrm>
          <a:prstGeom prst="rect">
            <a:avLst/>
          </a:prstGeom>
          <a:noFill/>
          <a:ln/>
        </p:spPr>
        <p:txBody>
          <a:bodyPr wrap="square" lIns="0" tIns="0" rIns="0" bIns="0" rtlCol="0" anchor="ctr"/>
          <a:lstStyle/>
          <a:p>
            <a:pPr indent="0" marL="0">
              <a:buNone/>
            </a:pPr>
            <a:r>
              <a:rPr lang="en-US" sz="1200" dirty="0">
                <a:solidFill>
                  <a:srgbClr val="333333"/>
                </a:solidFill>
                <a:latin typeface="Caladea" pitchFamily="34" charset="0"/>
                <a:ea typeface="Caladea" pitchFamily="34" charset="-122"/>
                <a:cs typeface="Caladea" pitchFamily="34" charset="-120"/>
              </a:rPr>
              <a:t>Nothing is built, linted, or published automatically.</a:t>
            </a:r>
            <a:endParaRPr lang="en-US" sz="1200" dirty="0"/>
          </a:p>
        </p:txBody>
      </p:sp>
      <p:sp>
        <p:nvSpPr>
          <p:cNvPr id="17" name="Shape 15"/>
          <p:cNvSpPr/>
          <p:nvPr/>
        </p:nvSpPr>
        <p:spPr>
          <a:xfrm>
            <a:off x="10515600" y="3410712"/>
            <a:ext cx="777240" cy="402336"/>
          </a:xfrm>
          <a:prstGeom prst="roundRect">
            <a:avLst>
              <a:gd name="adj" fmla="val 11364"/>
            </a:avLst>
          </a:prstGeom>
          <a:solidFill>
            <a:srgbClr val="C7A052"/>
          </a:solidFill>
          <a:ln/>
        </p:spPr>
      </p:sp>
      <p:sp>
        <p:nvSpPr>
          <p:cNvPr id="18" name="Text 16"/>
          <p:cNvSpPr/>
          <p:nvPr/>
        </p:nvSpPr>
        <p:spPr>
          <a:xfrm>
            <a:off x="10515600" y="3410712"/>
            <a:ext cx="777240" cy="402336"/>
          </a:xfrm>
          <a:prstGeom prst="rect">
            <a:avLst/>
          </a:prstGeom>
          <a:noFill/>
          <a:ln/>
        </p:spPr>
        <p:txBody>
          <a:bodyPr wrap="square" lIns="0" tIns="0" rIns="0" bIns="0" rtlCol="0" anchor="ctr"/>
          <a:lstStyle/>
          <a:p>
            <a:pPr algn="ctr" indent="0" marL="0">
              <a:buNone/>
            </a:pPr>
            <a:r>
              <a:rPr lang="en-US" sz="1150" b="1" dirty="0">
                <a:solidFill>
                  <a:srgbClr val="0D2C54"/>
                </a:solidFill>
                <a:latin typeface="Caladea" pitchFamily="34" charset="0"/>
                <a:ea typeface="Caladea" pitchFamily="34" charset="-122"/>
                <a:cs typeface="Caladea" pitchFamily="34" charset="-120"/>
              </a:rPr>
              <a:t>M3</a:t>
            </a:r>
            <a:endParaRPr lang="en-US" sz="1150" dirty="0"/>
          </a:p>
        </p:txBody>
      </p:sp>
      <p:sp>
        <p:nvSpPr>
          <p:cNvPr id="19" name="Shape 17"/>
          <p:cNvSpPr/>
          <p:nvPr/>
        </p:nvSpPr>
        <p:spPr>
          <a:xfrm>
            <a:off x="640080" y="4059936"/>
            <a:ext cx="10881360" cy="713232"/>
          </a:xfrm>
          <a:prstGeom prst="roundRect">
            <a:avLst>
              <a:gd name="adj" fmla="val 6410"/>
            </a:avLst>
          </a:prstGeom>
          <a:solidFill>
            <a:srgbClr val="FFFFFF"/>
          </a:solidFill>
          <a:ln w="12700">
            <a:solidFill>
              <a:srgbClr val="D5DBE3"/>
            </a:solidFill>
            <a:prstDash val="solid"/>
          </a:ln>
        </p:spPr>
      </p:sp>
      <p:sp>
        <p:nvSpPr>
          <p:cNvPr id="20" name="Text 18"/>
          <p:cNvSpPr/>
          <p:nvPr/>
        </p:nvSpPr>
        <p:spPr>
          <a:xfrm>
            <a:off x="868680" y="4059936"/>
            <a:ext cx="3108960" cy="713232"/>
          </a:xfrm>
          <a:prstGeom prst="rect">
            <a:avLst/>
          </a:prstGeom>
          <a:noFill/>
          <a:ln/>
        </p:spPr>
        <p:txBody>
          <a:bodyPr wrap="square" lIns="0" tIns="0" rIns="0" bIns="0" rtlCol="0" anchor="ctr"/>
          <a:lstStyle/>
          <a:p>
            <a:pPr indent="0" marL="0">
              <a:buNone/>
            </a:pPr>
            <a:r>
              <a:rPr lang="en-US" sz="1300" b="1" dirty="0">
                <a:solidFill>
                  <a:srgbClr val="0D2C54"/>
                </a:solidFill>
                <a:latin typeface="Caladea" pitchFamily="34" charset="0"/>
                <a:ea typeface="Caladea" pitchFamily="34" charset="-122"/>
                <a:cs typeface="Caladea" pitchFamily="34" charset="-120"/>
              </a:rPr>
              <a:t>No deployment mechanism</a:t>
            </a:r>
            <a:endParaRPr lang="en-US" sz="1300" dirty="0"/>
          </a:p>
        </p:txBody>
      </p:sp>
      <p:sp>
        <p:nvSpPr>
          <p:cNvPr id="21" name="Text 19"/>
          <p:cNvSpPr/>
          <p:nvPr/>
        </p:nvSpPr>
        <p:spPr>
          <a:xfrm>
            <a:off x="4023360" y="4059936"/>
            <a:ext cx="6309360" cy="713232"/>
          </a:xfrm>
          <a:prstGeom prst="rect">
            <a:avLst/>
          </a:prstGeom>
          <a:noFill/>
          <a:ln/>
        </p:spPr>
        <p:txBody>
          <a:bodyPr wrap="square" lIns="0" tIns="0" rIns="0" bIns="0" rtlCol="0" anchor="ctr"/>
          <a:lstStyle/>
          <a:p>
            <a:pPr indent="0" marL="0">
              <a:buNone/>
            </a:pPr>
            <a:r>
              <a:rPr lang="en-US" sz="1200" dirty="0">
                <a:solidFill>
                  <a:srgbClr val="333333"/>
                </a:solidFill>
                <a:latin typeface="Caladea" pitchFamily="34" charset="0"/>
                <a:ea typeface="Caladea" pitchFamily="34" charset="-122"/>
                <a:cs typeface="Caladea" pitchFamily="34" charset="-120"/>
              </a:rPr>
              <a:t>There is nowhere to deploy to, and no way to do it.</a:t>
            </a:r>
            <a:endParaRPr lang="en-US" sz="1200" dirty="0"/>
          </a:p>
        </p:txBody>
      </p:sp>
      <p:sp>
        <p:nvSpPr>
          <p:cNvPr id="22" name="Shape 20"/>
          <p:cNvSpPr/>
          <p:nvPr/>
        </p:nvSpPr>
        <p:spPr>
          <a:xfrm>
            <a:off x="10515600" y="4215384"/>
            <a:ext cx="777240" cy="402336"/>
          </a:xfrm>
          <a:prstGeom prst="roundRect">
            <a:avLst>
              <a:gd name="adj" fmla="val 11364"/>
            </a:avLst>
          </a:prstGeom>
          <a:solidFill>
            <a:srgbClr val="C7A052"/>
          </a:solidFill>
          <a:ln/>
        </p:spPr>
      </p:sp>
      <p:sp>
        <p:nvSpPr>
          <p:cNvPr id="23" name="Text 21"/>
          <p:cNvSpPr/>
          <p:nvPr/>
        </p:nvSpPr>
        <p:spPr>
          <a:xfrm>
            <a:off x="10515600" y="4215384"/>
            <a:ext cx="777240" cy="402336"/>
          </a:xfrm>
          <a:prstGeom prst="rect">
            <a:avLst/>
          </a:prstGeom>
          <a:noFill/>
          <a:ln/>
        </p:spPr>
        <p:txBody>
          <a:bodyPr wrap="square" lIns="0" tIns="0" rIns="0" bIns="0" rtlCol="0" anchor="ctr"/>
          <a:lstStyle/>
          <a:p>
            <a:pPr algn="ctr" indent="0" marL="0">
              <a:buNone/>
            </a:pPr>
            <a:r>
              <a:rPr lang="en-US" sz="1150" b="1" dirty="0">
                <a:solidFill>
                  <a:srgbClr val="0D2C54"/>
                </a:solidFill>
                <a:latin typeface="Caladea" pitchFamily="34" charset="0"/>
                <a:ea typeface="Caladea" pitchFamily="34" charset="-122"/>
                <a:cs typeface="Caladea" pitchFamily="34" charset="-120"/>
              </a:rPr>
              <a:t>M4</a:t>
            </a:r>
            <a:endParaRPr lang="en-US" sz="1150" dirty="0"/>
          </a:p>
        </p:txBody>
      </p:sp>
      <p:sp>
        <p:nvSpPr>
          <p:cNvPr id="24" name="Shape 22"/>
          <p:cNvSpPr/>
          <p:nvPr/>
        </p:nvSpPr>
        <p:spPr>
          <a:xfrm>
            <a:off x="640080" y="4864608"/>
            <a:ext cx="10881360" cy="713232"/>
          </a:xfrm>
          <a:prstGeom prst="roundRect">
            <a:avLst>
              <a:gd name="adj" fmla="val 6410"/>
            </a:avLst>
          </a:prstGeom>
          <a:solidFill>
            <a:srgbClr val="FFFFFF"/>
          </a:solidFill>
          <a:ln w="12700">
            <a:solidFill>
              <a:srgbClr val="D5DBE3"/>
            </a:solidFill>
            <a:prstDash val="solid"/>
          </a:ln>
        </p:spPr>
      </p:sp>
      <p:sp>
        <p:nvSpPr>
          <p:cNvPr id="25" name="Text 23"/>
          <p:cNvSpPr/>
          <p:nvPr/>
        </p:nvSpPr>
        <p:spPr>
          <a:xfrm>
            <a:off x="868680" y="4864608"/>
            <a:ext cx="3108960" cy="713232"/>
          </a:xfrm>
          <a:prstGeom prst="rect">
            <a:avLst/>
          </a:prstGeom>
          <a:noFill/>
          <a:ln/>
        </p:spPr>
        <p:txBody>
          <a:bodyPr wrap="square" lIns="0" tIns="0" rIns="0" bIns="0" rtlCol="0" anchor="ctr"/>
          <a:lstStyle/>
          <a:p>
            <a:pPr indent="0" marL="0">
              <a:buNone/>
            </a:pPr>
            <a:r>
              <a:rPr lang="en-US" sz="1300" b="1" dirty="0">
                <a:solidFill>
                  <a:srgbClr val="0D2C54"/>
                </a:solidFill>
                <a:latin typeface="Caladea" pitchFamily="34" charset="0"/>
                <a:ea typeface="Caladea" pitchFamily="34" charset="-122"/>
                <a:cs typeface="Caladea" pitchFamily="34" charset="-120"/>
              </a:rPr>
              <a:t>No observability wired up</a:t>
            </a:r>
            <a:endParaRPr lang="en-US" sz="1300" dirty="0"/>
          </a:p>
        </p:txBody>
      </p:sp>
      <p:sp>
        <p:nvSpPr>
          <p:cNvPr id="26" name="Text 24"/>
          <p:cNvSpPr/>
          <p:nvPr/>
        </p:nvSpPr>
        <p:spPr>
          <a:xfrm>
            <a:off x="4023360" y="4864608"/>
            <a:ext cx="6309360" cy="713232"/>
          </a:xfrm>
          <a:prstGeom prst="rect">
            <a:avLst/>
          </a:prstGeom>
          <a:noFill/>
          <a:ln/>
        </p:spPr>
        <p:txBody>
          <a:bodyPr wrap="square" lIns="0" tIns="0" rIns="0" bIns="0" rtlCol="0" anchor="ctr"/>
          <a:lstStyle/>
          <a:p>
            <a:pPr indent="0" marL="0">
              <a:buNone/>
            </a:pPr>
            <a:r>
              <a:rPr lang="en-US" sz="1200" dirty="0">
                <a:solidFill>
                  <a:srgbClr val="333333"/>
                </a:solidFill>
                <a:latin typeface="Caladea" pitchFamily="34" charset="0"/>
                <a:ea typeface="Caladea" pitchFamily="34" charset="-122"/>
                <a:cs typeface="Caladea" pitchFamily="34" charset="-120"/>
              </a:rPr>
              <a:t>Every service exposes /metrics and logs JSON. Nothing collects them.</a:t>
            </a:r>
            <a:endParaRPr lang="en-US" sz="1200" dirty="0"/>
          </a:p>
        </p:txBody>
      </p:sp>
      <p:sp>
        <p:nvSpPr>
          <p:cNvPr id="27" name="Shape 25"/>
          <p:cNvSpPr/>
          <p:nvPr/>
        </p:nvSpPr>
        <p:spPr>
          <a:xfrm>
            <a:off x="10515600" y="5020056"/>
            <a:ext cx="777240" cy="402336"/>
          </a:xfrm>
          <a:prstGeom prst="roundRect">
            <a:avLst>
              <a:gd name="adj" fmla="val 11364"/>
            </a:avLst>
          </a:prstGeom>
          <a:solidFill>
            <a:srgbClr val="C7A052"/>
          </a:solidFill>
          <a:ln/>
        </p:spPr>
      </p:sp>
      <p:sp>
        <p:nvSpPr>
          <p:cNvPr id="28" name="Text 26"/>
          <p:cNvSpPr/>
          <p:nvPr/>
        </p:nvSpPr>
        <p:spPr>
          <a:xfrm>
            <a:off x="10515600" y="5020056"/>
            <a:ext cx="777240" cy="402336"/>
          </a:xfrm>
          <a:prstGeom prst="rect">
            <a:avLst/>
          </a:prstGeom>
          <a:noFill/>
          <a:ln/>
        </p:spPr>
        <p:txBody>
          <a:bodyPr wrap="square" lIns="0" tIns="0" rIns="0" bIns="0" rtlCol="0" anchor="ctr"/>
          <a:lstStyle/>
          <a:p>
            <a:pPr algn="ctr" indent="0" marL="0">
              <a:buNone/>
            </a:pPr>
            <a:r>
              <a:rPr lang="en-US" sz="1150" b="1" dirty="0">
                <a:solidFill>
                  <a:srgbClr val="0D2C54"/>
                </a:solidFill>
                <a:latin typeface="Caladea" pitchFamily="34" charset="0"/>
                <a:ea typeface="Caladea" pitchFamily="34" charset="-122"/>
                <a:cs typeface="Caladea" pitchFamily="34" charset="-120"/>
              </a:rPr>
              <a:t>M4</a:t>
            </a:r>
            <a:endParaRPr lang="en-US" sz="1150" dirty="0"/>
          </a:p>
        </p:txBody>
      </p:sp>
      <p:sp>
        <p:nvSpPr>
          <p:cNvPr id="29" name="Shape 27"/>
          <p:cNvSpPr/>
          <p:nvPr/>
        </p:nvSpPr>
        <p:spPr>
          <a:xfrm>
            <a:off x="640080" y="5669280"/>
            <a:ext cx="10881360" cy="713232"/>
          </a:xfrm>
          <a:prstGeom prst="roundRect">
            <a:avLst>
              <a:gd name="adj" fmla="val 6410"/>
            </a:avLst>
          </a:prstGeom>
          <a:solidFill>
            <a:srgbClr val="FFFFFF"/>
          </a:solidFill>
          <a:ln w="12700">
            <a:solidFill>
              <a:srgbClr val="D5DBE3"/>
            </a:solidFill>
            <a:prstDash val="solid"/>
          </a:ln>
        </p:spPr>
      </p:sp>
      <p:sp>
        <p:nvSpPr>
          <p:cNvPr id="30" name="Text 28"/>
          <p:cNvSpPr/>
          <p:nvPr/>
        </p:nvSpPr>
        <p:spPr>
          <a:xfrm>
            <a:off x="868680" y="5669280"/>
            <a:ext cx="3108960" cy="713232"/>
          </a:xfrm>
          <a:prstGeom prst="rect">
            <a:avLst/>
          </a:prstGeom>
          <a:noFill/>
          <a:ln/>
        </p:spPr>
        <p:txBody>
          <a:bodyPr wrap="square" lIns="0" tIns="0" rIns="0" bIns="0" rtlCol="0" anchor="ctr"/>
          <a:lstStyle/>
          <a:p>
            <a:pPr indent="0" marL="0">
              <a:buNone/>
            </a:pPr>
            <a:r>
              <a:rPr lang="en-US" sz="1300" b="1" dirty="0">
                <a:solidFill>
                  <a:srgbClr val="0D2C54"/>
                </a:solidFill>
                <a:latin typeface="Caladea" pitchFamily="34" charset="0"/>
                <a:ea typeface="Caladea" pitchFamily="34" charset="-122"/>
                <a:cs typeface="Caladea" pitchFamily="34" charset="-120"/>
              </a:rPr>
              <a:t>No runbook</a:t>
            </a:r>
            <a:endParaRPr lang="en-US" sz="1300" dirty="0"/>
          </a:p>
        </p:txBody>
      </p:sp>
      <p:sp>
        <p:nvSpPr>
          <p:cNvPr id="31" name="Text 29"/>
          <p:cNvSpPr/>
          <p:nvPr/>
        </p:nvSpPr>
        <p:spPr>
          <a:xfrm>
            <a:off x="4023360" y="5669280"/>
            <a:ext cx="6309360" cy="713232"/>
          </a:xfrm>
          <a:prstGeom prst="rect">
            <a:avLst/>
          </a:prstGeom>
          <a:noFill/>
          <a:ln/>
        </p:spPr>
        <p:txBody>
          <a:bodyPr wrap="square" lIns="0" tIns="0" rIns="0" bIns="0" rtlCol="0" anchor="ctr"/>
          <a:lstStyle/>
          <a:p>
            <a:pPr indent="0" marL="0">
              <a:buNone/>
            </a:pPr>
            <a:r>
              <a:rPr lang="en-US" sz="1200" dirty="0">
                <a:solidFill>
                  <a:srgbClr val="333333"/>
                </a:solidFill>
                <a:latin typeface="Caladea" pitchFamily="34" charset="0"/>
                <a:ea typeface="Caladea" pitchFamily="34" charset="-122"/>
                <a:cs typeface="Caladea" pitchFamily="34" charset="-120"/>
              </a:rPr>
              <a:t>Nobody but you could keep it running.</a:t>
            </a:r>
            <a:endParaRPr lang="en-US" sz="1200" dirty="0"/>
          </a:p>
        </p:txBody>
      </p:sp>
      <p:sp>
        <p:nvSpPr>
          <p:cNvPr id="32" name="Shape 30"/>
          <p:cNvSpPr/>
          <p:nvPr/>
        </p:nvSpPr>
        <p:spPr>
          <a:xfrm>
            <a:off x="10515600" y="5824728"/>
            <a:ext cx="777240" cy="402336"/>
          </a:xfrm>
          <a:prstGeom prst="roundRect">
            <a:avLst>
              <a:gd name="adj" fmla="val 11364"/>
            </a:avLst>
          </a:prstGeom>
          <a:solidFill>
            <a:srgbClr val="C7A052"/>
          </a:solidFill>
          <a:ln/>
        </p:spPr>
      </p:sp>
      <p:sp>
        <p:nvSpPr>
          <p:cNvPr id="33" name="Text 31"/>
          <p:cNvSpPr/>
          <p:nvPr/>
        </p:nvSpPr>
        <p:spPr>
          <a:xfrm>
            <a:off x="10515600" y="5824728"/>
            <a:ext cx="777240" cy="402336"/>
          </a:xfrm>
          <a:prstGeom prst="rect">
            <a:avLst/>
          </a:prstGeom>
          <a:noFill/>
          <a:ln/>
        </p:spPr>
        <p:txBody>
          <a:bodyPr wrap="square" lIns="0" tIns="0" rIns="0" bIns="0" rtlCol="0" anchor="ctr"/>
          <a:lstStyle/>
          <a:p>
            <a:pPr algn="ctr" indent="0" marL="0">
              <a:buNone/>
            </a:pPr>
            <a:r>
              <a:rPr lang="en-US" sz="1150" b="1" dirty="0">
                <a:solidFill>
                  <a:srgbClr val="0D2C54"/>
                </a:solidFill>
                <a:latin typeface="Caladea" pitchFamily="34" charset="0"/>
                <a:ea typeface="Caladea" pitchFamily="34" charset="-122"/>
                <a:cs typeface="Caladea" pitchFamily="34" charset="-120"/>
              </a:rPr>
              <a:t>M4</a:t>
            </a:r>
            <a:endParaRPr lang="en-US" sz="1150" dirty="0"/>
          </a:p>
        </p:txBody>
      </p:sp>
      <p:sp>
        <p:nvSpPr>
          <p:cNvPr id="34" name="Shape 32"/>
          <p:cNvSpPr/>
          <p:nvPr/>
        </p:nvSpPr>
        <p:spPr>
          <a:xfrm>
            <a:off x="640080" y="6400800"/>
            <a:ext cx="10881360" cy="0"/>
          </a:xfrm>
          <a:prstGeom prst="roundRect">
            <a:avLst>
              <a:gd name="adj" fmla="val Infinity"/>
            </a:avLst>
          </a:prstGeom>
          <a:solidFill>
            <a:srgbClr val="EEF1F5"/>
          </a:solidFill>
          <a:ln w="12700">
            <a:solidFill>
              <a:srgbClr val="0D2C54"/>
            </a:solidFill>
            <a:prstDash val="solid"/>
          </a:ln>
        </p:spPr>
      </p:sp>
      <p:sp>
        <p:nvSpPr>
          <p:cNvPr id="35" name="Text 33"/>
          <p:cNvSpPr/>
          <p:nvPr/>
        </p:nvSpPr>
        <p:spPr>
          <a:xfrm>
            <a:off x="804672" y="6510528"/>
            <a:ext cx="10552176" cy="-219456"/>
          </a:xfrm>
          <a:prstGeom prst="rect">
            <a:avLst/>
          </a:prstGeom>
          <a:noFill/>
          <a:ln/>
        </p:spPr>
        <p:txBody>
          <a:bodyPr wrap="square" lIns="0" tIns="0" rIns="0" bIns="0" rtlCol="0" anchor="t"/>
          <a:lstStyle/>
          <a:p>
            <a:pPr indent="0" marL="0">
              <a:buNone/>
            </a:pPr>
            <a:endParaRPr lang="en-US" sz="1200" dirty="0"/>
          </a:p>
          <a:p>
            <a:pPr indent="0" marL="0">
              <a:buNone/>
            </a:pPr>
            <a:endParaRPr lang="en-US" sz="1200" dirty="0"/>
          </a:p>
        </p:txBody>
      </p:sp>
      <p:sp>
        <p:nvSpPr>
          <p:cNvPr id="36" name="Text 34"/>
          <p:cNvSpPr/>
          <p:nvPr/>
        </p:nvSpPr>
        <p:spPr>
          <a:xfrm>
            <a:off x="640080" y="6400800"/>
            <a:ext cx="10881360" cy="365760"/>
          </a:xfrm>
          <a:prstGeom prst="rect">
            <a:avLst/>
          </a:prstGeom>
          <a:noFill/>
          <a:ln/>
        </p:spPr>
        <p:txBody>
          <a:bodyPr wrap="square" lIns="0" tIns="0" rIns="0" bIns="0" rtlCol="0" anchor="ctr"/>
          <a:lstStyle/>
          <a:p>
            <a:pPr algn="ctr" indent="0" marL="0">
              <a:buNone/>
            </a:pPr>
            <a:r>
              <a:rPr lang="en-US" sz="1300" b="1" dirty="0">
                <a:solidFill>
                  <a:srgbClr val="0D2C54"/>
                </a:solidFill>
                <a:latin typeface="Caladea" pitchFamily="34" charset="0"/>
                <a:ea typeface="Caladea" pitchFamily="34" charset="-122"/>
                <a:cs typeface="Caladea" pitchFamily="34" charset="-120"/>
              </a:rPr>
              <a:t>You are not fixing paylane. paylane works. You are building the platform it should have been running on all along.</a:t>
            </a:r>
            <a:endParaRPr lang="en-US" sz="1300" dirty="0"/>
          </a:p>
        </p:txBody>
      </p:sp>
      <p:sp>
        <p:nvSpPr>
          <p:cNvPr id="37" name="Text 35"/>
          <p:cNvSpPr/>
          <p:nvPr/>
        </p:nvSpPr>
        <p:spPr>
          <a:xfrm>
            <a:off x="11155680" y="6446520"/>
            <a:ext cx="914400" cy="320040"/>
          </a:xfrm>
          <a:prstGeom prst="rect">
            <a:avLst/>
          </a:prstGeom>
          <a:noFill/>
          <a:ln/>
        </p:spPr>
        <p:txBody>
          <a:bodyPr wrap="square" lIns="0" tIns="0" rIns="0" bIns="0" rtlCol="0" anchor="ctr"/>
          <a:lstStyle/>
          <a:p>
            <a:pPr algn="r" indent="0" marL="0">
              <a:buNone/>
            </a:pPr>
            <a:r>
              <a:rPr lang="en-US" sz="1000" dirty="0">
                <a:solidFill>
                  <a:srgbClr val="666666"/>
                </a:solidFill>
                <a:latin typeface="Caladea" pitchFamily="34" charset="0"/>
                <a:ea typeface="Caladea" pitchFamily="34" charset="-122"/>
                <a:cs typeface="Caladea" pitchFamily="34" charset="-120"/>
              </a:rPr>
              <a:t>13 / 15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347472"/>
            <a:ext cx="10881360" cy="320040"/>
          </a:xfrm>
          <a:prstGeom prst="rect">
            <a:avLst/>
          </a:prstGeom>
          <a:noFill/>
          <a:ln/>
        </p:spPr>
        <p:txBody>
          <a:bodyPr wrap="square" lIns="0" tIns="0" rIns="0" bIns="0" rtlCol="0" anchor="ctr"/>
          <a:lstStyle/>
          <a:p>
            <a:pPr indent="0" marL="0">
              <a:buNone/>
            </a:pPr>
            <a:r>
              <a:rPr lang="en-US" sz="1300" b="1" spc="200" kern="0" dirty="0">
                <a:solidFill>
                  <a:srgbClr val="C7A052"/>
                </a:solidFill>
                <a:latin typeface="Caladea" pitchFamily="34" charset="0"/>
                <a:ea typeface="Caladea" pitchFamily="34" charset="-122"/>
                <a:cs typeface="Caladea" pitchFamily="34" charset="-120"/>
              </a:rPr>
              <a:t>ONE MORE THING</a:t>
            </a:r>
            <a:endParaRPr lang="en-US" sz="13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0D2C54"/>
                </a:solidFill>
                <a:latin typeface="Caladea" pitchFamily="34" charset="0"/>
                <a:ea typeface="Caladea" pitchFamily="34" charset="-122"/>
                <a:cs typeface="Caladea" pitchFamily="34" charset="-120"/>
              </a:rPr>
              <a:t>There is a real bug in here</a:t>
            </a:r>
            <a:endParaRPr lang="en-US" sz="3000" dirty="0"/>
          </a:p>
        </p:txBody>
      </p:sp>
      <p:sp>
        <p:nvSpPr>
          <p:cNvPr id="4" name="Text 2"/>
          <p:cNvSpPr/>
          <p:nvPr/>
        </p:nvSpPr>
        <p:spPr>
          <a:xfrm>
            <a:off x="640080" y="1554480"/>
            <a:ext cx="10881360" cy="640080"/>
          </a:xfrm>
          <a:prstGeom prst="rect">
            <a:avLst/>
          </a:prstGeom>
          <a:noFill/>
          <a:ln/>
        </p:spPr>
        <p:txBody>
          <a:bodyPr wrap="square" lIns="0" tIns="0" rIns="0" bIns="0" rtlCol="0" anchor="ctr"/>
          <a:lstStyle/>
          <a:p>
            <a:pPr indent="0" marL="0">
              <a:buNone/>
            </a:pPr>
            <a:r>
              <a:rPr lang="en-US" sz="1600" dirty="0">
                <a:solidFill>
                  <a:srgbClr val="333333"/>
                </a:solidFill>
                <a:latin typeface="Caladea" pitchFamily="34" charset="0"/>
                <a:ea typeface="Caladea" pitchFamily="34" charset="-122"/>
                <a:cs typeface="Caladea" pitchFamily="34" charset="-120"/>
              </a:rPr>
              <a:t>paylane works. It also has a defect — not a puzzle invented for this exercise, but a genuine bug of a kind that has cost real companies real money.</a:t>
            </a:r>
            <a:endParaRPr lang="en-US" sz="1600" dirty="0"/>
          </a:p>
        </p:txBody>
      </p:sp>
      <p:sp>
        <p:nvSpPr>
          <p:cNvPr id="5" name="Shape 3"/>
          <p:cNvSpPr/>
          <p:nvPr/>
        </p:nvSpPr>
        <p:spPr>
          <a:xfrm>
            <a:off x="640080" y="2286000"/>
            <a:ext cx="10881360" cy="1371600"/>
          </a:xfrm>
          <a:prstGeom prst="roundRect">
            <a:avLst>
              <a:gd name="adj" fmla="val 5333"/>
            </a:avLst>
          </a:prstGeom>
          <a:solidFill>
            <a:srgbClr val="F7F3E8"/>
          </a:solidFill>
          <a:ln w="12700">
            <a:solidFill>
              <a:srgbClr val="666666"/>
            </a:solidFill>
            <a:prstDash val="solid"/>
          </a:ln>
        </p:spPr>
      </p:sp>
      <p:sp>
        <p:nvSpPr>
          <p:cNvPr id="6" name="Text 4"/>
          <p:cNvSpPr/>
          <p:nvPr/>
        </p:nvSpPr>
        <p:spPr>
          <a:xfrm>
            <a:off x="868680" y="2423160"/>
            <a:ext cx="10424160" cy="1097280"/>
          </a:xfrm>
          <a:prstGeom prst="rect">
            <a:avLst/>
          </a:prstGeom>
          <a:noFill/>
          <a:ln/>
        </p:spPr>
        <p:txBody>
          <a:bodyPr wrap="square" lIns="0" tIns="0" rIns="0" bIns="0" rtlCol="0" anchor="t"/>
          <a:lstStyle/>
          <a:p>
            <a:pPr indent="0" marL="0">
              <a:buNone/>
            </a:pPr>
            <a:r>
              <a:rPr lang="en-US" sz="1100" dirty="0">
                <a:solidFill>
                  <a:srgbClr val="333333"/>
                </a:solidFill>
                <a:latin typeface="DejaVu Sans Mono" pitchFamily="34" charset="0"/>
                <a:ea typeface="DejaVu Sans Mono" pitchFamily="34" charset="-122"/>
                <a:cs typeface="DejaVu Sans Mono" pitchFamily="34" charset="-120"/>
              </a:rPr>
              <a:t>curl -X POST /payments -d '{"mandate_ref":"MND-5003","amount_paise":10000,</a:t>
            </a:r>
            <a:endParaRPr lang="en-US" sz="1100" dirty="0"/>
          </a:p>
          <a:p>
            <a:pPr indent="0" marL="0">
              <a:buNone/>
            </a:pPr>
            <a:r>
              <a:rPr lang="en-US" sz="1100" dirty="0">
                <a:solidFill>
                  <a:srgbClr val="333333"/>
                </a:solidFill>
                <a:latin typeface="DejaVu Sans Mono" pitchFamily="34" charset="0"/>
                <a:ea typeface="DejaVu Sans Mono" pitchFamily="34" charset="-122"/>
                <a:cs typeface="DejaVu Sans Mono" pitchFamily="34" charset="-120"/>
              </a:rPr>
              <a:t>                            "idempotency_key":"REQ-ABC-123"}'</a:t>
            </a:r>
            <a:endParaRPr lang="en-US" sz="1100" dirty="0"/>
          </a:p>
          <a:p>
            <a:pPr indent="0" marL="0">
              <a:buNone/>
            </a:pPr>
            <a:endParaRPr lang="en-US" sz="1100" dirty="0"/>
          </a:p>
          <a:p>
            <a:pPr indent="0" marL="0">
              <a:buNone/>
            </a:pPr>
            <a:r>
              <a:rPr lang="en-US" sz="1100" dirty="0">
                <a:solidFill>
                  <a:srgbClr val="666666"/>
                </a:solidFill>
                <a:latin typeface="DejaVu Sans Mono" pitchFamily="34" charset="0"/>
                <a:ea typeface="DejaVu Sans Mono" pitchFamily="34" charset="-122"/>
                <a:cs typeface="DejaVu Sans Mono" pitchFamily="34" charset="-120"/>
              </a:rPr>
              <a:t># ...and again, with the same key:</a:t>
            </a:r>
            <a:endParaRPr lang="en-US" sz="1100" dirty="0"/>
          </a:p>
          <a:p>
            <a:pPr indent="0" marL="0">
              <a:buNone/>
            </a:pPr>
            <a:r>
              <a:rPr lang="en-US" sz="1100" dirty="0">
                <a:solidFill>
                  <a:srgbClr val="333333"/>
                </a:solidFill>
                <a:latin typeface="DejaVu Sans Mono" pitchFamily="34" charset="0"/>
                <a:ea typeface="DejaVu Sans Mono" pitchFamily="34" charset="-122"/>
                <a:cs typeface="DejaVu Sans Mono" pitchFamily="34" charset="-120"/>
              </a:rPr>
              <a:t>curl -X POST /payments -d '{... "idempotency_key":"REQ-ABC-123"}'</a:t>
            </a:r>
            <a:endParaRPr lang="en-US" sz="1100" dirty="0"/>
          </a:p>
        </p:txBody>
      </p:sp>
      <p:sp>
        <p:nvSpPr>
          <p:cNvPr id="7" name="Text 5"/>
          <p:cNvSpPr/>
          <p:nvPr/>
        </p:nvSpPr>
        <p:spPr>
          <a:xfrm>
            <a:off x="640080" y="3840480"/>
            <a:ext cx="10881360" cy="640080"/>
          </a:xfrm>
          <a:prstGeom prst="rect">
            <a:avLst/>
          </a:prstGeom>
          <a:noFill/>
          <a:ln/>
        </p:spPr>
        <p:txBody>
          <a:bodyPr wrap="square" lIns="0" tIns="0" rIns="0" bIns="0" rtlCol="0" anchor="ctr"/>
          <a:lstStyle/>
          <a:p>
            <a:pPr indent="0" marL="0">
              <a:buNone/>
            </a:pPr>
            <a:r>
              <a:rPr lang="en-US" sz="1500" dirty="0">
                <a:solidFill>
                  <a:srgbClr val="333333"/>
                </a:solidFill>
                <a:latin typeface="Caladea" pitchFamily="34" charset="0"/>
                <a:ea typeface="Caladea" pitchFamily="34" charset="-122"/>
                <a:cs typeface="Caladea" pitchFamily="34" charset="-120"/>
              </a:rPr>
              <a:t>An idempotency key means: </a:t>
            </a:r>
            <a:pPr indent="0" marL="0">
              <a:buNone/>
            </a:pPr>
            <a:r>
              <a:rPr lang="en-US" sz="1500" b="1" dirty="0">
                <a:solidFill>
                  <a:srgbClr val="0D2C54"/>
                </a:solidFill>
                <a:latin typeface="Caladea" pitchFamily="34" charset="0"/>
                <a:ea typeface="Caladea" pitchFamily="34" charset="-122"/>
                <a:cs typeface="Caladea" pitchFamily="34" charset="-120"/>
              </a:rPr>
              <a:t>“if you have seen this key before, do not do the work again.”</a:t>
            </a:r>
            <a:pPr indent="0" marL="0">
              <a:buNone/>
            </a:pPr>
            <a:r>
              <a:rPr lang="en-US" sz="1500" dirty="0">
                <a:solidFill>
                  <a:srgbClr val="333333"/>
                </a:solidFill>
                <a:latin typeface="Caladea" pitchFamily="34" charset="0"/>
                <a:ea typeface="Caladea" pitchFamily="34" charset="-122"/>
                <a:cs typeface="Caladea" pitchFamily="34" charset="-120"/>
              </a:rPr>
              <a:t>  Did that happen? Check /reconcile. Check the ledger. Check the payer's balance.</a:t>
            </a:r>
            <a:endParaRPr lang="en-US" sz="1500" dirty="0"/>
          </a:p>
        </p:txBody>
      </p:sp>
      <p:sp>
        <p:nvSpPr>
          <p:cNvPr id="8" name="Shape 6"/>
          <p:cNvSpPr/>
          <p:nvPr/>
        </p:nvSpPr>
        <p:spPr>
          <a:xfrm>
            <a:off x="640080" y="4617720"/>
            <a:ext cx="10881360" cy="960120"/>
          </a:xfrm>
          <a:prstGeom prst="roundRect">
            <a:avLst>
              <a:gd name="adj" fmla="val 7619"/>
            </a:avLst>
          </a:prstGeom>
          <a:solidFill>
            <a:srgbClr val="F4ECD8"/>
          </a:solidFill>
          <a:ln w="12700">
            <a:solidFill>
              <a:srgbClr val="C7A052"/>
            </a:solidFill>
            <a:prstDash val="solid"/>
          </a:ln>
        </p:spPr>
      </p:sp>
      <p:sp>
        <p:nvSpPr>
          <p:cNvPr id="9" name="Text 7"/>
          <p:cNvSpPr/>
          <p:nvPr/>
        </p:nvSpPr>
        <p:spPr>
          <a:xfrm>
            <a:off x="804672" y="4727448"/>
            <a:ext cx="10552176" cy="740664"/>
          </a:xfrm>
          <a:prstGeom prst="rect">
            <a:avLst/>
          </a:prstGeom>
          <a:noFill/>
          <a:ln/>
        </p:spPr>
        <p:txBody>
          <a:bodyPr wrap="square" lIns="0" tIns="0" rIns="0" bIns="0" rtlCol="0" anchor="t"/>
          <a:lstStyle/>
          <a:p>
            <a:pPr indent="0" marL="0">
              <a:buNone/>
            </a:pPr>
            <a:r>
              <a:rPr lang="en-US" sz="1200" b="1" dirty="0">
                <a:solidFill>
                  <a:srgbClr val="0D2C54"/>
                </a:solidFill>
                <a:latin typeface="Caladea" pitchFamily="34" charset="0"/>
                <a:ea typeface="Caladea" pitchFamily="34" charset="-122"/>
                <a:cs typeface="Caladea" pitchFamily="34" charset="-120"/>
              </a:rPr>
              <a:t>Look further than the first answer</a:t>
            </a:r>
            <a:endParaRPr lang="en-US" sz="1200" dirty="0"/>
          </a:p>
          <a:p>
            <a:pPr indent="0" marL="0">
              <a:buNone/>
            </a:pPr>
            <a:r>
              <a:rPr lang="en-US" sz="1250" dirty="0">
                <a:solidFill>
                  <a:srgbClr val="333333"/>
                </a:solidFill>
                <a:latin typeface="Caladea" pitchFamily="34" charset="0"/>
                <a:ea typeface="Caladea" pitchFamily="34" charset="-122"/>
                <a:cs typeface="Caladea" pitchFamily="34" charset="-120"/>
              </a:rPr>
              <a:t>There may be more than one thing wrong here, and they may be independent of each other. Look also at how settlement-worker creates its database engine, and at what happens to a job when settlement throws an exception. The most interesting production failures are usually like this: one symptom, two causes, neither sufficient on its own.</a:t>
            </a:r>
            <a:endParaRPr lang="en-US" sz="1200" dirty="0"/>
          </a:p>
        </p:txBody>
      </p:sp>
      <p:sp>
        <p:nvSpPr>
          <p:cNvPr id="10" name="Text 8"/>
          <p:cNvSpPr/>
          <p:nvPr/>
        </p:nvSpPr>
        <p:spPr>
          <a:xfrm>
            <a:off x="640080" y="5760720"/>
            <a:ext cx="10881360" cy="640080"/>
          </a:xfrm>
          <a:prstGeom prst="rect">
            <a:avLst/>
          </a:prstGeom>
          <a:noFill/>
          <a:ln/>
        </p:spPr>
        <p:txBody>
          <a:bodyPr wrap="square" lIns="0" tIns="0" rIns="0" bIns="0" rtlCol="0" anchor="ctr"/>
          <a:lstStyle/>
          <a:p>
            <a:pPr algn="ctr" indent="0" marL="0">
              <a:buNone/>
            </a:pPr>
            <a:r>
              <a:rPr lang="en-US" sz="1350" b="1" dirty="0">
                <a:solidFill>
                  <a:srgbClr val="0D2C54"/>
                </a:solidFill>
                <a:latin typeface="Caladea" pitchFamily="34" charset="0"/>
                <a:ea typeface="Caladea" pitchFamily="34" charset="-122"/>
                <a:cs typeface="Caladea" pitchFamily="34" charset="-120"/>
              </a:rPr>
              <a:t>Every candidate can say “I built a CI/CD pipeline.” Almost none can say “we double-charged a customer, and here is how I found it.” That story is the most valuable thing you will build here.</a:t>
            </a:r>
            <a:endParaRPr lang="en-US" sz="1350" dirty="0"/>
          </a:p>
        </p:txBody>
      </p:sp>
      <p:sp>
        <p:nvSpPr>
          <p:cNvPr id="11" name="Text 9"/>
          <p:cNvSpPr/>
          <p:nvPr/>
        </p:nvSpPr>
        <p:spPr>
          <a:xfrm>
            <a:off x="11155680" y="6446520"/>
            <a:ext cx="914400" cy="320040"/>
          </a:xfrm>
          <a:prstGeom prst="rect">
            <a:avLst/>
          </a:prstGeom>
          <a:noFill/>
          <a:ln/>
        </p:spPr>
        <p:txBody>
          <a:bodyPr wrap="square" lIns="0" tIns="0" rIns="0" bIns="0" rtlCol="0" anchor="ctr"/>
          <a:lstStyle/>
          <a:p>
            <a:pPr algn="r" indent="0" marL="0">
              <a:buNone/>
            </a:pPr>
            <a:r>
              <a:rPr lang="en-US" sz="1000" dirty="0">
                <a:solidFill>
                  <a:srgbClr val="666666"/>
                </a:solidFill>
                <a:latin typeface="Caladea" pitchFamily="34" charset="0"/>
                <a:ea typeface="Caladea" pitchFamily="34" charset="-122"/>
                <a:cs typeface="Caladea" pitchFamily="34" charset="-120"/>
              </a:rPr>
              <a:t>14 / 15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2C54"/>
        </a:solidFill>
      </p:bgPr>
    </p:bg>
    <p:spTree>
      <p:nvGrpSpPr>
        <p:cNvPr id="1" name=""/>
        <p:cNvGrpSpPr/>
        <p:nvPr/>
      </p:nvGrpSpPr>
      <p:grpSpPr>
        <a:xfrm>
          <a:off x="0" y="0"/>
          <a:ext cx="0" cy="0"/>
          <a:chOff x="0" y="0"/>
          <a:chExt cx="0" cy="0"/>
        </a:xfrm>
      </p:grpSpPr>
      <p:sp>
        <p:nvSpPr>
          <p:cNvPr id="2" name="Text 0"/>
          <p:cNvSpPr/>
          <p:nvPr/>
        </p:nvSpPr>
        <p:spPr>
          <a:xfrm>
            <a:off x="822960" y="1371600"/>
            <a:ext cx="10515600" cy="365760"/>
          </a:xfrm>
          <a:prstGeom prst="rect">
            <a:avLst/>
          </a:prstGeom>
          <a:noFill/>
          <a:ln/>
        </p:spPr>
        <p:txBody>
          <a:bodyPr wrap="square" lIns="0" tIns="0" rIns="0" bIns="0" rtlCol="0" anchor="ctr"/>
          <a:lstStyle/>
          <a:p>
            <a:pPr indent="0" marL="0">
              <a:buNone/>
            </a:pPr>
            <a:r>
              <a:rPr lang="en-US" sz="1400" b="1" spc="200" kern="0" dirty="0">
                <a:solidFill>
                  <a:srgbClr val="C7A052"/>
                </a:solidFill>
                <a:latin typeface="Caladea" pitchFamily="34" charset="0"/>
                <a:ea typeface="Caladea" pitchFamily="34" charset="-122"/>
                <a:cs typeface="Caladea" pitchFamily="34" charset="-120"/>
              </a:rPr>
              <a:t>WHAT YOU WALK OUT WITH</a:t>
            </a:r>
            <a:endParaRPr lang="en-US" sz="1400" dirty="0"/>
          </a:p>
        </p:txBody>
      </p:sp>
      <p:sp>
        <p:nvSpPr>
          <p:cNvPr id="3" name="Text 1"/>
          <p:cNvSpPr/>
          <p:nvPr/>
        </p:nvSpPr>
        <p:spPr>
          <a:xfrm>
            <a:off x="822960" y="178308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ladea" pitchFamily="34" charset="0"/>
                <a:ea typeface="Caladea" pitchFamily="34" charset="-122"/>
                <a:cs typeface="Caladea" pitchFamily="34" charset="-120"/>
              </a:rPr>
              <a:t>Three things, and only one of them is code</a:t>
            </a:r>
            <a:endParaRPr lang="en-US" sz="3400" dirty="0"/>
          </a:p>
        </p:txBody>
      </p:sp>
      <p:sp>
        <p:nvSpPr>
          <p:cNvPr id="4" name="Text 2"/>
          <p:cNvSpPr/>
          <p:nvPr/>
        </p:nvSpPr>
        <p:spPr>
          <a:xfrm>
            <a:off x="822960" y="2834640"/>
            <a:ext cx="10424160" cy="2926080"/>
          </a:xfrm>
          <a:prstGeom prst="rect">
            <a:avLst/>
          </a:prstGeom>
          <a:noFill/>
          <a:ln/>
        </p:spPr>
        <p:txBody>
          <a:bodyPr wrap="square" lIns="0" tIns="0" rIns="0" bIns="0" rtlCol="0" anchor="t"/>
          <a:lstStyle/>
          <a:p>
            <a:pPr marL="342900" indent="-342900">
              <a:buSzPct val="100000"/>
              <a:buChar char="•"/>
            </a:pPr>
            <a:r>
              <a:rPr lang="en-US" sz="1800" b="1" dirty="0">
                <a:solidFill>
                  <a:srgbClr val="C7A052"/>
                </a:solidFill>
                <a:latin typeface="Caladea" pitchFamily="34" charset="0"/>
                <a:ea typeface="Caladea" pitchFamily="34" charset="-122"/>
                <a:cs typeface="Caladea" pitchFamily="34" charset="-120"/>
              </a:rPr>
              <a:t>A repository with real history.</a:t>
            </a:r>
            <a:endParaRPr lang="en-US" sz="1800" dirty="0"/>
          </a:p>
          <a:p>
            <a:pPr indent="0" marL="0">
              <a:spcAft>
                <a:spcPts val="1400"/>
              </a:spcAft>
              <a:buNone/>
            </a:pPr>
            <a:r>
              <a:rPr lang="en-US" sz="1500" dirty="0">
                <a:solidFill>
                  <a:srgbClr val="D8DEE8"/>
                </a:solidFill>
                <a:latin typeface="Caladea" pitchFamily="34" charset="0"/>
                <a:ea typeface="Caladea" pitchFamily="34" charset="-122"/>
                <a:cs typeface="Caladea" pitchFamily="34" charset="-120"/>
              </a:rPr>
              <a:t>Dockerfiles, Terraform, an Ansible playbook, a Jenkinsfile. Commits with your name on them.</a:t>
            </a:r>
            <a:endParaRPr lang="en-US" sz="1800" dirty="0"/>
          </a:p>
          <a:p>
            <a:pPr marL="342900" indent="-342900">
              <a:buSzPct val="100000"/>
              <a:buChar char="•"/>
            </a:pPr>
            <a:r>
              <a:rPr lang="en-US" sz="1800" b="1" dirty="0">
                <a:solidFill>
                  <a:srgbClr val="C7A052"/>
                </a:solidFill>
                <a:latin typeface="Caladea" pitchFamily="34" charset="0"/>
                <a:ea typeface="Caladea" pitchFamily="34" charset="-122"/>
                <a:cs typeface="Caladea" pitchFamily="34" charset="-120"/>
              </a:rPr>
              <a:t>A runbook.</a:t>
            </a:r>
            <a:endParaRPr lang="en-US" sz="1800" dirty="0"/>
          </a:p>
          <a:p>
            <a:pPr indent="0" marL="0">
              <a:spcAft>
                <a:spcPts val="1400"/>
              </a:spcAft>
              <a:buNone/>
            </a:pPr>
            <a:r>
              <a:rPr lang="en-US" sz="1500" dirty="0">
                <a:solidFill>
                  <a:srgbClr val="D8DEE8"/>
                </a:solidFill>
                <a:latin typeface="Caladea" pitchFamily="34" charset="0"/>
                <a:ea typeface="Caladea" pitchFamily="34" charset="-122"/>
                <a:cs typeface="Caladea" pitchFamily="34" charset="-120"/>
              </a:rPr>
              <a:t>Written for a colleague who has never seen paylane and has to keep it running while you are away.</a:t>
            </a:r>
            <a:endParaRPr lang="en-US" sz="1800" dirty="0"/>
          </a:p>
          <a:p>
            <a:pPr marL="342900" indent="-342900">
              <a:buSzPct val="100000"/>
              <a:buChar char="•"/>
            </a:pPr>
            <a:r>
              <a:rPr lang="en-US" sz="1800" b="1" dirty="0">
                <a:solidFill>
                  <a:srgbClr val="C7A052"/>
                </a:solidFill>
                <a:latin typeface="Caladea" pitchFamily="34" charset="0"/>
                <a:ea typeface="Caladea" pitchFamily="34" charset="-122"/>
                <a:cs typeface="Caladea" pitchFamily="34" charset="-120"/>
              </a:rPr>
              <a:t>An incident report.</a:t>
            </a:r>
            <a:endParaRPr lang="en-US" sz="1800" dirty="0"/>
          </a:p>
          <a:p>
            <a:pPr indent="0" marL="0">
              <a:buNone/>
            </a:pPr>
            <a:r>
              <a:rPr lang="en-US" sz="1500" dirty="0">
                <a:solidFill>
                  <a:srgbClr val="D8DEE8"/>
                </a:solidFill>
                <a:latin typeface="Caladea" pitchFamily="34" charset="0"/>
                <a:ea typeface="Caladea" pitchFamily="34" charset="-122"/>
                <a:cs typeface="Caladea" pitchFamily="34" charset="-120"/>
              </a:rPr>
              <a:t>Symptom, detection, evidence, root cause, fix, prevention — about a bug you found yourself.</a:t>
            </a:r>
            <a:endParaRPr lang="en-US" sz="1800" dirty="0"/>
          </a:p>
        </p:txBody>
      </p:sp>
      <p:sp>
        <p:nvSpPr>
          <p:cNvPr id="5" name="Text 3"/>
          <p:cNvSpPr/>
          <p:nvPr/>
        </p:nvSpPr>
        <p:spPr>
          <a:xfrm>
            <a:off x="822960" y="5943600"/>
            <a:ext cx="10424160" cy="548640"/>
          </a:xfrm>
          <a:prstGeom prst="rect">
            <a:avLst/>
          </a:prstGeom>
          <a:noFill/>
          <a:ln/>
        </p:spPr>
        <p:txBody>
          <a:bodyPr wrap="square" lIns="0" tIns="0" rIns="0" bIns="0" rtlCol="0" anchor="ctr"/>
          <a:lstStyle/>
          <a:p>
            <a:pPr indent="0" marL="0">
              <a:buNone/>
            </a:pPr>
            <a:r>
              <a:rPr lang="en-US" sz="1400" i="1" dirty="0">
                <a:solidFill>
                  <a:srgbClr val="C7A052"/>
                </a:solidFill>
                <a:latin typeface="Caladea" pitchFamily="34" charset="0"/>
                <a:ea typeface="Caladea" pitchFamily="34" charset="-122"/>
                <a:cs typeface="Caladea" pitchFamily="34" charset="-120"/>
              </a:rPr>
              <a:t>Most candidates can describe a pipeline. Very few can show one. Almost none can tell the story of a production defect they diagnosed.</a:t>
            </a:r>
            <a:endParaRPr lang="en-US" sz="1400" dirty="0"/>
          </a:p>
        </p:txBody>
      </p:sp>
      <p:sp>
        <p:nvSpPr>
          <p:cNvPr id="6" name="Text 4"/>
          <p:cNvSpPr/>
          <p:nvPr/>
        </p:nvSpPr>
        <p:spPr>
          <a:xfrm>
            <a:off x="11155680" y="6446520"/>
            <a:ext cx="914400" cy="320040"/>
          </a:xfrm>
          <a:prstGeom prst="rect">
            <a:avLst/>
          </a:prstGeom>
          <a:noFill/>
          <a:ln/>
        </p:spPr>
        <p:txBody>
          <a:bodyPr wrap="square" lIns="0" tIns="0" rIns="0" bIns="0" rtlCol="0" anchor="ctr"/>
          <a:lstStyle/>
          <a:p>
            <a:pPr algn="r" indent="0" marL="0">
              <a:buNone/>
            </a:pPr>
            <a:r>
              <a:rPr lang="en-US" sz="1000" dirty="0">
                <a:solidFill>
                  <a:srgbClr val="666666"/>
                </a:solidFill>
                <a:latin typeface="Caladea" pitchFamily="34" charset="0"/>
                <a:ea typeface="Caladea" pitchFamily="34" charset="-122"/>
                <a:cs typeface="Caladea" pitchFamily="34" charset="-120"/>
              </a:rPr>
              <a:t>15 / 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2026-07-17T13:48:23Z</dcterms:created>
  <dcterms:modified xsi:type="dcterms:W3CDTF">2026-07-17T13:48:23Z</dcterms:modified>
</cp:coreProperties>
</file>